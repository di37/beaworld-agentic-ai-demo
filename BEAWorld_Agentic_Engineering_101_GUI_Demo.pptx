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86" r:id="rId3"/>
    <p:sldId id="257" r:id="rId4"/>
    <p:sldId id="258" r:id="rId5"/>
    <p:sldId id="259" r:id="rId6"/>
    <p:sldId id="260" r:id="rId7"/>
    <p:sldId id="261" r:id="rId8"/>
    <p:sldId id="262" r:id="rId9"/>
    <p:sldId id="263" r:id="rId10"/>
    <p:sldId id="264" r:id="rId11"/>
    <p:sldId id="265" r:id="rId12"/>
    <p:sldId id="266" r:id="rId13"/>
    <p:sldId id="267" r:id="rId14"/>
    <p:sldId id="268" r:id="rId15"/>
    <p:sldId id="287" r:id="rId38"/>
    <p:sldId id="269" r:id="rId16"/>
    <p:sldId id="270" r:id="rId17"/>
    <p:sldId id="271" r:id="rId18"/>
    <p:sldId id="272" r:id="rId19"/>
    <p:sldId id="273" r:id="rId20"/>
    <p:sldId id="274" r:id="rId21"/>
    <p:sldId id="283" r:id="rId22"/>
    <p:sldId id="284" r:id="rId23"/>
    <p:sldId id="275" r:id="rId24"/>
    <p:sldId id="276" r:id="rId25"/>
    <p:sldId id="277" r:id="rId26"/>
    <p:sldId id="278" r:id="rId27"/>
    <p:sldId id="279" r:id="rId28"/>
    <p:sldId id="280" r:id="rId29"/>
    <p:sldId id="285" r:id="rId30"/>
    <p:sldId id="281" r:id="rId31"/>
    <p:sldId id="282"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85131"/>
  </p:normalViewPr>
  <p:slideViewPr>
    <p:cSldViewPr snapToGrid="0" snapToObjects="1">
      <p:cViewPr varScale="1">
        <p:scale>
          <a:sx n="106" d="100"/>
          <a:sy n="106" d="100"/>
        </p:scale>
        <p:origin x="14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8093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Agentic Engineering 101, adapted for Bangladeshi Engineers &amp; Architects Worldwide. We will use an HVAC case study and learn by progressing from a base LLM to tools, agents, rag, and human-approved workflows. No math is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AE" b="1" dirty="0"/>
              <a:t>Slide 2 — Speaker Notes</a:t>
            </a:r>
          </a:p>
          <a:p>
            <a:r>
              <a:rPr lang="en-AE" dirty="0"/>
              <a:t>Before we get into Agentic AI, I want to address something important.</a:t>
            </a:r>
          </a:p>
          <a:p>
            <a:r>
              <a:rPr lang="en-AE" b="1" dirty="0"/>
              <a:t>Why did Artificial Intelligence suddenly become so popular towards the end of 2022?</a:t>
            </a:r>
            <a:endParaRPr lang="en-AE" dirty="0"/>
          </a:p>
          <a:p>
            <a:r>
              <a:rPr lang="en-AE" dirty="0"/>
              <a:t>You might have noticed that before 2022, AI was mostly something we heard about in research papers, universities, and specialized industries. But suddenly, everyone started talking about it!</a:t>
            </a:r>
          </a:p>
          <a:p>
            <a:r>
              <a:rPr lang="en-AE" dirty="0"/>
              <a:t>Students, engineers, businesses, and even governments began exploring AI.</a:t>
            </a:r>
          </a:p>
          <a:p>
            <a:r>
              <a:rPr lang="en-AE" dirty="0"/>
              <a:t>So, did AI suddenly appear in 2022?</a:t>
            </a:r>
          </a:p>
          <a:p>
            <a:r>
              <a:rPr lang="en-AE" b="1" dirty="0"/>
              <a:t>Absolutely not!</a:t>
            </a:r>
            <a:endParaRPr lang="en-AE" dirty="0"/>
          </a:p>
          <a:p>
            <a:r>
              <a:rPr lang="en-AE" dirty="0"/>
              <a:t>Artificial Intelligence has been an active area of research since the 1950s. What we are witnessing today is the result of more than 50 years of research, experimentation, successes, and failures.</a:t>
            </a:r>
          </a:p>
          <a:p>
            <a:r>
              <a:rPr lang="en-AE" dirty="0"/>
              <a:t>Over the decades, researchers developed machine learning algorithms, artificial neural networks, and eventually deep learning.</a:t>
            </a:r>
          </a:p>
          <a:p>
            <a:r>
              <a:rPr lang="en-AE" dirty="0"/>
              <a:t>A major breakthrough came in 2017 with the introduction of the </a:t>
            </a:r>
            <a:r>
              <a:rPr lang="en-AE" b="1" dirty="0"/>
              <a:t>Transformer architecture</a:t>
            </a:r>
            <a:r>
              <a:rPr lang="en-AE" dirty="0"/>
              <a:t>, which became the foundation for many modern Large Language Models, including GPT.</a:t>
            </a:r>
          </a:p>
          <a:p>
            <a:r>
              <a:rPr lang="en-AE" dirty="0"/>
              <a:t>At the same time, computing hardware became more powerful, larger datasets became available, and researchers developed better ways to train increasingly capable models.</a:t>
            </a:r>
          </a:p>
          <a:p>
            <a:r>
              <a:rPr lang="en-AE" dirty="0"/>
              <a:t>Then came </a:t>
            </a:r>
            <a:r>
              <a:rPr lang="en-AE" b="1" dirty="0"/>
              <a:t>November 2022</a:t>
            </a:r>
            <a:r>
              <a:rPr lang="en-AE" dirty="0"/>
              <a:t>, when OpenAI introduced ChatGPT to the public.</a:t>
            </a:r>
          </a:p>
          <a:p>
            <a:r>
              <a:rPr lang="en-AE" dirty="0"/>
              <a:t>And this changed how ordinary people interacted with AI.</a:t>
            </a:r>
          </a:p>
          <a:p>
            <a:r>
              <a:rPr lang="en-AE" dirty="0"/>
              <a:t>Previously, using powerful AI systems often required specialized technical knowledge. Suddenly, people could interact with an advanced language model simply by typing a question in natural language.</a:t>
            </a:r>
          </a:p>
          <a:p>
            <a:r>
              <a:rPr lang="en-AE" dirty="0"/>
              <a:t>You didn't need to understand machine learning algorithms or write complicated programs to get useful results.</a:t>
            </a:r>
          </a:p>
          <a:p>
            <a:r>
              <a:rPr lang="en-AE" b="1" dirty="0"/>
              <a:t>AI became much more accessible.</a:t>
            </a:r>
            <a:endParaRPr lang="en-AE" dirty="0"/>
          </a:p>
          <a:p>
            <a:r>
              <a:rPr lang="en-AE" dirty="0"/>
              <a:t>As a result, adoption and experimentation accelerated across education, engineering, healthcare, businesses, and government services.</a:t>
            </a:r>
          </a:p>
          <a:p>
            <a:r>
              <a:rPr lang="en-AE" dirty="0"/>
              <a:t>But here's something even more interesting.</a:t>
            </a:r>
          </a:p>
          <a:p>
            <a:r>
              <a:rPr lang="en-AE" dirty="0"/>
              <a:t>Initially, most people were using AI to ask questions, generate content, or write code.</a:t>
            </a:r>
          </a:p>
          <a:p>
            <a:r>
              <a:rPr lang="en-AE" dirty="0"/>
              <a:t>Today, we are increasingly exploring how AI can interact with external tools, retrieve information, and assist in completing complex tasks.</a:t>
            </a:r>
          </a:p>
          <a:p>
            <a:r>
              <a:rPr lang="en-AE" dirty="0"/>
              <a:t>And this brings us to the topic of today's workshop: </a:t>
            </a:r>
            <a:r>
              <a:rPr lang="en-AE" b="1" dirty="0"/>
              <a:t>Agentic Engineering</a:t>
            </a:r>
            <a:r>
              <a:rPr lang="en-AE" dirty="0"/>
              <a:t>.</a:t>
            </a:r>
          </a:p>
          <a:p>
            <a:r>
              <a:rPr lang="en-AE" dirty="0"/>
              <a:t>We are moving from systems that primarily generate answers towards applications that can help perform actions.</a:t>
            </a:r>
          </a:p>
          <a:p>
            <a:r>
              <a:rPr lang="en-AE" b="1" dirty="0"/>
              <a:t>So the purpose of today's session is not simply to learn how to use ChatGPT. It is to understand how we can engineer useful AI systems around these powerful language models.</a:t>
            </a:r>
            <a:endParaRPr lang="en-AE" dirty="0"/>
          </a:p>
          <a:p>
            <a:r>
              <a:rPr lang="en-AE" dirty="0"/>
              <a:t>And this is particularly relevant here in the UAE, where AI adoption is becoming an important part of government digital transformation.</a:t>
            </a:r>
          </a:p>
          <a:p>
            <a:r>
              <a:rPr lang="en-AE" dirty="0"/>
              <a:t>Let's look at what the UAE is doing in this space.</a:t>
            </a:r>
          </a:p>
          <a:p>
            <a:endParaRPr lang="en-AE" dirty="0"/>
          </a:p>
        </p:txBody>
      </p:sp>
    </p:spTree>
    <p:extLst>
      <p:ext uri="{BB962C8B-B14F-4D97-AF65-F5344CB8AC3E}">
        <p14:creationId xmlns:p14="http://schemas.microsoft.com/office/powerpoint/2010/main" val="1644428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State the five learning goals explicitly: (1) Large Language Model (LLM), (2) tool, (3) Retrieval-Augmented Generation (RAG), (4) AI agent, and (5) agentic AI application. No computer science background is assumed. Each concept connects to a familiar engineering idea: explanation, instrument, manual lookup, decision loop, and controlled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AHU stands for Air Handling Unit. Explain it simply: a piece of HVAC equipment that handles air movement and conditioning in a building. AHU-01 is a fictional unit for the exercises; no live building, sensors or maintenance database are connected. The engineer remains responsible for diagnosis and decisions.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portray agents as magic. The model is one component within a software system, and permissions are provided by application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GPT processes tokens and uses a Transformer to generate the next tokens according to learned patterns and the current context. Avoid claims that it is literally thinking like a human.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tools are necessary. Language models can suggest probable faults based on context, but cannot invent actual sensor readings.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is not automatically superior. A fixed alert should often remain deterministic, predictable software.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is about the agent execution loop. It does not imply the agent meets timing, stability, or safety guarantees of a certified controller.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most agent frameworks, the orchestrator is standard application code, which decides when to run the model and how to execute tool calls.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can be a Python function or an external API. Later the LLM will request tools, while application code performs the actual call.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two-sided contract: tool name and arguments are generated by the model, but validated and executed by the host program.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Spell out Retrieval-Augmented Generation (RAG). Example: ask why AHU-01 has poor airflow. A system searches a maintenance manual and retrieves a passage about filters and airflow before a model writes its explanation. RAG is a grounding technique, not itself an AI agent. Mini audience exercise: compare a model guessing the cause versus a model given the exact relevant manual excerpt. Retrieval is not automatically correct and source relevance still matters.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stores the sequence of messages, tool results and task progress. Longer-term memory is optional and requires intentional storage and access design.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introduction: The LLM. Start with the simplest question: “What might cause poor cooling?”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Level 1 (chat). Click the first suggested question (the exercise question). The answer streams in word by word, as slide 6 described.</a:t>
            </a:r>
          </a:p>
          <a:p>
            <a:r>
              <a:t>Then click the follow-up 'Have you actually seen a temperature reading from AHU-01?'. The model says it has not: it only knows what it learned in training.</a:t>
            </a:r>
          </a:p>
          <a:p>
            <a:r>
              <a:t>Question for the room: did we measure anything? No. Reveal the answer on screen. Use 'New chat' to reset.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introduction: The Tool. Add one simple sensor-reading function. The tool knows data; it does not make decisions.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Level 2 (tool). With AHU-01 selected, click 'Run the tool'. Our program, not a model, calls get_ahu_readings and shows the result as tiles: 28 °C against a 22 °C target, airflow LOW, filter pressure drop HIGH.</a:t>
            </a:r>
          </a:p>
          <a:p>
            <a:r>
              <a:t>Audience challenge: switch to AHU-02 and run again. The tool has no data for it, so it says so instead of inventing a reading.</a:t>
            </a:r>
          </a:p>
          <a:p>
            <a:r>
              <a:t>No language model is used at this level.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Exercise introduction: RAG. Retrieval-Augmented Generation finds relevant evidence in the maintenance manual before the model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Level 3 (RAG). Click 'Search the manual, then answer'. Step 1 scores every manual section against the question; the top two are sent to the model. Step 2 is the answer, which cites the source files.</a:t>
            </a:r>
          </a:p>
          <a:p>
            <a:r>
              <a:t>Audience challenge: open 'Edit the manual', change the air-filter section (for example, replace it with an unrelated sentence) and search again. The scores and citations change. The files on disk are not modified.</a:t>
            </a:r>
          </a:p>
          <a:p>
            <a:r>
              <a:t>Question for the room: who decided when to search? Our fixed workflow. RAG is not an agent.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a possible trace, not as an actual execution transcript. The agent may select another sequence or need explicit prompting for both tools.</a:t>
            </a:r>
          </a:p>
          <a:p>
            <a:r>
              <a:t>Level 4 in the demo app shows this trace live. In our runs the model also searched the manual (search_manual) before giving its conclusion.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the distinction. An AI agent is the decision-making component that can choose tools in a loop. An agentic AI application is the wider engineered system around it: the agent, tools, saved state, business rules, monitoring and human approvals. Agentic AI is a broad label, not a rigidly separate technology category. The example pauses before ticket creation.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Level 5 (agentic AI application). Click 'Start the investigation'. After the three read-only tools, the model asks for create_maintenance_ticket. The application pauses before the tool runs and shows the proposed ticket with Approve and Reject.</a:t>
            </a:r>
          </a:p>
          <a:p>
            <a:r>
              <a:t>Run it twice. Approve: the simulated ticket is created and the agent confirms. Reject: the ticket tool never runs and the agent summarises instead.</a:t>
            </a:r>
          </a:p>
          <a:p>
            <a:r>
              <a:t>Behind the scenes: LangChain's HumanInTheLoopMiddleware with a checkpointer and thread ID; the decision resumes the saved investigation, and each pause can only be answered once. Approving a maintenance ticket is distinct from approving a physical action.</a:t>
            </a:r>
          </a:p>
          <a:p>
            <a:r>
              <a:t>Question for the room: could the model create the ticket on its own? No. Permission is separate from the model's recommendation.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High-stakes engineering decisions must not be delegated blindly to an LLM. Safety-critical process control needs engineered, verifiable guarantees outside the language model.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robust evaluations across scenarios, rather than only one hand-picked successful prompt. Capture traces, measure task success, invalid tool calls and unsafe behavior.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answer after participants vote: C. A is an LLM response, B is a tool, D is fixed automation. D might have an LLM for wording but follows a fixed schedule.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A1B7D-DBA3-1F8E-46F8-640A4012B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40506-77EB-F9B6-6796-9916065474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4948F-B5A8-B870-B5A1-E5DAA27CF3EC}"/>
              </a:ext>
            </a:extLst>
          </p:cNvPr>
          <p:cNvSpPr>
            <a:spLocks noGrp="1"/>
          </p:cNvSpPr>
          <p:nvPr>
            <p:ph type="body" idx="1"/>
          </p:nvPr>
        </p:nvSpPr>
        <p:spPr/>
        <p:txBody>
          <a:bodyPr/>
          <a:lstStyle/>
          <a:p>
            <a:r>
              <a:rPr lang="en-US" dirty="0"/>
              <a:t>Reveal the answer after participants vote: C. A is an LLM response, B is a tool, D is fixed automation. D might have an LLM for wording but follows a fixed schedule.</a:t>
            </a:r>
          </a:p>
        </p:txBody>
      </p:sp>
      <p:sp>
        <p:nvSpPr>
          <p:cNvPr id="4" name="Slide Number Placeholder 3">
            <a:extLst>
              <a:ext uri="{FF2B5EF4-FFF2-40B4-BE49-F238E27FC236}">
                <a16:creationId xmlns:a16="http://schemas.microsoft.com/office/drawing/2014/main" id="{AB05404B-83D8-2F30-9A5C-CA12F00C63E3}"/>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2214600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this slide as the learning-outcome recap. Ask the room to define each term before revealing or reading its card: LLM = Large Language Model, generates useful text; tool = a function/API that reads data or performs an action; RAG = Retrieval-Augmented Generation, fetches relevant documents to ground answers; AI agent = a model-controlled loop selecting tool calls based on feedback; agentic AI application = the entire engineered solution including tools, state, constraints, human approval, monitoring and evaluation. RAG is optional for an agent; the five concepts are not always sequential layers.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discussion: invite questions about possible tools for engineering disciplines including mechanical, civil, electrical and architecture. Resources: BEAWorld website and official LangChain documentation.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demo app before Level 1.</a:t>
            </a:r>
          </a:p>
          <a:p>
            <a:r>
              <a:t>Before the session, start it from a terminal: cd backend &amp;&amp; source .venv/bin/activate &amp;&amp; python -m app. The browser opens at http://127.0.0.1:8791 and the badge at the top right should read 'Live · gpt-5.6-luna'.</a:t>
            </a:r>
          </a:p>
          <a:p>
            <a:r>
              <a:t>Point out what every level screen shows: the five steps on the left (the same journey as this deck), 'Who decides the next step?', the chips showing which building blocks are switched on, and the 'Question for the room' at the bottom.</a:t>
            </a:r>
          </a:p>
          <a:p>
            <a:r>
              <a:t>Move between levels with the arrow keys, Page Up / Page Down, a clicker, or the keys 1-5. All readings, manuals and tickets are fictional.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Exercise introduction: The AI Agent. Let the model decide whether to read sensors, check service history, or retrieve manual guidance.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Level 4 (AI agent). Click 'Start the investigation'. The trace shows each step as it happens: the model asks the application to read the sensors, check the service history and search the manual; the application runs each tool and returns the result. The conclusion appears at the end.</a:t>
            </a:r>
          </a:p>
          <a:p>
            <a:r>
              <a:t>Audience challenge: switch on 'the filter was replaced last week' and run again. The service record changes, and so does the reasoning.</a:t>
            </a:r>
          </a:p>
          <a:p>
            <a:r>
              <a:t>Question for the room: which tools did the model ask for, and in what order? 'Reveal the answer' shows this run's order. The order can change between runs.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4" Type="http://schemas.openxmlformats.org/officeDocument/2006/relationships/image" Target="../media/image2.png"/><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4" Type="http://schemas.openxmlformats.org/officeDocument/2006/relationships/image" Target="../media/image3.png"/><Relationship Id="rId5"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4" Type="http://schemas.openxmlformats.org/officeDocument/2006/relationships/image" Target="../media/image4.png"/><Relationship Id="rId5"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12192000" cy="155448"/>
          </a:xfrm>
          <a:prstGeom prst="roundRect">
            <a:avLst>
              <a:gd name="adj" fmla="val 88235"/>
            </a:avLst>
          </a:prstGeom>
          <a:solidFill>
            <a:srgbClr val="1A243A"/>
          </a:solidFill>
          <a:ln w="12700">
            <a:solidFill>
              <a:srgbClr val="1A243A"/>
            </a:solidFill>
            <a:prstDash val="solid"/>
          </a:ln>
        </p:spPr>
        <p:txBody>
          <a:bodyPr/>
          <a:lstStyle/>
          <a:p>
            <a:endParaRPr/>
          </a:p>
        </p:txBody>
      </p:sp>
      <p:sp>
        <p:nvSpPr>
          <p:cNvPr id="3" name="Shape 1"/>
          <p:cNvSpPr/>
          <p:nvPr/>
        </p:nvSpPr>
        <p:spPr>
          <a:xfrm>
            <a:off x="0" y="155448"/>
            <a:ext cx="12192000" cy="100584"/>
          </a:xfrm>
          <a:prstGeom prst="roundRect">
            <a:avLst>
              <a:gd name="adj" fmla="val 136364"/>
            </a:avLst>
          </a:prstGeom>
          <a:solidFill>
            <a:srgbClr val="2B6450"/>
          </a:solidFill>
          <a:ln w="12700">
            <a:solidFill>
              <a:srgbClr val="2B6450"/>
            </a:solidFill>
            <a:prstDash val="solid"/>
          </a:ln>
        </p:spPr>
        <p:txBody>
          <a:bodyPr/>
          <a:lstStyle/>
          <a:p>
            <a:endParaRPr/>
          </a:p>
        </p:txBody>
      </p:sp>
      <p:sp>
        <p:nvSpPr>
          <p:cNvPr id="4" name="Shape 2"/>
          <p:cNvSpPr/>
          <p:nvPr/>
        </p:nvSpPr>
        <p:spPr>
          <a:xfrm>
            <a:off x="0" y="256032"/>
            <a:ext cx="12192000" cy="82296"/>
          </a:xfrm>
          <a:prstGeom prst="roundRect">
            <a:avLst>
              <a:gd name="adj" fmla="val 166667"/>
            </a:avLst>
          </a:prstGeom>
          <a:solidFill>
            <a:srgbClr val="E04149"/>
          </a:solidFill>
          <a:ln w="12700">
            <a:solidFill>
              <a:srgbClr val="E04149"/>
            </a:solidFill>
            <a:prstDash val="solid"/>
          </a:ln>
        </p:spPr>
        <p:txBody>
          <a:bodyPr/>
          <a:lstStyle/>
          <a:p>
            <a:endParaRPr/>
          </a:p>
        </p:txBody>
      </p:sp>
      <p:sp>
        <p:nvSpPr>
          <p:cNvPr id="5" name="Shape 3"/>
          <p:cNvSpPr/>
          <p:nvPr/>
        </p:nvSpPr>
        <p:spPr>
          <a:xfrm>
            <a:off x="612648" y="649224"/>
            <a:ext cx="2743200" cy="5404104"/>
          </a:xfrm>
          <a:prstGeom prst="roundRect">
            <a:avLst>
              <a:gd name="adj" fmla="val 5000"/>
            </a:avLst>
          </a:prstGeom>
          <a:solidFill>
            <a:srgbClr val="FFFFFF"/>
          </a:solidFill>
          <a:ln w="12700">
            <a:solidFill>
              <a:srgbClr val="DDE5E1"/>
            </a:solidFill>
            <a:prstDash val="solid"/>
          </a:ln>
        </p:spPr>
        <p:txBody>
          <a:bodyPr/>
          <a:lstStyle/>
          <a:p>
            <a:endParaRPr/>
          </a:p>
        </p:txBody>
      </p:sp>
      <p:pic>
        <p:nvPicPr>
          <p:cNvPr id="6" name="Image 0" descr="/mnt/data/image(20261023-012044).png"/>
          <p:cNvPicPr>
            <a:picLocks noChangeAspect="1"/>
          </p:cNvPicPr>
          <p:nvPr/>
        </p:nvPicPr>
        <p:blipFill>
          <a:blip r:embed="rId3"/>
          <a:stretch>
            <a:fillRect/>
          </a:stretch>
        </p:blipFill>
        <p:spPr>
          <a:xfrm>
            <a:off x="795528" y="1179576"/>
            <a:ext cx="2368296" cy="2450592"/>
          </a:xfrm>
          <a:prstGeom prst="rect">
            <a:avLst/>
          </a:prstGeom>
        </p:spPr>
      </p:pic>
      <p:sp>
        <p:nvSpPr>
          <p:cNvPr id="7" name="Text 4"/>
          <p:cNvSpPr/>
          <p:nvPr/>
        </p:nvSpPr>
        <p:spPr>
          <a:xfrm>
            <a:off x="1060704" y="3959352"/>
            <a:ext cx="2011680" cy="365760"/>
          </a:xfrm>
          <a:prstGeom prst="rect">
            <a:avLst/>
          </a:prstGeom>
          <a:noFill/>
          <a:ln/>
        </p:spPr>
        <p:txBody>
          <a:bodyPr wrap="square" lIns="0" tIns="0" rIns="0" bIns="0" rtlCol="0" anchor="ctr">
            <a:normAutofit/>
          </a:bodyPr>
          <a:lstStyle/>
          <a:p>
            <a:pPr marL="0" indent="0" algn="ctr">
              <a:buNone/>
            </a:pPr>
            <a:r>
              <a:rPr lang="en-US" sz="2100" b="1" dirty="0">
                <a:solidFill>
                  <a:srgbClr val="1A243A"/>
                </a:solidFill>
                <a:latin typeface="Inter" pitchFamily="34" charset="0"/>
                <a:ea typeface="Inter" pitchFamily="34" charset="-122"/>
                <a:cs typeface="Inter" pitchFamily="34" charset="-120"/>
              </a:rPr>
              <a:t>BEAWORLD</a:t>
            </a:r>
            <a:endParaRPr lang="en-US" sz="2100" dirty="0"/>
          </a:p>
        </p:txBody>
      </p:sp>
      <p:sp>
        <p:nvSpPr>
          <p:cNvPr id="8" name="Text 5"/>
          <p:cNvSpPr/>
          <p:nvPr/>
        </p:nvSpPr>
        <p:spPr>
          <a:xfrm>
            <a:off x="932688" y="4434840"/>
            <a:ext cx="2194560" cy="246888"/>
          </a:xfrm>
          <a:prstGeom prst="rect">
            <a:avLst/>
          </a:prstGeom>
          <a:noFill/>
          <a:ln/>
        </p:spPr>
        <p:txBody>
          <a:bodyPr wrap="square" lIns="0" tIns="0" rIns="0" bIns="0" rtlCol="0" anchor="ctr">
            <a:normAutofit/>
          </a:bodyPr>
          <a:lstStyle/>
          <a:p>
            <a:pPr marL="0" indent="0" algn="ctr">
              <a:buNone/>
            </a:pPr>
            <a:r>
              <a:rPr lang="en-US" sz="1000" b="1" kern="0" spc="100" dirty="0">
                <a:solidFill>
                  <a:srgbClr val="2B6450"/>
                </a:solidFill>
                <a:latin typeface="Inter" pitchFamily="34" charset="0"/>
                <a:ea typeface="Inter" pitchFamily="34" charset="-122"/>
                <a:cs typeface="Inter" pitchFamily="34" charset="-120"/>
              </a:rPr>
              <a:t>ENGINEERING WORKSHOP</a:t>
            </a:r>
            <a:endParaRPr lang="en-US" sz="1000" dirty="0"/>
          </a:p>
        </p:txBody>
      </p:sp>
      <p:sp>
        <p:nvSpPr>
          <p:cNvPr id="9" name="Text 6"/>
          <p:cNvSpPr/>
          <p:nvPr/>
        </p:nvSpPr>
        <p:spPr>
          <a:xfrm>
            <a:off x="3721608" y="1024128"/>
            <a:ext cx="8092440" cy="804672"/>
          </a:xfrm>
          <a:prstGeom prst="rect">
            <a:avLst/>
          </a:prstGeom>
          <a:noFill/>
          <a:ln/>
        </p:spPr>
        <p:txBody>
          <a:bodyPr wrap="square" lIns="0" tIns="0" rIns="0" bIns="0" rtlCol="0" anchor="ctr">
            <a:normAutofit/>
          </a:bodyPr>
          <a:lstStyle/>
          <a:p>
            <a:pPr marL="0" indent="0" algn="l">
              <a:buNone/>
            </a:pPr>
            <a:r>
              <a:rPr lang="en-US" sz="5000" b="1" dirty="0">
                <a:solidFill>
                  <a:srgbClr val="1A243A"/>
                </a:solidFill>
                <a:latin typeface="Inter" pitchFamily="34" charset="0"/>
                <a:ea typeface="Inter" pitchFamily="34" charset="-122"/>
                <a:cs typeface="Inter" pitchFamily="34" charset="-120"/>
              </a:rPr>
              <a:t>AGENTIC</a:t>
            </a:r>
            <a:endParaRPr lang="en-US" sz="5000" dirty="0"/>
          </a:p>
        </p:txBody>
      </p:sp>
      <p:sp>
        <p:nvSpPr>
          <p:cNvPr id="10" name="Text 7"/>
          <p:cNvSpPr/>
          <p:nvPr/>
        </p:nvSpPr>
        <p:spPr>
          <a:xfrm>
            <a:off x="3721608" y="1837944"/>
            <a:ext cx="8046720" cy="813816"/>
          </a:xfrm>
          <a:prstGeom prst="rect">
            <a:avLst/>
          </a:prstGeom>
          <a:noFill/>
          <a:ln/>
        </p:spPr>
        <p:txBody>
          <a:bodyPr wrap="square" lIns="0" tIns="0" rIns="0" bIns="0" rtlCol="0" anchor="ctr">
            <a:normAutofit/>
          </a:bodyPr>
          <a:lstStyle/>
          <a:p>
            <a:pPr marL="0" indent="0" algn="l">
              <a:buNone/>
            </a:pPr>
            <a:r>
              <a:rPr lang="en-US" sz="4500" b="1" dirty="0">
                <a:solidFill>
                  <a:srgbClr val="2B6450"/>
                </a:solidFill>
                <a:latin typeface="Inter" pitchFamily="34" charset="0"/>
                <a:ea typeface="Inter" pitchFamily="34" charset="-122"/>
                <a:cs typeface="Inter" pitchFamily="34" charset="-120"/>
              </a:rPr>
              <a:t>ENGINEERING 101</a:t>
            </a:r>
            <a:endParaRPr lang="en-US" sz="4500" dirty="0"/>
          </a:p>
        </p:txBody>
      </p:sp>
      <p:sp>
        <p:nvSpPr>
          <p:cNvPr id="11" name="Text 8"/>
          <p:cNvSpPr/>
          <p:nvPr/>
        </p:nvSpPr>
        <p:spPr>
          <a:xfrm>
            <a:off x="3758184" y="2816352"/>
            <a:ext cx="7315200" cy="603504"/>
          </a:xfrm>
          <a:prstGeom prst="rect">
            <a:avLst/>
          </a:prstGeom>
          <a:noFill/>
          <a:ln/>
        </p:spPr>
        <p:txBody>
          <a:bodyPr wrap="square" lIns="0" tIns="0" rIns="0" bIns="0" rtlCol="0" anchor="ctr">
            <a:normAutofit/>
          </a:bodyPr>
          <a:lstStyle/>
          <a:p>
            <a:pPr marL="0" indent="0" algn="l">
              <a:buNone/>
            </a:pPr>
            <a:r>
              <a:rPr lang="en-US" sz="2400" dirty="0">
                <a:solidFill>
                  <a:srgbClr val="172337"/>
                </a:solidFill>
                <a:latin typeface="Inter" pitchFamily="34" charset="0"/>
                <a:ea typeface="Inter" pitchFamily="34" charset="-122"/>
                <a:cs typeface="Inter" pitchFamily="34" charset="-120"/>
              </a:rPr>
              <a:t>From LLM to Working AI Agent</a:t>
            </a:r>
            <a:endParaRPr lang="en-US" sz="2400" dirty="0"/>
          </a:p>
        </p:txBody>
      </p:sp>
      <p:sp>
        <p:nvSpPr>
          <p:cNvPr id="12" name="Shape 9"/>
          <p:cNvSpPr/>
          <p:nvPr/>
        </p:nvSpPr>
        <p:spPr>
          <a:xfrm>
            <a:off x="3767328" y="3694176"/>
            <a:ext cx="5303520"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0"/>
          <p:cNvSpPr/>
          <p:nvPr/>
        </p:nvSpPr>
        <p:spPr>
          <a:xfrm>
            <a:off x="3849624" y="3717036"/>
            <a:ext cx="513892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NO MATH   •   ENGINEERING INTUITION   •   LIVE DEMOS</a:t>
            </a:r>
            <a:endParaRPr lang="en-US" sz="1000" dirty="0"/>
          </a:p>
        </p:txBody>
      </p:sp>
      <p:pic>
        <p:nvPicPr>
          <p:cNvPr id="14" name="Image 1" descr="BEA_MASCOT_chip"/>
          <p:cNvPicPr>
            <a:picLocks noChangeAspect="1"/>
          </p:cNvPicPr>
          <p:nvPr/>
        </p:nvPicPr>
        <p:blipFill>
          <a:blip r:embed="rId4"/>
          <a:stretch>
            <a:fillRect/>
          </a:stretch>
        </p:blipFill>
        <p:spPr>
          <a:xfrm>
            <a:off x="8549640" y="4434840"/>
            <a:ext cx="1138428" cy="1293668"/>
          </a:xfrm>
          <a:prstGeom prst="rect">
            <a:avLst/>
          </a:prstGeom>
        </p:spPr>
      </p:pic>
      <p:pic>
        <p:nvPicPr>
          <p:cNvPr id="15" name="Image 2" descr="BEA_MASCOT_gear"/>
          <p:cNvPicPr>
            <a:picLocks noChangeAspect="1"/>
          </p:cNvPicPr>
          <p:nvPr/>
        </p:nvPicPr>
        <p:blipFill>
          <a:blip r:embed="rId5"/>
          <a:stretch>
            <a:fillRect/>
          </a:stretch>
        </p:blipFill>
        <p:spPr>
          <a:xfrm>
            <a:off x="9491472" y="4556272"/>
            <a:ext cx="1176376" cy="1336790"/>
          </a:xfrm>
          <a:prstGeom prst="rect">
            <a:avLst/>
          </a:prstGeom>
        </p:spPr>
      </p:pic>
      <p:pic>
        <p:nvPicPr>
          <p:cNvPr id="16" name="Image 3" descr="BEA_MASCOT_guard"/>
          <p:cNvPicPr>
            <a:picLocks noChangeAspect="1"/>
          </p:cNvPicPr>
          <p:nvPr/>
        </p:nvPicPr>
        <p:blipFill>
          <a:blip r:embed="rId6"/>
          <a:stretch>
            <a:fillRect/>
          </a:stretch>
        </p:blipFill>
        <p:spPr>
          <a:xfrm>
            <a:off x="10442448" y="4472788"/>
            <a:ext cx="1176376" cy="1336790"/>
          </a:xfrm>
          <a:prstGeom prst="rect">
            <a:avLst/>
          </a:prstGeom>
        </p:spPr>
      </p:pic>
      <p:sp>
        <p:nvSpPr>
          <p:cNvPr id="17" name="Text 11"/>
          <p:cNvSpPr/>
          <p:nvPr/>
        </p:nvSpPr>
        <p:spPr>
          <a:xfrm>
            <a:off x="3794760" y="5815584"/>
            <a:ext cx="7223760" cy="338328"/>
          </a:xfrm>
          <a:prstGeom prst="rect">
            <a:avLst/>
          </a:prstGeom>
          <a:noFill/>
          <a:ln/>
        </p:spPr>
        <p:txBody>
          <a:bodyPr wrap="square" lIns="0" tIns="0" rIns="0" bIns="0" rtlCol="0" anchor="ctr">
            <a:normAutofit/>
          </a:bodyPr>
          <a:lstStyle/>
          <a:p>
            <a:pPr marL="0" indent="0" algn="l">
              <a:buNone/>
            </a:pPr>
            <a:r>
              <a:rPr lang="en-US" sz="1700" dirty="0">
                <a:solidFill>
                  <a:srgbClr val="63717D"/>
                </a:solidFill>
                <a:latin typeface="Inter" pitchFamily="34" charset="0"/>
                <a:ea typeface="Inter" pitchFamily="34" charset="-122"/>
                <a:cs typeface="Inter" pitchFamily="34" charset="-120"/>
              </a:rPr>
              <a:t>A hands-on journey from answers to actions</a:t>
            </a:r>
            <a:endParaRPr lang="en-US" sz="1700" dirty="0"/>
          </a:p>
        </p:txBody>
      </p:sp>
      <p:sp>
        <p:nvSpPr>
          <p:cNvPr id="18" name="Shape 12"/>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9" name="Text 13"/>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20" name="Text 14"/>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01  /  32</a:t>
            </a:r>
            <a:endParaRPr lang="en-US" sz="900" dirty="0"/>
          </a:p>
        </p:txBody>
      </p:sp>
      <p:sp>
        <p:nvSpPr>
          <p:cNvPr id="21" name="Rounded Rectangle 20"/>
          <p:cNvSpPr/>
          <p:nvPr/>
        </p:nvSpPr>
        <p:spPr>
          <a:xfrm>
            <a:off x="3730752" y="4407408"/>
            <a:ext cx="4709160" cy="914400"/>
          </a:xfrm>
          <a:prstGeom prst="roundRect">
            <a:avLst/>
          </a:prstGeom>
          <a:solidFill>
            <a:srgbClr val="EB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730752" y="4407408"/>
            <a:ext cx="64008" cy="914400"/>
          </a:xfrm>
          <a:prstGeom prst="rect">
            <a:avLst/>
          </a:prstGeom>
          <a:solidFill>
            <a:srgbClr val="00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77639" y="4526280"/>
            <a:ext cx="4343400" cy="329184"/>
          </a:xfrm>
          <a:prstGeom prst="rect">
            <a:avLst/>
          </a:prstGeom>
          <a:noFill/>
        </p:spPr>
        <p:txBody>
          <a:bodyPr wrap="none" lIns="36576" tIns="0" rIns="0" bIns="0">
            <a:spAutoFit/>
          </a:bodyPr>
          <a:lstStyle/>
          <a:p>
            <a:pPr>
              <a:defRPr sz="2100" b="1">
                <a:solidFill>
                  <a:srgbClr val="19243C"/>
                </a:solidFill>
                <a:latin typeface="Aptos Display"/>
              </a:defRPr>
            </a:pPr>
            <a:r>
              <a:t>Isham Rashik</a:t>
            </a:r>
          </a:p>
        </p:txBody>
      </p:sp>
      <p:sp>
        <p:nvSpPr>
          <p:cNvPr id="24" name="TextBox 23"/>
          <p:cNvSpPr txBox="1"/>
          <p:nvPr/>
        </p:nvSpPr>
        <p:spPr>
          <a:xfrm>
            <a:off x="3977639" y="4864608"/>
            <a:ext cx="4343400" cy="201168"/>
          </a:xfrm>
          <a:prstGeom prst="rect">
            <a:avLst/>
          </a:prstGeom>
          <a:noFill/>
        </p:spPr>
        <p:txBody>
          <a:bodyPr wrap="none" lIns="36576" tIns="0" rIns="0" bIns="0">
            <a:spAutoFit/>
          </a:bodyPr>
          <a:lstStyle/>
          <a:p>
            <a:pPr>
              <a:defRPr sz="1300" b="1">
                <a:solidFill>
                  <a:srgbClr val="006B51"/>
                </a:solidFill>
                <a:latin typeface="Aptos Display"/>
              </a:defRPr>
            </a:pPr>
            <a:r>
              <a:t>AI Engineer</a:t>
            </a:r>
          </a:p>
        </p:txBody>
      </p:sp>
      <p:sp>
        <p:nvSpPr>
          <p:cNvPr id="25" name="TextBox 24"/>
          <p:cNvSpPr txBox="1"/>
          <p:nvPr/>
        </p:nvSpPr>
        <p:spPr>
          <a:xfrm>
            <a:off x="3977639" y="5084064"/>
            <a:ext cx="4343400" cy="228600"/>
          </a:xfrm>
          <a:prstGeom prst="rect">
            <a:avLst/>
          </a:prstGeom>
          <a:noFill/>
        </p:spPr>
        <p:txBody>
          <a:bodyPr wrap="none" lIns="36576" tIns="0" rIns="0" bIns="0">
            <a:spAutoFit/>
          </a:bodyPr>
          <a:lstStyle/>
          <a:p>
            <a:pPr>
              <a:defRPr sz="1200" b="0">
                <a:solidFill>
                  <a:srgbClr val="19243C"/>
                </a:solidFill>
                <a:latin typeface="Aptos Display"/>
              </a:defRPr>
            </a:pPr>
            <a:r>
              <a:t>Future OS, Expo City, Dubai, UAE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4"/>
                                  </p:tgtEl>
                                  <p:attrNameLst>
                                    <p:attrName>style.visibility</p:attrName>
                                  </p:attrNameLst>
                                </p:cBhvr>
                                <p:to>
                                  <p:strVal val="visible"/>
                                </p:to>
                              </p:set>
                              <p:animEffect transition="in" filter="fade">
                                <p:cBhvr>
                                  <p:cTn id="6" dur="650"/>
                                  <p:tgtEl>
                                    <p:spTgt spid="14"/>
                                  </p:tgtEl>
                                </p:cBhvr>
                              </p:animEffect>
                            </p:childTnLst>
                          </p:cTn>
                        </p:par>
                      </p:childTnLst>
                    </p:cTn>
                  </p:par>
                  <p:par>
                    <p:cTn id="7" fill="hold">
                      <p:stCondLst>
                        <p:cond delay="330"/>
                      </p:stCondLst>
                      <p:childTnLst>
                        <p:par>
                          <p:cTn id="8" fill="hold">
                            <p:childTnLst>
                              <p:set>
                                <p:cBhvr>
                                  <p:cTn id="9" dur="1" fill="hold"/>
                                  <p:tgtEl>
                                    <p:spTgt spid="15"/>
                                  </p:tgtEl>
                                  <p:attrNameLst>
                                    <p:attrName>style.visibility</p:attrName>
                                  </p:attrNameLst>
                                </p:cBhvr>
                                <p:to>
                                  <p:strVal val="visible"/>
                                </p:to>
                              </p:set>
                              <p:animEffect transition="in" filter="fade">
                                <p:cBhvr>
                                  <p:cTn id="10" dur="650"/>
                                  <p:tgtEl>
                                    <p:spTgt spid="15"/>
                                  </p:tgtEl>
                                </p:cBhvr>
                              </p:animEffect>
                            </p:childTnLst>
                          </p:cTn>
                        </p:par>
                      </p:childTnLst>
                    </p:cTn>
                  </p:par>
                  <p:par>
                    <p:cTn id="11" fill="hold">
                      <p:stCondLst>
                        <p:cond delay="510"/>
                      </p:stCondLst>
                      <p:childTnLst>
                        <p:par>
                          <p:cTn id="12" fill="hold">
                            <p:childTnLst>
                              <p:set>
                                <p:cBhvr>
                                  <p:cTn id="13" dur="1" fill="hold"/>
                                  <p:tgtEl>
                                    <p:spTgt spid="16"/>
                                  </p:tgtEl>
                                  <p:attrNameLst>
                                    <p:attrName>style.visibility</p:attrName>
                                  </p:attrNameLst>
                                </p:cBhvr>
                                <p:to>
                                  <p:strVal val="visible"/>
                                </p:to>
                              </p:set>
                              <p:animEffect transition="in" filter="fade">
                                <p:cBhvr>
                                  <p:cTn id="14" dur="650"/>
                                  <p:tgtEl>
                                    <p:spTgt spid="16"/>
                                  </p:tgtEl>
                                </p:cBhvr>
                              </p:animEffect>
                            </p:childTnLst>
                          </p:cTn>
                        </p:par>
                      </p:childTnLst>
                    </p:cTn>
                  </p:par>
                </p:childTnLst>
              </p:cTn>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377440" cy="228600"/>
          </a:xfrm>
          <a:prstGeom prst="rect">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103120" y="0"/>
            <a:ext cx="2194560" cy="228600"/>
          </a:xfrm>
          <a:prstGeom prst="rect">
            <a:avLst/>
          </a:prstGeom>
          <a:solidFill>
            <a:srgbClr val="2B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0" y="0"/>
            <a:ext cx="2286000" cy="228600"/>
          </a:xfrm>
          <a:prstGeom prst="rect">
            <a:avLst/>
          </a:prstGeom>
          <a:solidFill>
            <a:srgbClr val="E0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17920" y="0"/>
            <a:ext cx="2926080" cy="228600"/>
          </a:xfrm>
          <a:prstGeom prst="rect">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502920"/>
            <a:ext cx="1737360" cy="347472"/>
          </a:xfrm>
          <a:prstGeom prst="roundRect">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7F8F6"/>
                </a:solidFill>
              </a:rPr>
              <a:t>WHY NOW?</a:t>
            </a:r>
          </a:p>
        </p:txBody>
      </p:sp>
      <p:sp>
        <p:nvSpPr>
          <p:cNvPr id="7" name="TextBox 6"/>
          <p:cNvSpPr txBox="1"/>
          <p:nvPr/>
        </p:nvSpPr>
        <p:spPr>
          <a:xfrm>
            <a:off x="658368" y="960120"/>
            <a:ext cx="7847958" cy="507831"/>
          </a:xfrm>
          <a:prstGeom prst="rect">
            <a:avLst/>
          </a:prstGeom>
          <a:noFill/>
        </p:spPr>
        <p:txBody>
          <a:bodyPr wrap="square">
            <a:spAutoFit/>
          </a:bodyPr>
          <a:lstStyle/>
          <a:p>
            <a:r>
              <a:rPr sz="2700" b="1" dirty="0">
                <a:solidFill>
                  <a:srgbClr val="1A243A"/>
                </a:solidFill>
              </a:rPr>
              <a:t>Why did AI surge so rapidly since late 2022?</a:t>
            </a:r>
          </a:p>
        </p:txBody>
      </p:sp>
      <p:sp>
        <p:nvSpPr>
          <p:cNvPr id="8" name="TextBox 7"/>
          <p:cNvSpPr txBox="1"/>
          <p:nvPr/>
        </p:nvSpPr>
        <p:spPr>
          <a:xfrm>
            <a:off x="685800" y="1627632"/>
            <a:ext cx="8458200" cy="569387"/>
          </a:xfrm>
          <a:prstGeom prst="rect">
            <a:avLst/>
          </a:prstGeom>
          <a:noFill/>
        </p:spPr>
        <p:txBody>
          <a:bodyPr wrap="square">
            <a:spAutoFit/>
          </a:bodyPr>
          <a:lstStyle/>
          <a:p>
            <a:r>
              <a:rPr sz="1550" dirty="0">
                <a:solidFill>
                  <a:srgbClr val="5F656E"/>
                </a:solidFill>
              </a:rPr>
              <a:t>It feels sudden — but the current wave is the visible result of more than 50 years of AI research.</a:t>
            </a:r>
          </a:p>
        </p:txBody>
      </p:sp>
      <p:sp>
        <p:nvSpPr>
          <p:cNvPr id="9" name="Rounded Rectangle 8"/>
          <p:cNvSpPr/>
          <p:nvPr/>
        </p:nvSpPr>
        <p:spPr>
          <a:xfrm>
            <a:off x="594360" y="2240280"/>
            <a:ext cx="4754880" cy="3017520"/>
          </a:xfrm>
          <a:prstGeom prst="roundRect">
            <a:avLst/>
          </a:prstGeom>
          <a:solidFill>
            <a:srgbClr val="FFFFFF"/>
          </a:solidFill>
          <a:ln>
            <a:solidFill>
              <a:srgbClr val="E0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423160"/>
            <a:ext cx="1920240" cy="320040"/>
          </a:xfrm>
          <a:prstGeom prst="rect">
            <a:avLst/>
          </a:prstGeom>
          <a:noFill/>
        </p:spPr>
        <p:txBody>
          <a:bodyPr wrap="none">
            <a:spAutoFit/>
          </a:bodyPr>
          <a:lstStyle/>
          <a:p>
            <a:r>
              <a:rPr sz="1500" b="1">
                <a:solidFill>
                  <a:srgbClr val="2B6450"/>
                </a:solidFill>
              </a:rPr>
              <a:t>THE BIG IDEA</a:t>
            </a:r>
          </a:p>
        </p:txBody>
      </p:sp>
      <p:sp>
        <p:nvSpPr>
          <p:cNvPr id="11" name="Rectangle 10"/>
          <p:cNvSpPr/>
          <p:nvPr/>
        </p:nvSpPr>
        <p:spPr>
          <a:xfrm>
            <a:off x="1051560" y="2907792"/>
            <a:ext cx="64008" cy="1783080"/>
          </a:xfrm>
          <a:prstGeom prst="rect">
            <a:avLst/>
          </a:prstGeom>
          <a:solidFill>
            <a:srgbClr val="E0E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41832" y="2907792"/>
            <a:ext cx="274320" cy="274320"/>
          </a:xfrm>
          <a:prstGeom prst="ellipse">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25880" y="2871216"/>
            <a:ext cx="3657600" cy="594360"/>
          </a:xfrm>
          <a:prstGeom prst="rect">
            <a:avLst/>
          </a:prstGeom>
          <a:noFill/>
        </p:spPr>
        <p:txBody>
          <a:bodyPr wrap="square">
            <a:spAutoFit/>
          </a:bodyPr>
          <a:lstStyle/>
          <a:p>
            <a:r>
              <a:rPr sz="1500" b="1">
                <a:solidFill>
                  <a:srgbClr val="232830"/>
                </a:solidFill>
              </a:rPr>
              <a:t>1950s–2016</a:t>
            </a:r>
          </a:p>
          <a:p>
            <a:r>
              <a:rPr sz="1150">
                <a:solidFill>
                  <a:srgbClr val="5F656E"/>
                </a:solidFill>
              </a:rPr>
              <a:t>Foundations: AI research, expert systems, machine learning, neural networks.</a:t>
            </a:r>
          </a:p>
        </p:txBody>
      </p:sp>
      <p:sp>
        <p:nvSpPr>
          <p:cNvPr id="14" name="Oval 13"/>
          <p:cNvSpPr/>
          <p:nvPr/>
        </p:nvSpPr>
        <p:spPr>
          <a:xfrm>
            <a:off x="941832" y="3611880"/>
            <a:ext cx="274320" cy="274320"/>
          </a:xfrm>
          <a:prstGeom prst="ellipse">
            <a:avLst/>
          </a:prstGeom>
          <a:solidFill>
            <a:srgbClr val="2B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25880" y="3575304"/>
            <a:ext cx="3657600" cy="594360"/>
          </a:xfrm>
          <a:prstGeom prst="rect">
            <a:avLst/>
          </a:prstGeom>
          <a:noFill/>
        </p:spPr>
        <p:txBody>
          <a:bodyPr wrap="square">
            <a:spAutoFit/>
          </a:bodyPr>
          <a:lstStyle/>
          <a:p>
            <a:r>
              <a:rPr sz="1500" b="1">
                <a:solidFill>
                  <a:srgbClr val="232830"/>
                </a:solidFill>
              </a:rPr>
              <a:t>2017–2021</a:t>
            </a:r>
          </a:p>
          <a:p>
            <a:r>
              <a:rPr sz="1150">
                <a:solidFill>
                  <a:srgbClr val="5F656E"/>
                </a:solidFill>
              </a:rPr>
              <a:t>Transformers, larger models, more compute, better tooling, better data pipelines.</a:t>
            </a:r>
          </a:p>
        </p:txBody>
      </p:sp>
      <p:sp>
        <p:nvSpPr>
          <p:cNvPr id="16" name="Oval 15"/>
          <p:cNvSpPr/>
          <p:nvPr/>
        </p:nvSpPr>
        <p:spPr>
          <a:xfrm>
            <a:off x="941832" y="4315968"/>
            <a:ext cx="274320" cy="274320"/>
          </a:xfrm>
          <a:prstGeom prst="ellipse">
            <a:avLst/>
          </a:prstGeom>
          <a:solidFill>
            <a:srgbClr val="E0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25880" y="4279392"/>
            <a:ext cx="3657600" cy="594360"/>
          </a:xfrm>
          <a:prstGeom prst="rect">
            <a:avLst/>
          </a:prstGeom>
          <a:noFill/>
        </p:spPr>
        <p:txBody>
          <a:bodyPr wrap="square">
            <a:spAutoFit/>
          </a:bodyPr>
          <a:lstStyle/>
          <a:p>
            <a:r>
              <a:rPr sz="1500" b="1">
                <a:solidFill>
                  <a:srgbClr val="232830"/>
                </a:solidFill>
              </a:rPr>
              <a:t>Late 2022 onward</a:t>
            </a:r>
          </a:p>
          <a:p>
            <a:r>
              <a:rPr sz="1150">
                <a:solidFill>
                  <a:srgbClr val="5F656E"/>
                </a:solidFill>
              </a:rPr>
              <a:t>AI became easy to use: chat interfaces, code assistants, image tools, rapid product adoption.</a:t>
            </a:r>
          </a:p>
        </p:txBody>
      </p:sp>
      <p:sp>
        <p:nvSpPr>
          <p:cNvPr id="18" name="Rounded Rectangle 17"/>
          <p:cNvSpPr/>
          <p:nvPr/>
        </p:nvSpPr>
        <p:spPr>
          <a:xfrm>
            <a:off x="5577840" y="2331720"/>
            <a:ext cx="4572000" cy="914400"/>
          </a:xfrm>
          <a:prstGeom prst="roundRect">
            <a:avLst/>
          </a:prstGeom>
          <a:solidFill>
            <a:srgbClr val="FFFFFF"/>
          </a:solidFill>
          <a:ln>
            <a:solidFill>
              <a:srgbClr val="E0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577840" y="2331720"/>
            <a:ext cx="146304" cy="914400"/>
          </a:xfrm>
          <a:prstGeom prst="rect">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33872" y="2404872"/>
            <a:ext cx="4206240" cy="256032"/>
          </a:xfrm>
          <a:prstGeom prst="rect">
            <a:avLst/>
          </a:prstGeom>
          <a:noFill/>
        </p:spPr>
        <p:txBody>
          <a:bodyPr wrap="none">
            <a:spAutoFit/>
          </a:bodyPr>
          <a:lstStyle/>
          <a:p>
            <a:r>
              <a:rPr sz="1450" b="1">
                <a:solidFill>
                  <a:srgbClr val="1A243A"/>
                </a:solidFill>
              </a:rPr>
              <a:t>Why it exploded publicly</a:t>
            </a:r>
          </a:p>
        </p:txBody>
      </p:sp>
      <p:sp>
        <p:nvSpPr>
          <p:cNvPr id="21" name="TextBox 20"/>
          <p:cNvSpPr txBox="1"/>
          <p:nvPr/>
        </p:nvSpPr>
        <p:spPr>
          <a:xfrm>
            <a:off x="5833872" y="2679191"/>
            <a:ext cx="4160520" cy="438912"/>
          </a:xfrm>
          <a:prstGeom prst="rect">
            <a:avLst/>
          </a:prstGeom>
          <a:noFill/>
        </p:spPr>
        <p:txBody>
          <a:bodyPr wrap="square">
            <a:spAutoFit/>
          </a:bodyPr>
          <a:lstStyle/>
          <a:p>
            <a:r>
              <a:rPr sz="1150">
                <a:solidFill>
                  <a:srgbClr val="232830"/>
                </a:solidFill>
              </a:rPr>
              <a:t>People could suddenly talk to AI directly. That made the technology visible and useful to millions, not just researchers.</a:t>
            </a:r>
          </a:p>
        </p:txBody>
      </p:sp>
      <p:sp>
        <p:nvSpPr>
          <p:cNvPr id="22" name="Rounded Rectangle 21"/>
          <p:cNvSpPr/>
          <p:nvPr/>
        </p:nvSpPr>
        <p:spPr>
          <a:xfrm>
            <a:off x="5577840" y="3429000"/>
            <a:ext cx="4572000" cy="914400"/>
          </a:xfrm>
          <a:prstGeom prst="roundRect">
            <a:avLst/>
          </a:prstGeom>
          <a:solidFill>
            <a:srgbClr val="FFFFFF"/>
          </a:solidFill>
          <a:ln>
            <a:solidFill>
              <a:srgbClr val="E0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577840" y="3429000"/>
            <a:ext cx="146304" cy="914400"/>
          </a:xfrm>
          <a:prstGeom prst="rect">
            <a:avLst/>
          </a:prstGeom>
          <a:solidFill>
            <a:srgbClr val="2B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33872" y="3502152"/>
            <a:ext cx="4206240" cy="256032"/>
          </a:xfrm>
          <a:prstGeom prst="rect">
            <a:avLst/>
          </a:prstGeom>
          <a:noFill/>
        </p:spPr>
        <p:txBody>
          <a:bodyPr wrap="none">
            <a:spAutoFit/>
          </a:bodyPr>
          <a:lstStyle/>
          <a:p>
            <a:r>
              <a:rPr sz="1450" b="1">
                <a:solidFill>
                  <a:srgbClr val="2B6450"/>
                </a:solidFill>
              </a:rPr>
              <a:t>Why this matters now</a:t>
            </a:r>
          </a:p>
        </p:txBody>
      </p:sp>
      <p:sp>
        <p:nvSpPr>
          <p:cNvPr id="25" name="TextBox 24"/>
          <p:cNvSpPr txBox="1"/>
          <p:nvPr/>
        </p:nvSpPr>
        <p:spPr>
          <a:xfrm>
            <a:off x="5833872" y="3776472"/>
            <a:ext cx="4160520" cy="438912"/>
          </a:xfrm>
          <a:prstGeom prst="rect">
            <a:avLst/>
          </a:prstGeom>
          <a:noFill/>
        </p:spPr>
        <p:txBody>
          <a:bodyPr wrap="square">
            <a:spAutoFit/>
          </a:bodyPr>
          <a:lstStyle/>
          <a:p>
            <a:r>
              <a:rPr sz="1150">
                <a:solidFill>
                  <a:srgbClr val="232830"/>
                </a:solidFill>
              </a:rPr>
              <a:t>Organizations moved from curiosity to prototypes, then to workflows, copilots, and agentic applications.</a:t>
            </a:r>
          </a:p>
        </p:txBody>
      </p:sp>
      <p:sp>
        <p:nvSpPr>
          <p:cNvPr id="26" name="Rounded Rectangle 25"/>
          <p:cNvSpPr/>
          <p:nvPr/>
        </p:nvSpPr>
        <p:spPr>
          <a:xfrm>
            <a:off x="5577840" y="4526280"/>
            <a:ext cx="4572000" cy="914400"/>
          </a:xfrm>
          <a:prstGeom prst="roundRect">
            <a:avLst/>
          </a:prstGeom>
          <a:solidFill>
            <a:srgbClr val="FFFFFF"/>
          </a:solidFill>
          <a:ln>
            <a:solidFill>
              <a:srgbClr val="E0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577840" y="4526280"/>
            <a:ext cx="146304" cy="914400"/>
          </a:xfrm>
          <a:prstGeom prst="rect">
            <a:avLst/>
          </a:prstGeom>
          <a:solidFill>
            <a:srgbClr val="E0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33872" y="4599432"/>
            <a:ext cx="4206240" cy="256032"/>
          </a:xfrm>
          <a:prstGeom prst="rect">
            <a:avLst/>
          </a:prstGeom>
          <a:noFill/>
        </p:spPr>
        <p:txBody>
          <a:bodyPr wrap="none">
            <a:spAutoFit/>
          </a:bodyPr>
          <a:lstStyle/>
          <a:p>
            <a:r>
              <a:rPr sz="1450" b="1">
                <a:solidFill>
                  <a:srgbClr val="E04149"/>
                </a:solidFill>
              </a:rPr>
              <a:t>Why we are learning this today</a:t>
            </a:r>
          </a:p>
        </p:txBody>
      </p:sp>
      <p:sp>
        <p:nvSpPr>
          <p:cNvPr id="29" name="TextBox 28"/>
          <p:cNvSpPr txBox="1"/>
          <p:nvPr/>
        </p:nvSpPr>
        <p:spPr>
          <a:xfrm>
            <a:off x="5833872" y="4873752"/>
            <a:ext cx="4160520" cy="438912"/>
          </a:xfrm>
          <a:prstGeom prst="rect">
            <a:avLst/>
          </a:prstGeom>
          <a:noFill/>
        </p:spPr>
        <p:txBody>
          <a:bodyPr wrap="square">
            <a:spAutoFit/>
          </a:bodyPr>
          <a:lstStyle/>
          <a:p>
            <a:r>
              <a:rPr sz="1150">
                <a:solidFill>
                  <a:srgbClr val="232830"/>
                </a:solidFill>
              </a:rPr>
              <a:t>Engineers now need to understand not only AI models, but also tools, RAG, agents, safety, and real-world deployment.</a:t>
            </a:r>
          </a:p>
        </p:txBody>
      </p:sp>
      <p:pic>
        <p:nvPicPr>
          <p:cNvPr id="30" name="Picture 29" descr="image.png"/>
          <p:cNvPicPr>
            <a:picLocks noChangeAspect="1"/>
          </p:cNvPicPr>
          <p:nvPr/>
        </p:nvPicPr>
        <p:blipFill>
          <a:blip r:embed="rId3"/>
          <a:stretch>
            <a:fillRect/>
          </a:stretch>
        </p:blipFill>
        <p:spPr>
          <a:xfrm>
            <a:off x="9326880" y="594360"/>
            <a:ext cx="965606" cy="1097280"/>
          </a:xfrm>
          <a:prstGeom prst="rect">
            <a:avLst/>
          </a:prstGeom>
        </p:spPr>
      </p:pic>
      <p:sp>
        <p:nvSpPr>
          <p:cNvPr id="31" name="Rounded Rectangle 30"/>
          <p:cNvSpPr/>
          <p:nvPr/>
        </p:nvSpPr>
        <p:spPr>
          <a:xfrm>
            <a:off x="658368" y="5486400"/>
            <a:ext cx="9509760" cy="384048"/>
          </a:xfrm>
          <a:prstGeom prst="roundRect">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7F8F6"/>
                </a:solidFill>
              </a:rPr>
              <a:t>This session helps make sense of the boom: from LLMs to tools, RAG, agents, and full agentic AI applications.</a:t>
            </a:r>
          </a:p>
        </p:txBody>
      </p:sp>
      <p:sp>
        <p:nvSpPr>
          <p:cNvPr id="32" name="TextBox 31"/>
          <p:cNvSpPr txBox="1"/>
          <p:nvPr/>
        </p:nvSpPr>
        <p:spPr>
          <a:xfrm>
            <a:off x="640080" y="6035040"/>
            <a:ext cx="3291840" cy="164592"/>
          </a:xfrm>
          <a:prstGeom prst="rect">
            <a:avLst/>
          </a:prstGeom>
          <a:noFill/>
        </p:spPr>
        <p:txBody>
          <a:bodyPr wrap="none">
            <a:spAutoFit/>
          </a:bodyPr>
          <a:lstStyle/>
          <a:p>
            <a:r>
              <a:rPr sz="900">
                <a:solidFill>
                  <a:srgbClr val="5F656E"/>
                </a:solidFill>
              </a:rPr>
              <a:t>B E A W O R L D   /   A G E N T I C   E N G I N E E R I N G   1 0 1</a:t>
            </a:r>
          </a:p>
        </p:txBody>
      </p:sp>
      <p:sp>
        <p:nvSpPr>
          <p:cNvPr id="33" name="TextBox 32"/>
          <p:cNvSpPr txBox="1"/>
          <p:nvPr/>
        </p:nvSpPr>
        <p:spPr>
          <a:xfrm>
            <a:off x="9509760" y="5980176"/>
            <a:ext cx="731520" cy="201168"/>
          </a:xfrm>
          <a:prstGeom prst="rect">
            <a:avLst/>
          </a:prstGeom>
          <a:noFill/>
        </p:spPr>
        <p:txBody>
          <a:bodyPr wrap="none">
            <a:spAutoFit/>
          </a:bodyPr>
          <a:lstStyle/>
          <a:p>
            <a:pPr algn="r"/>
            <a:r>
              <a:rPr sz="1200">
                <a:solidFill>
                  <a:srgbClr val="5F656E"/>
                </a:solidFill>
              </a:rPr>
              <a:t>02  /  32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130198"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965606"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WELCOME</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Your mission today</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Build intuition first. Code second.</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03  /  32</a:t>
            </a:r>
            <a:endParaRPr lang="en-US" sz="900" dirty="0"/>
          </a:p>
        </p:txBody>
      </p:sp>
      <p:pic>
        <p:nvPicPr>
          <p:cNvPr id="19" name="Image 0" descr="BEA_MASCOT_chip"/>
          <p:cNvPicPr>
            <a:picLocks noChangeAspect="1"/>
          </p:cNvPicPr>
          <p:nvPr/>
        </p:nvPicPr>
        <p:blipFill>
          <a:blip r:embed="rId3"/>
          <a:stretch>
            <a:fillRect/>
          </a:stretch>
        </p:blipFill>
        <p:spPr>
          <a:xfrm>
            <a:off x="9006840" y="1920240"/>
            <a:ext cx="2286000" cy="2597727"/>
          </a:xfrm>
          <a:prstGeom prst="rect">
            <a:avLst/>
          </a:prstGeom>
        </p:spPr>
      </p:pic>
      <p:sp>
        <p:nvSpPr>
          <p:cNvPr id="20" name="Shape 17"/>
          <p:cNvSpPr/>
          <p:nvPr/>
        </p:nvSpPr>
        <p:spPr>
          <a:xfrm>
            <a:off x="612648" y="2304288"/>
            <a:ext cx="3840480" cy="3108960"/>
          </a:xfrm>
          <a:prstGeom prst="roundRect">
            <a:avLst>
              <a:gd name="adj" fmla="val 4412"/>
            </a:avLst>
          </a:prstGeom>
          <a:solidFill>
            <a:srgbClr val="FFFFFF"/>
          </a:solidFill>
          <a:ln w="12700">
            <a:solidFill>
              <a:srgbClr val="DDE5E1"/>
            </a:solidFill>
            <a:prstDash val="solid"/>
          </a:ln>
        </p:spPr>
        <p:txBody>
          <a:bodyPr/>
          <a:lstStyle/>
          <a:p>
            <a:endParaRPr/>
          </a:p>
        </p:txBody>
      </p:sp>
      <p:sp>
        <p:nvSpPr>
          <p:cNvPr id="21" name="Shape 18"/>
          <p:cNvSpPr/>
          <p:nvPr/>
        </p:nvSpPr>
        <p:spPr>
          <a:xfrm>
            <a:off x="612648" y="2304288"/>
            <a:ext cx="77724" cy="3108960"/>
          </a:xfrm>
          <a:prstGeom prst="rect">
            <a:avLst/>
          </a:prstGeom>
          <a:solidFill>
            <a:srgbClr val="2B6450"/>
          </a:solidFill>
          <a:ln w="12700">
            <a:solidFill>
              <a:srgbClr val="2B6450"/>
            </a:solidFill>
            <a:prstDash val="solid"/>
          </a:ln>
        </p:spPr>
        <p:txBody>
          <a:bodyPr/>
          <a:lstStyle/>
          <a:p>
            <a:endParaRPr/>
          </a:p>
        </p:txBody>
      </p:sp>
      <p:sp>
        <p:nvSpPr>
          <p:cNvPr id="22" name="Text 19"/>
          <p:cNvSpPr/>
          <p:nvPr/>
        </p:nvSpPr>
        <p:spPr>
          <a:xfrm>
            <a:off x="850392" y="2514600"/>
            <a:ext cx="3374136" cy="466344"/>
          </a:xfrm>
          <a:prstGeom prst="rect">
            <a:avLst/>
          </a:prstGeom>
          <a:noFill/>
          <a:ln/>
        </p:spPr>
        <p:txBody>
          <a:bodyPr wrap="square" lIns="0" tIns="0" rIns="0" bIns="0" rtlCol="0" anchor="ctr">
            <a:normAutofit/>
          </a:bodyPr>
          <a:lstStyle/>
          <a:p>
            <a:pPr marL="0" indent="0" algn="l">
              <a:buNone/>
            </a:pPr>
            <a:r>
              <a:rPr sz="1860" b="1">
                <a:solidFill>
                  <a:srgbClr val="1A243A"/>
                </a:solidFill>
                <a:latin typeface="Inter"/>
              </a:rPr>
              <a:t>By the end: explain all five</a:t>
            </a:r>
            <a:endParaRPr lang="en-US" sz="2000" dirty="0"/>
          </a:p>
        </p:txBody>
      </p:sp>
      <p:sp>
        <p:nvSpPr>
          <p:cNvPr id="23" name="Text 20"/>
          <p:cNvSpPr/>
          <p:nvPr/>
        </p:nvSpPr>
        <p:spPr>
          <a:xfrm>
            <a:off x="850392" y="3072384"/>
            <a:ext cx="3337560" cy="2231136"/>
          </a:xfrm>
          <a:prstGeom prst="rect">
            <a:avLst/>
          </a:prstGeom>
          <a:noFill/>
          <a:ln/>
        </p:spPr>
        <p:txBody>
          <a:bodyPr wrap="square" lIns="0" tIns="0" rIns="0" bIns="0" rtlCol="0" anchor="t">
            <a:normAutofit/>
          </a:bodyPr>
          <a:lstStyle/>
          <a:p>
            <a:pPr marL="0" indent="0" algn="l">
              <a:buNone/>
            </a:pPr>
            <a:r>
              <a:rPr sz="1500">
                <a:solidFill>
                  <a:srgbClr val="242D3A"/>
                </a:solidFill>
                <a:latin typeface="Inter"/>
              </a:rPr>
              <a:t>1  LLM — generates responses
2  Tool — reads data or acts
3  RAG — retrieves trusted context
4  AI agent — chooses next steps
5  Agentic AI app — governs actions</a:t>
            </a:r>
            <a:endParaRPr lang="en-US" sz="1500" dirty="0"/>
          </a:p>
        </p:txBody>
      </p:sp>
      <p:sp>
        <p:nvSpPr>
          <p:cNvPr id="24" name="Shape 21"/>
          <p:cNvSpPr/>
          <p:nvPr/>
        </p:nvSpPr>
        <p:spPr>
          <a:xfrm>
            <a:off x="4736592" y="2807208"/>
            <a:ext cx="4251960" cy="2048256"/>
          </a:xfrm>
          <a:prstGeom prst="roundRect">
            <a:avLst>
              <a:gd name="adj" fmla="val 6696"/>
            </a:avLst>
          </a:prstGeom>
          <a:solidFill>
            <a:srgbClr val="1A243A"/>
          </a:solidFill>
          <a:ln w="12700">
            <a:solidFill>
              <a:srgbClr val="1A243A"/>
            </a:solidFill>
            <a:prstDash val="solid"/>
          </a:ln>
        </p:spPr>
        <p:txBody>
          <a:bodyPr/>
          <a:lstStyle/>
          <a:p>
            <a:endParaRPr/>
          </a:p>
        </p:txBody>
      </p:sp>
      <p:sp>
        <p:nvSpPr>
          <p:cNvPr id="25" name="Text 22"/>
          <p:cNvSpPr/>
          <p:nvPr/>
        </p:nvSpPr>
        <p:spPr>
          <a:xfrm>
            <a:off x="4946904" y="2953512"/>
            <a:ext cx="3840480" cy="320040"/>
          </a:xfrm>
          <a:prstGeom prst="rect">
            <a:avLst/>
          </a:prstGeom>
          <a:noFill/>
          <a:ln/>
        </p:spPr>
        <p:txBody>
          <a:bodyPr wrap="square" lIns="0" tIns="0" rIns="0" bIns="0" rtlCol="0" anchor="ctr">
            <a:normAutofit/>
          </a:bodyPr>
          <a:lstStyle/>
          <a:p>
            <a:pPr marL="0" indent="0" algn="l">
              <a:buNone/>
            </a:pPr>
            <a:r>
              <a:rPr lang="en-US" sz="1500" b="1" dirty="0">
                <a:solidFill>
                  <a:srgbClr val="FFFFFF"/>
                </a:solidFill>
                <a:latin typeface="Inter" pitchFamily="34" charset="0"/>
                <a:ea typeface="Inter" pitchFamily="34" charset="-122"/>
                <a:cs typeface="Inter" pitchFamily="34" charset="-120"/>
              </a:rPr>
              <a:t>TODAY’S RULE</a:t>
            </a:r>
            <a:endParaRPr lang="en-US" sz="1500" dirty="0"/>
          </a:p>
        </p:txBody>
      </p:sp>
      <p:sp>
        <p:nvSpPr>
          <p:cNvPr id="26" name="Text 23"/>
          <p:cNvSpPr/>
          <p:nvPr/>
        </p:nvSpPr>
        <p:spPr>
          <a:xfrm>
            <a:off x="4946904" y="3346704"/>
            <a:ext cx="3840480" cy="1362456"/>
          </a:xfrm>
          <a:prstGeom prst="rect">
            <a:avLst/>
          </a:prstGeom>
          <a:noFill/>
          <a:ln/>
        </p:spPr>
        <p:txBody>
          <a:bodyPr wrap="square" lIns="0" tIns="0" rIns="0" bIns="0" rtlCol="0" anchor="t">
            <a:normAutofit/>
          </a:bodyPr>
          <a:lstStyle/>
          <a:p>
            <a:pPr marL="0" indent="0" algn="l">
              <a:buNone/>
            </a:pPr>
            <a:r>
              <a:rPr lang="en-US" sz="1400" dirty="0">
                <a:solidFill>
                  <a:srgbClr val="E1EAF0"/>
                </a:solidFill>
                <a:latin typeface="Inter" pitchFamily="34" charset="0"/>
                <a:ea typeface="Inter" pitchFamily="34" charset="-122"/>
                <a:cs typeface="Inter" pitchFamily="34" charset="-120"/>
              </a:rPr>
              <a:t>Every new AI concept must connect to a familiar engineering idea.</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CASE STUDY</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sz="2900" b="1">
                <a:solidFill>
                  <a:srgbClr val="1A243A"/>
                </a:solidFill>
                <a:latin typeface="Inter"/>
              </a:rPr>
              <a:t>Meet the Air Handling Unit (AHU-01)</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sz="1500">
                <a:solidFill>
                  <a:srgbClr val="566673"/>
                </a:solidFill>
                <a:latin typeface="Inter"/>
              </a:rPr>
              <a:t>An AHU moves and conditions air inside a building. Here, an office is too warm.</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04  /  32</a:t>
            </a:r>
            <a:endParaRPr lang="en-US" sz="900" dirty="0"/>
          </a:p>
        </p:txBody>
      </p:sp>
      <p:pic>
        <p:nvPicPr>
          <p:cNvPr id="19" name="Image 0" descr="BEA_MASCOT_gear"/>
          <p:cNvPicPr>
            <a:picLocks noChangeAspect="1"/>
          </p:cNvPicPr>
          <p:nvPr/>
        </p:nvPicPr>
        <p:blipFill>
          <a:blip r:embed="rId3"/>
          <a:stretch>
            <a:fillRect/>
          </a:stretch>
        </p:blipFill>
        <p:spPr>
          <a:xfrm>
            <a:off x="9098280" y="1901952"/>
            <a:ext cx="2212848" cy="2514600"/>
          </a:xfrm>
          <a:prstGeom prst="rect">
            <a:avLst/>
          </a:prstGeom>
        </p:spPr>
      </p:pic>
      <p:sp>
        <p:nvSpPr>
          <p:cNvPr id="20" name="Shape 17"/>
          <p:cNvSpPr/>
          <p:nvPr/>
        </p:nvSpPr>
        <p:spPr>
          <a:xfrm>
            <a:off x="640080" y="2221992"/>
            <a:ext cx="4709160" cy="3529584"/>
          </a:xfrm>
          <a:prstGeom prst="roundRect">
            <a:avLst>
              <a:gd name="adj" fmla="val 3886"/>
            </a:avLst>
          </a:prstGeom>
          <a:solidFill>
            <a:srgbClr val="FFFFFF"/>
          </a:solidFill>
          <a:ln w="12700">
            <a:solidFill>
              <a:srgbClr val="DDE5E1"/>
            </a:solidFill>
            <a:prstDash val="solid"/>
          </a:ln>
        </p:spPr>
        <p:txBody>
          <a:bodyPr/>
          <a:lstStyle/>
          <a:p>
            <a:endParaRPr/>
          </a:p>
        </p:txBody>
      </p:sp>
      <p:sp>
        <p:nvSpPr>
          <p:cNvPr id="21" name="Text 18"/>
          <p:cNvSpPr/>
          <p:nvPr/>
        </p:nvSpPr>
        <p:spPr>
          <a:xfrm>
            <a:off x="877824" y="2468880"/>
            <a:ext cx="4297680" cy="256032"/>
          </a:xfrm>
          <a:prstGeom prst="rect">
            <a:avLst/>
          </a:prstGeom>
          <a:noFill/>
          <a:ln/>
        </p:spPr>
        <p:txBody>
          <a:bodyPr wrap="square" lIns="0" tIns="0" rIns="0" bIns="0" rtlCol="0" anchor="ctr">
            <a:normAutofit/>
          </a:bodyPr>
          <a:lstStyle/>
          <a:p>
            <a:pPr marL="0" indent="0" algn="l">
              <a:buNone/>
            </a:pPr>
            <a:r>
              <a:rPr lang="en-US" sz="1200" b="1" kern="0" spc="100" dirty="0">
                <a:solidFill>
                  <a:srgbClr val="2B6450"/>
                </a:solidFill>
                <a:latin typeface="Inter" pitchFamily="34" charset="0"/>
                <a:ea typeface="Inter" pitchFamily="34" charset="-122"/>
                <a:cs typeface="Inter" pitchFamily="34" charset="-120"/>
              </a:rPr>
              <a:t>THE PROBLEM</a:t>
            </a:r>
            <a:endParaRPr lang="en-US" sz="1200" dirty="0"/>
          </a:p>
        </p:txBody>
      </p:sp>
      <p:sp>
        <p:nvSpPr>
          <p:cNvPr id="22" name="Text 19"/>
          <p:cNvSpPr/>
          <p:nvPr/>
        </p:nvSpPr>
        <p:spPr>
          <a:xfrm>
            <a:off x="896112" y="2990088"/>
            <a:ext cx="4096512" cy="1371600"/>
          </a:xfrm>
          <a:prstGeom prst="rect">
            <a:avLst/>
          </a:prstGeom>
          <a:noFill/>
          <a:ln/>
        </p:spPr>
        <p:txBody>
          <a:bodyPr wrap="square" lIns="0" tIns="0" rIns="0" bIns="0" rtlCol="0" anchor="ctr">
            <a:normAutofit/>
          </a:bodyPr>
          <a:lstStyle/>
          <a:p>
            <a:pPr marL="0" indent="0" algn="l">
              <a:buNone/>
            </a:pPr>
            <a:r>
              <a:rPr lang="en-US" sz="2800" b="1" dirty="0">
                <a:solidFill>
                  <a:srgbClr val="172337"/>
                </a:solidFill>
                <a:latin typeface="Inter" pitchFamily="34" charset="0"/>
                <a:ea typeface="Inter" pitchFamily="34" charset="-122"/>
                <a:cs typeface="Inter" pitchFamily="34" charset="-120"/>
              </a:rPr>
              <a:t>“The office is still warm.</a:t>
            </a:r>
            <a:endParaRPr lang="en-US" sz="2800" dirty="0"/>
          </a:p>
          <a:p>
            <a:pPr marL="0" indent="0" algn="l">
              <a:buNone/>
            </a:pPr>
            <a:r>
              <a:rPr lang="en-US" sz="2800" b="1" dirty="0">
                <a:solidFill>
                  <a:srgbClr val="172337"/>
                </a:solidFill>
                <a:latin typeface="Inter" pitchFamily="34" charset="0"/>
                <a:ea typeface="Inter" pitchFamily="34" charset="-122"/>
                <a:cs typeface="Inter" pitchFamily="34" charset="-120"/>
              </a:rPr>
              <a:t>Can you investigate?”</a:t>
            </a:r>
            <a:endParaRPr lang="en-US" sz="2800" dirty="0"/>
          </a:p>
        </p:txBody>
      </p:sp>
      <p:sp>
        <p:nvSpPr>
          <p:cNvPr id="23" name="Shape 20"/>
          <p:cNvSpPr/>
          <p:nvPr/>
        </p:nvSpPr>
        <p:spPr>
          <a:xfrm>
            <a:off x="932688" y="5065776"/>
            <a:ext cx="1417320"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24" name="Text 21"/>
          <p:cNvSpPr/>
          <p:nvPr/>
        </p:nvSpPr>
        <p:spPr>
          <a:xfrm>
            <a:off x="1014984" y="5088636"/>
            <a:ext cx="125272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TARGET  22°C</a:t>
            </a:r>
            <a:endParaRPr lang="en-US" sz="1000" dirty="0"/>
          </a:p>
        </p:txBody>
      </p:sp>
      <p:sp>
        <p:nvSpPr>
          <p:cNvPr id="25" name="Shape 22"/>
          <p:cNvSpPr/>
          <p:nvPr/>
        </p:nvSpPr>
        <p:spPr>
          <a:xfrm>
            <a:off x="5687568" y="2221992"/>
            <a:ext cx="3337560" cy="3529584"/>
          </a:xfrm>
          <a:prstGeom prst="roundRect">
            <a:avLst>
              <a:gd name="adj" fmla="val 4110"/>
            </a:avLst>
          </a:prstGeom>
          <a:solidFill>
            <a:srgbClr val="FFFFFF"/>
          </a:solidFill>
          <a:ln w="12700">
            <a:solidFill>
              <a:srgbClr val="DDE5E1"/>
            </a:solidFill>
            <a:prstDash val="solid"/>
          </a:ln>
        </p:spPr>
        <p:txBody>
          <a:bodyPr/>
          <a:lstStyle/>
          <a:p>
            <a:endParaRPr/>
          </a:p>
        </p:txBody>
      </p:sp>
      <p:sp>
        <p:nvSpPr>
          <p:cNvPr id="26" name="Shape 23"/>
          <p:cNvSpPr/>
          <p:nvPr/>
        </p:nvSpPr>
        <p:spPr>
          <a:xfrm>
            <a:off x="5687568" y="2221992"/>
            <a:ext cx="77724" cy="3529584"/>
          </a:xfrm>
          <a:prstGeom prst="rect">
            <a:avLst/>
          </a:prstGeom>
          <a:solidFill>
            <a:srgbClr val="E04149"/>
          </a:solidFill>
          <a:ln w="12700">
            <a:solidFill>
              <a:srgbClr val="E04149"/>
            </a:solidFill>
            <a:prstDash val="solid"/>
          </a:ln>
        </p:spPr>
        <p:txBody>
          <a:bodyPr/>
          <a:lstStyle/>
          <a:p>
            <a:endParaRPr/>
          </a:p>
        </p:txBody>
      </p:sp>
      <p:sp>
        <p:nvSpPr>
          <p:cNvPr id="27" name="Text 24"/>
          <p:cNvSpPr/>
          <p:nvPr/>
        </p:nvSpPr>
        <p:spPr>
          <a:xfrm>
            <a:off x="5925312" y="2432304"/>
            <a:ext cx="2871216" cy="466344"/>
          </a:xfrm>
          <a:prstGeom prst="rect">
            <a:avLst/>
          </a:prstGeom>
          <a:noFill/>
          <a:ln/>
        </p:spPr>
        <p:txBody>
          <a:bodyPr wrap="square" lIns="0" tIns="0" rIns="0" bIns="0" rtlCol="0" anchor="ctr">
            <a:normAutofit/>
          </a:bodyPr>
          <a:lstStyle/>
          <a:p>
            <a:pPr marL="0" indent="0" algn="l">
              <a:buNone/>
            </a:pPr>
            <a:r>
              <a:rPr lang="en-US" sz="1900" b="1" dirty="0">
                <a:solidFill>
                  <a:srgbClr val="1A243A"/>
                </a:solidFill>
                <a:latin typeface="Inter" pitchFamily="34" charset="0"/>
                <a:ea typeface="Inter" pitchFamily="34" charset="-122"/>
                <a:cs typeface="Inter" pitchFamily="34" charset="-120"/>
              </a:rPr>
              <a:t>Available evidence</a:t>
            </a:r>
            <a:endParaRPr lang="en-US" sz="1900" dirty="0"/>
          </a:p>
        </p:txBody>
      </p:sp>
      <p:sp>
        <p:nvSpPr>
          <p:cNvPr id="28" name="Text 25"/>
          <p:cNvSpPr/>
          <p:nvPr/>
        </p:nvSpPr>
        <p:spPr>
          <a:xfrm>
            <a:off x="5925312" y="2990088"/>
            <a:ext cx="2834640" cy="2651760"/>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 Sensor readings</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Maintenance history</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Equipment manual</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Ticketing system</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936699"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772107"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THE BIG QUESTION</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Answers are useful. Actions go further.</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What changes when AI can interact with the environment?</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05  /  32</a:t>
            </a:r>
            <a:endParaRPr lang="en-US" sz="900" dirty="0"/>
          </a:p>
        </p:txBody>
      </p:sp>
      <p:sp>
        <p:nvSpPr>
          <p:cNvPr id="19" name="Shape 17"/>
          <p:cNvSpPr/>
          <p:nvPr/>
        </p:nvSpPr>
        <p:spPr>
          <a:xfrm>
            <a:off x="640080" y="2240280"/>
            <a:ext cx="4983480" cy="3246120"/>
          </a:xfrm>
          <a:prstGeom prst="roundRect">
            <a:avLst>
              <a:gd name="adj" fmla="val 4225"/>
            </a:avLst>
          </a:prstGeom>
          <a:solidFill>
            <a:srgbClr val="FFFFFF"/>
          </a:solidFill>
          <a:ln w="12700">
            <a:solidFill>
              <a:srgbClr val="DDE5E1"/>
            </a:solidFill>
            <a:prstDash val="solid"/>
          </a:ln>
        </p:spPr>
        <p:txBody>
          <a:bodyPr/>
          <a:lstStyle/>
          <a:p>
            <a:endParaRPr/>
          </a:p>
        </p:txBody>
      </p:sp>
      <p:sp>
        <p:nvSpPr>
          <p:cNvPr id="20" name="Shape 18"/>
          <p:cNvSpPr/>
          <p:nvPr/>
        </p:nvSpPr>
        <p:spPr>
          <a:xfrm>
            <a:off x="640080" y="2240280"/>
            <a:ext cx="77724" cy="3246120"/>
          </a:xfrm>
          <a:prstGeom prst="rect">
            <a:avLst/>
          </a:prstGeom>
          <a:solidFill>
            <a:srgbClr val="1A243A"/>
          </a:solidFill>
          <a:ln w="12700">
            <a:solidFill>
              <a:srgbClr val="1A243A"/>
            </a:solidFill>
            <a:prstDash val="solid"/>
          </a:ln>
        </p:spPr>
        <p:txBody>
          <a:bodyPr/>
          <a:lstStyle/>
          <a:p>
            <a:endParaRPr/>
          </a:p>
        </p:txBody>
      </p:sp>
      <p:sp>
        <p:nvSpPr>
          <p:cNvPr id="21" name="Text 19"/>
          <p:cNvSpPr/>
          <p:nvPr/>
        </p:nvSpPr>
        <p:spPr>
          <a:xfrm>
            <a:off x="877824" y="2450592"/>
            <a:ext cx="4517136" cy="466344"/>
          </a:xfrm>
          <a:prstGeom prst="rect">
            <a:avLst/>
          </a:prstGeom>
          <a:noFill/>
          <a:ln/>
        </p:spPr>
        <p:txBody>
          <a:bodyPr wrap="square" lIns="0" tIns="0" rIns="0" bIns="0" rtlCol="0" anchor="ctr">
            <a:normAutofit/>
          </a:bodyPr>
          <a:lstStyle/>
          <a:p>
            <a:pPr marL="0" indent="0" algn="l">
              <a:buNone/>
            </a:pPr>
            <a:r>
              <a:rPr lang="en-US" sz="2100" b="1" dirty="0">
                <a:solidFill>
                  <a:srgbClr val="1A243A"/>
                </a:solidFill>
                <a:latin typeface="Inter" pitchFamily="34" charset="0"/>
                <a:ea typeface="Inter" pitchFamily="34" charset="-122"/>
                <a:cs typeface="Inter" pitchFamily="34" charset="-120"/>
              </a:rPr>
              <a:t>Chatbot response</a:t>
            </a:r>
            <a:endParaRPr lang="en-US" sz="2100" dirty="0"/>
          </a:p>
        </p:txBody>
      </p:sp>
      <p:sp>
        <p:nvSpPr>
          <p:cNvPr id="22" name="Text 20"/>
          <p:cNvSpPr/>
          <p:nvPr/>
        </p:nvSpPr>
        <p:spPr>
          <a:xfrm>
            <a:off x="877824" y="3008376"/>
            <a:ext cx="4480560" cy="2368296"/>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“Check the filter, fan and refrigeration system.”</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Useful guidance — but no inspection happened.</a:t>
            </a:r>
            <a:endParaRPr lang="en-US" sz="1500" dirty="0"/>
          </a:p>
        </p:txBody>
      </p:sp>
      <p:sp>
        <p:nvSpPr>
          <p:cNvPr id="23" name="Shape 21"/>
          <p:cNvSpPr/>
          <p:nvPr/>
        </p:nvSpPr>
        <p:spPr>
          <a:xfrm>
            <a:off x="5961888" y="2240280"/>
            <a:ext cx="5358384" cy="3246120"/>
          </a:xfrm>
          <a:prstGeom prst="roundRect">
            <a:avLst>
              <a:gd name="adj" fmla="val 4225"/>
            </a:avLst>
          </a:prstGeom>
          <a:solidFill>
            <a:srgbClr val="FFFFFF"/>
          </a:solidFill>
          <a:ln w="12700">
            <a:solidFill>
              <a:srgbClr val="DDE5E1"/>
            </a:solidFill>
            <a:prstDash val="solid"/>
          </a:ln>
        </p:spPr>
        <p:txBody>
          <a:bodyPr/>
          <a:lstStyle/>
          <a:p>
            <a:endParaRPr/>
          </a:p>
        </p:txBody>
      </p:sp>
      <p:sp>
        <p:nvSpPr>
          <p:cNvPr id="24" name="Shape 22"/>
          <p:cNvSpPr/>
          <p:nvPr/>
        </p:nvSpPr>
        <p:spPr>
          <a:xfrm>
            <a:off x="5961888" y="2240280"/>
            <a:ext cx="77724" cy="3246120"/>
          </a:xfrm>
          <a:prstGeom prst="rect">
            <a:avLst/>
          </a:prstGeom>
          <a:solidFill>
            <a:srgbClr val="2B6450"/>
          </a:solidFill>
          <a:ln w="12700">
            <a:solidFill>
              <a:srgbClr val="2B6450"/>
            </a:solidFill>
            <a:prstDash val="solid"/>
          </a:ln>
        </p:spPr>
        <p:txBody>
          <a:bodyPr/>
          <a:lstStyle/>
          <a:p>
            <a:endParaRPr/>
          </a:p>
        </p:txBody>
      </p:sp>
      <p:sp>
        <p:nvSpPr>
          <p:cNvPr id="25" name="Text 23"/>
          <p:cNvSpPr/>
          <p:nvPr/>
        </p:nvSpPr>
        <p:spPr>
          <a:xfrm>
            <a:off x="6199632" y="2450592"/>
            <a:ext cx="4892040" cy="466344"/>
          </a:xfrm>
          <a:prstGeom prst="rect">
            <a:avLst/>
          </a:prstGeom>
          <a:noFill/>
          <a:ln/>
        </p:spPr>
        <p:txBody>
          <a:bodyPr wrap="square" lIns="0" tIns="0" rIns="0" bIns="0" rtlCol="0" anchor="ctr">
            <a:normAutofit/>
          </a:bodyPr>
          <a:lstStyle/>
          <a:p>
            <a:pPr marL="0" indent="0" algn="l">
              <a:buNone/>
            </a:pPr>
            <a:r>
              <a:rPr lang="en-US" sz="2100" b="1" dirty="0">
                <a:solidFill>
                  <a:srgbClr val="1A243A"/>
                </a:solidFill>
                <a:latin typeface="Inter" pitchFamily="34" charset="0"/>
                <a:ea typeface="Inter" pitchFamily="34" charset="-122"/>
                <a:cs typeface="Inter" pitchFamily="34" charset="-120"/>
              </a:rPr>
              <a:t>Agent-assisted investigation</a:t>
            </a:r>
            <a:endParaRPr lang="en-US" sz="2100" dirty="0"/>
          </a:p>
        </p:txBody>
      </p:sp>
      <p:sp>
        <p:nvSpPr>
          <p:cNvPr id="26" name="Text 24"/>
          <p:cNvSpPr/>
          <p:nvPr/>
        </p:nvSpPr>
        <p:spPr>
          <a:xfrm>
            <a:off x="6199632" y="3008376"/>
            <a:ext cx="4855464" cy="2368296"/>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Check readings → look up service history → consult manual → propose next step.</a:t>
            </a:r>
            <a:endParaRPr lang="en-US" sz="1500" dirty="0"/>
          </a:p>
        </p:txBody>
      </p:sp>
      <p:sp>
        <p:nvSpPr>
          <p:cNvPr id="27" name="Text 25"/>
          <p:cNvSpPr/>
          <p:nvPr/>
        </p:nvSpPr>
        <p:spPr>
          <a:xfrm>
            <a:off x="1344168" y="5751576"/>
            <a:ext cx="9601200" cy="310896"/>
          </a:xfrm>
          <a:prstGeom prst="rect">
            <a:avLst/>
          </a:prstGeom>
          <a:noFill/>
          <a:ln/>
        </p:spPr>
        <p:txBody>
          <a:bodyPr wrap="square" lIns="0" tIns="0" rIns="0" bIns="0" rtlCol="0" anchor="ctr">
            <a:normAutofit/>
          </a:bodyPr>
          <a:lstStyle/>
          <a:p>
            <a:pPr marL="0" indent="0" algn="ctr">
              <a:buNone/>
            </a:pPr>
            <a:r>
              <a:rPr lang="en-US" sz="2000" b="1" dirty="0">
                <a:solidFill>
                  <a:srgbClr val="2B6450"/>
                </a:solidFill>
                <a:latin typeface="Inter" pitchFamily="34" charset="0"/>
                <a:ea typeface="Inter" pitchFamily="34" charset="-122"/>
                <a:cs typeface="Inter" pitchFamily="34" charset="-120"/>
              </a:rPr>
              <a:t>Same language model family. Different system capabilities.</a:t>
            </a:r>
            <a:endParaRPr lang="en-US" sz="2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847088"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682496"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JUST ENOUGH LLM</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How LLM works — in 30 seconds</a:t>
            </a:r>
            <a:endParaRPr lang="en-US" sz="29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06  /  32</a:t>
            </a:r>
            <a:endParaRPr lang="en-US" sz="900" dirty="0"/>
          </a:p>
        </p:txBody>
      </p:sp>
      <p:sp>
        <p:nvSpPr>
          <p:cNvPr id="19" name="Shape 17"/>
          <p:cNvSpPr/>
          <p:nvPr/>
        </p:nvSpPr>
        <p:spPr>
          <a:xfrm>
            <a:off x="658368" y="2468880"/>
            <a:ext cx="2240280" cy="2057400"/>
          </a:xfrm>
          <a:prstGeom prst="roundRect">
            <a:avLst>
              <a:gd name="adj" fmla="val 6667"/>
            </a:avLst>
          </a:prstGeom>
          <a:solidFill>
            <a:srgbClr val="FFFFFF"/>
          </a:solidFill>
          <a:ln w="12700">
            <a:solidFill>
              <a:srgbClr val="DDE5E1"/>
            </a:solidFill>
            <a:prstDash val="solid"/>
          </a:ln>
        </p:spPr>
        <p:txBody>
          <a:bodyPr/>
          <a:lstStyle/>
          <a:p>
            <a:endParaRPr/>
          </a:p>
        </p:txBody>
      </p:sp>
      <p:sp>
        <p:nvSpPr>
          <p:cNvPr id="20" name="Text 18"/>
          <p:cNvSpPr/>
          <p:nvPr/>
        </p:nvSpPr>
        <p:spPr>
          <a:xfrm>
            <a:off x="768096" y="2779776"/>
            <a:ext cx="2011680" cy="301752"/>
          </a:xfrm>
          <a:prstGeom prst="rect">
            <a:avLst/>
          </a:prstGeom>
          <a:noFill/>
          <a:ln/>
        </p:spPr>
        <p:txBody>
          <a:bodyPr wrap="square" lIns="0" tIns="0" rIns="0" bIns="0" rtlCol="0" anchor="ctr">
            <a:normAutofit/>
          </a:bodyPr>
          <a:lstStyle/>
          <a:p>
            <a:pPr marL="0" indent="0" algn="ctr">
              <a:buNone/>
            </a:pPr>
            <a:r>
              <a:rPr lang="en-US" sz="1700" b="1" dirty="0">
                <a:solidFill>
                  <a:srgbClr val="1A243A"/>
                </a:solidFill>
                <a:latin typeface="Inter" pitchFamily="34" charset="0"/>
                <a:ea typeface="Inter" pitchFamily="34" charset="-122"/>
                <a:cs typeface="Inter" pitchFamily="34" charset="-120"/>
              </a:rPr>
              <a:t>PROMPT</a:t>
            </a:r>
            <a:endParaRPr lang="en-US" sz="1700" dirty="0"/>
          </a:p>
        </p:txBody>
      </p:sp>
      <p:sp>
        <p:nvSpPr>
          <p:cNvPr id="21" name="Text 19"/>
          <p:cNvSpPr/>
          <p:nvPr/>
        </p:nvSpPr>
        <p:spPr>
          <a:xfrm>
            <a:off x="850392" y="3337560"/>
            <a:ext cx="1883664" cy="685800"/>
          </a:xfrm>
          <a:prstGeom prst="rect">
            <a:avLst/>
          </a:prstGeom>
          <a:noFill/>
          <a:ln/>
        </p:spPr>
        <p:txBody>
          <a:bodyPr wrap="square" lIns="0" tIns="0" rIns="0" bIns="0" rtlCol="0" anchor="ctr">
            <a:normAutofit/>
          </a:bodyPr>
          <a:lstStyle/>
          <a:p>
            <a:pPr marL="0" indent="0" algn="ctr">
              <a:buNone/>
            </a:pPr>
            <a:r>
              <a:rPr lang="en-US" sz="1400" dirty="0">
                <a:solidFill>
                  <a:srgbClr val="63717D"/>
                </a:solidFill>
                <a:latin typeface="Inter" pitchFamily="34" charset="0"/>
                <a:ea typeface="Inter" pitchFamily="34" charset="-122"/>
                <a:cs typeface="Inter" pitchFamily="34" charset="-120"/>
              </a:rPr>
              <a:t>Your question</a:t>
            </a:r>
            <a:endParaRPr lang="en-US" sz="1400" dirty="0"/>
          </a:p>
        </p:txBody>
      </p:sp>
      <p:sp>
        <p:nvSpPr>
          <p:cNvPr id="22" name="Text 20"/>
          <p:cNvSpPr/>
          <p:nvPr/>
        </p:nvSpPr>
        <p:spPr>
          <a:xfrm>
            <a:off x="2990088" y="3127248"/>
            <a:ext cx="393192" cy="402336"/>
          </a:xfrm>
          <a:prstGeom prst="rect">
            <a:avLst/>
          </a:prstGeom>
          <a:noFill/>
          <a:ln/>
        </p:spPr>
        <p:txBody>
          <a:bodyPr wrap="square" lIns="0" tIns="0" rIns="0" bIns="0" rtlCol="0" anchor="ctr">
            <a:normAutofit/>
          </a:bodyPr>
          <a:lstStyle/>
          <a:p>
            <a:pPr marL="0" indent="0" algn="ctr">
              <a:buNone/>
            </a:pPr>
            <a:r>
              <a:rPr lang="en-US" sz="2500" b="1" dirty="0">
                <a:solidFill>
                  <a:srgbClr val="E04149"/>
                </a:solidFill>
                <a:latin typeface="Inter" pitchFamily="34" charset="0"/>
                <a:ea typeface="Inter" pitchFamily="34" charset="-122"/>
                <a:cs typeface="Inter" pitchFamily="34" charset="-120"/>
              </a:rPr>
              <a:t>→</a:t>
            </a:r>
            <a:endParaRPr lang="en-US" sz="2500" dirty="0"/>
          </a:p>
        </p:txBody>
      </p:sp>
      <p:sp>
        <p:nvSpPr>
          <p:cNvPr id="23" name="Shape 21"/>
          <p:cNvSpPr/>
          <p:nvPr/>
        </p:nvSpPr>
        <p:spPr>
          <a:xfrm>
            <a:off x="3538728" y="2468880"/>
            <a:ext cx="2240280" cy="2057400"/>
          </a:xfrm>
          <a:prstGeom prst="roundRect">
            <a:avLst>
              <a:gd name="adj" fmla="val 6667"/>
            </a:avLst>
          </a:prstGeom>
          <a:solidFill>
            <a:srgbClr val="FFFFFF"/>
          </a:solidFill>
          <a:ln w="12700">
            <a:solidFill>
              <a:srgbClr val="DDE5E1"/>
            </a:solidFill>
            <a:prstDash val="solid"/>
          </a:ln>
        </p:spPr>
        <p:txBody>
          <a:bodyPr/>
          <a:lstStyle/>
          <a:p>
            <a:endParaRPr/>
          </a:p>
        </p:txBody>
      </p:sp>
      <p:sp>
        <p:nvSpPr>
          <p:cNvPr id="24" name="Text 22"/>
          <p:cNvSpPr/>
          <p:nvPr/>
        </p:nvSpPr>
        <p:spPr>
          <a:xfrm>
            <a:off x="3648456" y="2779776"/>
            <a:ext cx="2011680" cy="301752"/>
          </a:xfrm>
          <a:prstGeom prst="rect">
            <a:avLst/>
          </a:prstGeom>
          <a:noFill/>
          <a:ln/>
        </p:spPr>
        <p:txBody>
          <a:bodyPr wrap="square" lIns="0" tIns="0" rIns="0" bIns="0" rtlCol="0" anchor="ctr">
            <a:normAutofit/>
          </a:bodyPr>
          <a:lstStyle/>
          <a:p>
            <a:pPr marL="0" indent="0" algn="ctr">
              <a:buNone/>
            </a:pPr>
            <a:r>
              <a:rPr lang="en-US" sz="1700" b="1" dirty="0">
                <a:solidFill>
                  <a:srgbClr val="1A243A"/>
                </a:solidFill>
                <a:latin typeface="Inter" pitchFamily="34" charset="0"/>
                <a:ea typeface="Inter" pitchFamily="34" charset="-122"/>
                <a:cs typeface="Inter" pitchFamily="34" charset="-120"/>
              </a:rPr>
              <a:t>TOKENS</a:t>
            </a:r>
            <a:endParaRPr lang="en-US" sz="1700" dirty="0"/>
          </a:p>
        </p:txBody>
      </p:sp>
      <p:sp>
        <p:nvSpPr>
          <p:cNvPr id="25" name="Text 23"/>
          <p:cNvSpPr/>
          <p:nvPr/>
        </p:nvSpPr>
        <p:spPr>
          <a:xfrm>
            <a:off x="3730752" y="3337560"/>
            <a:ext cx="1883664" cy="685800"/>
          </a:xfrm>
          <a:prstGeom prst="rect">
            <a:avLst/>
          </a:prstGeom>
          <a:noFill/>
          <a:ln/>
        </p:spPr>
        <p:txBody>
          <a:bodyPr wrap="square" lIns="0" tIns="0" rIns="0" bIns="0" rtlCol="0" anchor="ctr">
            <a:normAutofit/>
          </a:bodyPr>
          <a:lstStyle/>
          <a:p>
            <a:pPr marL="0" indent="0" algn="ctr">
              <a:buNone/>
            </a:pPr>
            <a:r>
              <a:rPr lang="en-US" sz="1400" dirty="0">
                <a:solidFill>
                  <a:srgbClr val="63717D"/>
                </a:solidFill>
                <a:latin typeface="Inter" pitchFamily="34" charset="0"/>
                <a:ea typeface="Inter" pitchFamily="34" charset="-122"/>
                <a:cs typeface="Inter" pitchFamily="34" charset="-120"/>
              </a:rPr>
              <a:t>Small pieces of text</a:t>
            </a:r>
            <a:endParaRPr lang="en-US" sz="1400" dirty="0"/>
          </a:p>
        </p:txBody>
      </p:sp>
      <p:sp>
        <p:nvSpPr>
          <p:cNvPr id="26" name="Text 24"/>
          <p:cNvSpPr/>
          <p:nvPr/>
        </p:nvSpPr>
        <p:spPr>
          <a:xfrm>
            <a:off x="5870448" y="3127248"/>
            <a:ext cx="393192" cy="402336"/>
          </a:xfrm>
          <a:prstGeom prst="rect">
            <a:avLst/>
          </a:prstGeom>
          <a:noFill/>
          <a:ln/>
        </p:spPr>
        <p:txBody>
          <a:bodyPr wrap="square" lIns="0" tIns="0" rIns="0" bIns="0" rtlCol="0" anchor="ctr">
            <a:normAutofit/>
          </a:bodyPr>
          <a:lstStyle/>
          <a:p>
            <a:pPr marL="0" indent="0" algn="ctr">
              <a:buNone/>
            </a:pPr>
            <a:r>
              <a:rPr lang="en-US" sz="2500" b="1" dirty="0">
                <a:solidFill>
                  <a:srgbClr val="E04149"/>
                </a:solidFill>
                <a:latin typeface="Inter" pitchFamily="34" charset="0"/>
                <a:ea typeface="Inter" pitchFamily="34" charset="-122"/>
                <a:cs typeface="Inter" pitchFamily="34" charset="-120"/>
              </a:rPr>
              <a:t>→</a:t>
            </a:r>
            <a:endParaRPr lang="en-US" sz="2500" dirty="0"/>
          </a:p>
        </p:txBody>
      </p:sp>
      <p:sp>
        <p:nvSpPr>
          <p:cNvPr id="27" name="Shape 25"/>
          <p:cNvSpPr/>
          <p:nvPr/>
        </p:nvSpPr>
        <p:spPr>
          <a:xfrm>
            <a:off x="6419088" y="2468880"/>
            <a:ext cx="2240280" cy="2057400"/>
          </a:xfrm>
          <a:prstGeom prst="roundRect">
            <a:avLst>
              <a:gd name="adj" fmla="val 6667"/>
            </a:avLst>
          </a:prstGeom>
          <a:solidFill>
            <a:srgbClr val="1A243A"/>
          </a:solidFill>
          <a:ln w="12700">
            <a:solidFill>
              <a:srgbClr val="1A243A"/>
            </a:solidFill>
            <a:prstDash val="solid"/>
          </a:ln>
        </p:spPr>
        <p:txBody>
          <a:bodyPr/>
          <a:lstStyle/>
          <a:p>
            <a:endParaRPr/>
          </a:p>
        </p:txBody>
      </p:sp>
      <p:sp>
        <p:nvSpPr>
          <p:cNvPr id="28" name="Text 26"/>
          <p:cNvSpPr/>
          <p:nvPr/>
        </p:nvSpPr>
        <p:spPr>
          <a:xfrm>
            <a:off x="6528816" y="2779776"/>
            <a:ext cx="2011680" cy="301752"/>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Inter" pitchFamily="34" charset="0"/>
                <a:ea typeface="Inter" pitchFamily="34" charset="-122"/>
                <a:cs typeface="Inter" pitchFamily="34" charset="-120"/>
              </a:rPr>
              <a:t>TRANSFORMER</a:t>
            </a:r>
            <a:endParaRPr lang="en-US" sz="1700" dirty="0"/>
          </a:p>
        </p:txBody>
      </p:sp>
      <p:sp>
        <p:nvSpPr>
          <p:cNvPr id="29" name="Text 27"/>
          <p:cNvSpPr/>
          <p:nvPr/>
        </p:nvSpPr>
        <p:spPr>
          <a:xfrm>
            <a:off x="6611112" y="3337560"/>
            <a:ext cx="1883664" cy="685800"/>
          </a:xfrm>
          <a:prstGeom prst="rect">
            <a:avLst/>
          </a:prstGeom>
          <a:noFill/>
          <a:ln/>
        </p:spPr>
        <p:txBody>
          <a:bodyPr wrap="square" lIns="0" tIns="0" rIns="0" bIns="0" rtlCol="0" anchor="ctr">
            <a:normAutofit/>
          </a:bodyPr>
          <a:lstStyle/>
          <a:p>
            <a:pPr marL="0" indent="0" algn="ctr">
              <a:buNone/>
            </a:pPr>
            <a:r>
              <a:rPr lang="en-US" sz="1400" dirty="0">
                <a:solidFill>
                  <a:srgbClr val="CFDFE8"/>
                </a:solidFill>
                <a:latin typeface="Inter" pitchFamily="34" charset="0"/>
                <a:ea typeface="Inter" pitchFamily="34" charset="-122"/>
                <a:cs typeface="Inter" pitchFamily="34" charset="-120"/>
              </a:rPr>
              <a:t>Uses context to predict</a:t>
            </a:r>
            <a:endParaRPr lang="en-US" sz="1400" dirty="0"/>
          </a:p>
          <a:p>
            <a:pPr marL="0" indent="0" algn="ctr">
              <a:buNone/>
            </a:pPr>
            <a:r>
              <a:rPr lang="en-US" sz="1400" dirty="0">
                <a:solidFill>
                  <a:srgbClr val="CFDFE8"/>
                </a:solidFill>
                <a:latin typeface="Inter" pitchFamily="34" charset="0"/>
                <a:ea typeface="Inter" pitchFamily="34" charset="-122"/>
                <a:cs typeface="Inter" pitchFamily="34" charset="-120"/>
              </a:rPr>
              <a:t>what comes next</a:t>
            </a:r>
            <a:endParaRPr lang="en-US" sz="1400" dirty="0"/>
          </a:p>
        </p:txBody>
      </p:sp>
      <p:sp>
        <p:nvSpPr>
          <p:cNvPr id="30" name="Text 28"/>
          <p:cNvSpPr/>
          <p:nvPr/>
        </p:nvSpPr>
        <p:spPr>
          <a:xfrm>
            <a:off x="8750808" y="3127248"/>
            <a:ext cx="393192" cy="402336"/>
          </a:xfrm>
          <a:prstGeom prst="rect">
            <a:avLst/>
          </a:prstGeom>
          <a:noFill/>
          <a:ln/>
        </p:spPr>
        <p:txBody>
          <a:bodyPr wrap="square" lIns="0" tIns="0" rIns="0" bIns="0" rtlCol="0" anchor="ctr">
            <a:normAutofit/>
          </a:bodyPr>
          <a:lstStyle/>
          <a:p>
            <a:pPr marL="0" indent="0" algn="ctr">
              <a:buNone/>
            </a:pPr>
            <a:r>
              <a:rPr lang="en-US" sz="2500" b="1" dirty="0">
                <a:solidFill>
                  <a:srgbClr val="E04149"/>
                </a:solidFill>
                <a:latin typeface="Inter" pitchFamily="34" charset="0"/>
                <a:ea typeface="Inter" pitchFamily="34" charset="-122"/>
                <a:cs typeface="Inter" pitchFamily="34" charset="-120"/>
              </a:rPr>
              <a:t>→</a:t>
            </a:r>
            <a:endParaRPr lang="en-US" sz="2500" dirty="0"/>
          </a:p>
        </p:txBody>
      </p:sp>
      <p:sp>
        <p:nvSpPr>
          <p:cNvPr id="31" name="Shape 29"/>
          <p:cNvSpPr/>
          <p:nvPr/>
        </p:nvSpPr>
        <p:spPr>
          <a:xfrm>
            <a:off x="9299448" y="2468880"/>
            <a:ext cx="2240280" cy="2057400"/>
          </a:xfrm>
          <a:prstGeom prst="roundRect">
            <a:avLst>
              <a:gd name="adj" fmla="val 6667"/>
            </a:avLst>
          </a:prstGeom>
          <a:solidFill>
            <a:srgbClr val="FFFFFF"/>
          </a:solidFill>
          <a:ln w="12700">
            <a:solidFill>
              <a:srgbClr val="DDE5E1"/>
            </a:solidFill>
            <a:prstDash val="solid"/>
          </a:ln>
        </p:spPr>
        <p:txBody>
          <a:bodyPr/>
          <a:lstStyle/>
          <a:p>
            <a:endParaRPr/>
          </a:p>
        </p:txBody>
      </p:sp>
      <p:sp>
        <p:nvSpPr>
          <p:cNvPr id="32" name="Text 30"/>
          <p:cNvSpPr/>
          <p:nvPr/>
        </p:nvSpPr>
        <p:spPr>
          <a:xfrm>
            <a:off x="9409176" y="2779776"/>
            <a:ext cx="2011680" cy="301752"/>
          </a:xfrm>
          <a:prstGeom prst="rect">
            <a:avLst/>
          </a:prstGeom>
          <a:noFill/>
          <a:ln/>
        </p:spPr>
        <p:txBody>
          <a:bodyPr wrap="square" lIns="0" tIns="0" rIns="0" bIns="0" rtlCol="0" anchor="ctr">
            <a:normAutofit/>
          </a:bodyPr>
          <a:lstStyle/>
          <a:p>
            <a:pPr marL="0" indent="0" algn="ctr">
              <a:buNone/>
            </a:pPr>
            <a:r>
              <a:rPr lang="en-US" sz="1700" b="1" dirty="0">
                <a:solidFill>
                  <a:srgbClr val="1A243A"/>
                </a:solidFill>
                <a:latin typeface="Inter" pitchFamily="34" charset="0"/>
                <a:ea typeface="Inter" pitchFamily="34" charset="-122"/>
                <a:cs typeface="Inter" pitchFamily="34" charset="-120"/>
              </a:rPr>
              <a:t>RESPONSE</a:t>
            </a:r>
            <a:endParaRPr lang="en-US" sz="1700" dirty="0"/>
          </a:p>
        </p:txBody>
      </p:sp>
      <p:sp>
        <p:nvSpPr>
          <p:cNvPr id="33" name="Text 31"/>
          <p:cNvSpPr/>
          <p:nvPr/>
        </p:nvSpPr>
        <p:spPr>
          <a:xfrm>
            <a:off x="9491472" y="3337560"/>
            <a:ext cx="1883664" cy="685800"/>
          </a:xfrm>
          <a:prstGeom prst="rect">
            <a:avLst/>
          </a:prstGeom>
          <a:noFill/>
          <a:ln/>
        </p:spPr>
        <p:txBody>
          <a:bodyPr wrap="square" lIns="0" tIns="0" rIns="0" bIns="0" rtlCol="0" anchor="ctr">
            <a:normAutofit/>
          </a:bodyPr>
          <a:lstStyle/>
          <a:p>
            <a:pPr marL="0" indent="0" algn="ctr">
              <a:buNone/>
            </a:pPr>
            <a:r>
              <a:rPr lang="en-US" sz="1400" dirty="0">
                <a:solidFill>
                  <a:srgbClr val="63717D"/>
                </a:solidFill>
                <a:latin typeface="Inter" pitchFamily="34" charset="0"/>
                <a:ea typeface="Inter" pitchFamily="34" charset="-122"/>
                <a:cs typeface="Inter" pitchFamily="34" charset="-120"/>
              </a:rPr>
              <a:t>Words generated</a:t>
            </a:r>
            <a:endParaRPr lang="en-US" sz="1400" dirty="0"/>
          </a:p>
          <a:p>
            <a:pPr marL="0" indent="0" algn="ctr">
              <a:buNone/>
            </a:pPr>
            <a:r>
              <a:rPr lang="en-US" sz="1400" dirty="0">
                <a:solidFill>
                  <a:srgbClr val="63717D"/>
                </a:solidFill>
                <a:latin typeface="Inter" pitchFamily="34" charset="0"/>
                <a:ea typeface="Inter" pitchFamily="34" charset="-122"/>
                <a:cs typeface="Inter" pitchFamily="34" charset="-120"/>
              </a:rPr>
              <a:t>one piece at a time</a:t>
            </a:r>
            <a:endParaRPr lang="en-US" sz="1400" dirty="0"/>
          </a:p>
        </p:txBody>
      </p:sp>
      <p:pic>
        <p:nvPicPr>
          <p:cNvPr id="34" name="Image 0" descr="BEA_MASCOT_chip"/>
          <p:cNvPicPr>
            <a:picLocks noChangeAspect="1"/>
          </p:cNvPicPr>
          <p:nvPr/>
        </p:nvPicPr>
        <p:blipFill>
          <a:blip r:embed="rId3"/>
          <a:stretch>
            <a:fillRect/>
          </a:stretch>
        </p:blipFill>
        <p:spPr>
          <a:xfrm>
            <a:off x="4718304" y="4681728"/>
            <a:ext cx="1024128" cy="1163782"/>
          </a:xfrm>
          <a:prstGeom prst="rect">
            <a:avLst/>
          </a:prstGeom>
        </p:spPr>
      </p:pic>
      <p:sp>
        <p:nvSpPr>
          <p:cNvPr id="35" name="Shape 32"/>
          <p:cNvSpPr/>
          <p:nvPr/>
        </p:nvSpPr>
        <p:spPr>
          <a:xfrm>
            <a:off x="6007608" y="5010912"/>
            <a:ext cx="4992624" cy="841248"/>
          </a:xfrm>
          <a:prstGeom prst="roundRect">
            <a:avLst>
              <a:gd name="adj" fmla="val 16304"/>
            </a:avLst>
          </a:prstGeom>
          <a:solidFill>
            <a:srgbClr val="FFFFFF"/>
          </a:solidFill>
          <a:ln w="12700">
            <a:solidFill>
              <a:srgbClr val="DDE5E1"/>
            </a:solidFill>
            <a:prstDash val="solid"/>
          </a:ln>
        </p:spPr>
        <p:txBody>
          <a:bodyPr/>
          <a:lstStyle/>
          <a:p>
            <a:endParaRPr/>
          </a:p>
        </p:txBody>
      </p:sp>
      <p:sp>
        <p:nvSpPr>
          <p:cNvPr id="36" name="Text 33"/>
          <p:cNvSpPr/>
          <p:nvPr/>
        </p:nvSpPr>
        <p:spPr>
          <a:xfrm>
            <a:off x="6236208" y="5138928"/>
            <a:ext cx="4535424" cy="585216"/>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LLM generates an answer. It does not automatically read AHU-01 sensors.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34"/>
                                  </p:tgtEl>
                                  <p:attrNameLst>
                                    <p:attrName>style.visibility</p:attrName>
                                  </p:attrNameLst>
                                </p:cBhvr>
                                <p:to>
                                  <p:strVal val="visible"/>
                                </p:to>
                              </p:set>
                              <p:animEffect transition="in" filter="fade">
                                <p:cBhvr>
                                  <p:cTn id="6" dur="650"/>
                                  <p:tgtEl>
                                    <p:spTgt spid="34"/>
                                  </p:tgtEl>
                                </p:cBhvr>
                              </p:animEffect>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2474366"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2309774"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REAL-WORLD LIMITATIONS</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Can GPT know the temperature now?</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Not unless our application provides that information.</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07  /  32</a:t>
            </a:r>
            <a:endParaRPr lang="en-US" sz="900" dirty="0"/>
          </a:p>
        </p:txBody>
      </p:sp>
      <p:pic>
        <p:nvPicPr>
          <p:cNvPr id="19" name="Image 0" descr="BEA_MASCOT_chip"/>
          <p:cNvPicPr>
            <a:picLocks noChangeAspect="1"/>
          </p:cNvPicPr>
          <p:nvPr/>
        </p:nvPicPr>
        <p:blipFill>
          <a:blip r:embed="rId3"/>
          <a:stretch>
            <a:fillRect/>
          </a:stretch>
        </p:blipFill>
        <p:spPr>
          <a:xfrm>
            <a:off x="886968" y="2212848"/>
            <a:ext cx="2743200" cy="3117273"/>
          </a:xfrm>
          <a:prstGeom prst="rect">
            <a:avLst/>
          </a:prstGeom>
        </p:spPr>
      </p:pic>
      <p:sp>
        <p:nvSpPr>
          <p:cNvPr id="20" name="Shape 17"/>
          <p:cNvSpPr/>
          <p:nvPr/>
        </p:nvSpPr>
        <p:spPr>
          <a:xfrm>
            <a:off x="3913632" y="2468880"/>
            <a:ext cx="6611112" cy="905256"/>
          </a:xfrm>
          <a:prstGeom prst="roundRect">
            <a:avLst>
              <a:gd name="adj" fmla="val 15152"/>
            </a:avLst>
          </a:prstGeom>
          <a:solidFill>
            <a:srgbClr val="FFFFFF"/>
          </a:solidFill>
          <a:ln w="12700">
            <a:solidFill>
              <a:srgbClr val="DDE5E1"/>
            </a:solidFill>
            <a:prstDash val="solid"/>
          </a:ln>
        </p:spPr>
        <p:txBody>
          <a:bodyPr/>
          <a:lstStyle/>
          <a:p>
            <a:endParaRPr/>
          </a:p>
        </p:txBody>
      </p:sp>
      <p:sp>
        <p:nvSpPr>
          <p:cNvPr id="21" name="Text 18"/>
          <p:cNvSpPr/>
          <p:nvPr/>
        </p:nvSpPr>
        <p:spPr>
          <a:xfrm>
            <a:off x="4142232" y="2596896"/>
            <a:ext cx="6153912" cy="649224"/>
          </a:xfrm>
          <a:prstGeom prst="rect">
            <a:avLst/>
          </a:prstGeom>
          <a:noFill/>
          <a:ln/>
        </p:spPr>
        <p:txBody>
          <a:bodyPr wrap="square" lIns="0" tIns="0" rIns="0" bIns="0" rtlCol="0" anchor="ctr">
            <a:normAutofit/>
          </a:bodyPr>
          <a:lstStyle/>
          <a:p>
            <a:pPr marL="0" indent="0" algn="l">
              <a:buNone/>
            </a:pPr>
            <a:r>
              <a:rPr lang="en-US" sz="2200" dirty="0">
                <a:solidFill>
                  <a:srgbClr val="1A243A"/>
                </a:solidFill>
                <a:latin typeface="Inter" pitchFamily="34" charset="0"/>
                <a:ea typeface="Inter" pitchFamily="34" charset="-122"/>
                <a:cs typeface="Inter" pitchFamily="34" charset="-120"/>
              </a:rPr>
              <a:t>“The AHU may have restricted airflow.”</a:t>
            </a:r>
            <a:endParaRPr lang="en-US" sz="2200" dirty="0"/>
          </a:p>
        </p:txBody>
      </p:sp>
      <p:sp>
        <p:nvSpPr>
          <p:cNvPr id="22" name="Shape 19"/>
          <p:cNvSpPr/>
          <p:nvPr/>
        </p:nvSpPr>
        <p:spPr>
          <a:xfrm>
            <a:off x="3913632" y="3721608"/>
            <a:ext cx="6611112" cy="923544"/>
          </a:xfrm>
          <a:prstGeom prst="roundRect">
            <a:avLst>
              <a:gd name="adj" fmla="val 14851"/>
            </a:avLst>
          </a:prstGeom>
          <a:solidFill>
            <a:srgbClr val="FFE9EB"/>
          </a:solidFill>
          <a:ln w="12700">
            <a:solidFill>
              <a:srgbClr val="F3CED2"/>
            </a:solidFill>
            <a:prstDash val="solid"/>
          </a:ln>
        </p:spPr>
        <p:txBody>
          <a:bodyPr/>
          <a:lstStyle/>
          <a:p>
            <a:endParaRPr/>
          </a:p>
        </p:txBody>
      </p:sp>
      <p:sp>
        <p:nvSpPr>
          <p:cNvPr id="23" name="Text 20"/>
          <p:cNvSpPr/>
          <p:nvPr/>
        </p:nvSpPr>
        <p:spPr>
          <a:xfrm>
            <a:off x="4142232" y="3849624"/>
            <a:ext cx="6153912" cy="667512"/>
          </a:xfrm>
          <a:prstGeom prst="rect">
            <a:avLst/>
          </a:prstGeom>
          <a:noFill/>
          <a:ln/>
        </p:spPr>
        <p:txBody>
          <a:bodyPr wrap="square" lIns="0" tIns="0" rIns="0" bIns="0" rtlCol="0" anchor="ctr">
            <a:normAutofit/>
          </a:bodyPr>
          <a:lstStyle/>
          <a:p>
            <a:pPr marL="0" indent="0" algn="l">
              <a:buNone/>
            </a:pPr>
            <a:r>
              <a:rPr lang="en-US" sz="2100" dirty="0">
                <a:solidFill>
                  <a:srgbClr val="1A243A"/>
                </a:solidFill>
                <a:latin typeface="Inter" pitchFamily="34" charset="0"/>
                <a:ea typeface="Inter" pitchFamily="34" charset="-122"/>
                <a:cs typeface="Inter" pitchFamily="34" charset="-120"/>
              </a:rPr>
              <a:t>“But has it actually measured the airflow?”</a:t>
            </a:r>
            <a:endParaRPr lang="en-US" sz="2100" dirty="0"/>
          </a:p>
        </p:txBody>
      </p:sp>
      <p:sp>
        <p:nvSpPr>
          <p:cNvPr id="24" name="Shape 21"/>
          <p:cNvSpPr/>
          <p:nvPr/>
        </p:nvSpPr>
        <p:spPr>
          <a:xfrm>
            <a:off x="3922776" y="5166360"/>
            <a:ext cx="5212080"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25" name="Text 22"/>
          <p:cNvSpPr/>
          <p:nvPr/>
        </p:nvSpPr>
        <p:spPr>
          <a:xfrm>
            <a:off x="4005072" y="5189220"/>
            <a:ext cx="504748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LESSON: GENERATED TEXT ≠ LIVE MEASUREMENT</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936699"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772107"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THREE APPROACHES</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Chatbot vs automation vs agent</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All useful. Pick the simplest approach that solves the task.</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08  /  32</a:t>
            </a:r>
            <a:endParaRPr lang="en-US" sz="900" dirty="0"/>
          </a:p>
        </p:txBody>
      </p:sp>
      <p:sp>
        <p:nvSpPr>
          <p:cNvPr id="19" name="Shape 17"/>
          <p:cNvSpPr/>
          <p:nvPr/>
        </p:nvSpPr>
        <p:spPr>
          <a:xfrm>
            <a:off x="621792" y="2258568"/>
            <a:ext cx="3575304" cy="3419856"/>
          </a:xfrm>
          <a:prstGeom prst="roundRect">
            <a:avLst>
              <a:gd name="adj" fmla="val 4011"/>
            </a:avLst>
          </a:prstGeom>
          <a:solidFill>
            <a:srgbClr val="FFFFFF"/>
          </a:solidFill>
          <a:ln w="12700">
            <a:solidFill>
              <a:srgbClr val="DDE5E1"/>
            </a:solidFill>
            <a:prstDash val="solid"/>
          </a:ln>
        </p:spPr>
        <p:txBody>
          <a:bodyPr/>
          <a:lstStyle/>
          <a:p>
            <a:endParaRPr/>
          </a:p>
        </p:txBody>
      </p:sp>
      <p:sp>
        <p:nvSpPr>
          <p:cNvPr id="20" name="Shape 18"/>
          <p:cNvSpPr/>
          <p:nvPr/>
        </p:nvSpPr>
        <p:spPr>
          <a:xfrm>
            <a:off x="621792" y="2258568"/>
            <a:ext cx="77724" cy="3419856"/>
          </a:xfrm>
          <a:prstGeom prst="rect">
            <a:avLst/>
          </a:prstGeom>
          <a:solidFill>
            <a:srgbClr val="1A243A"/>
          </a:solidFill>
          <a:ln w="12700">
            <a:solidFill>
              <a:srgbClr val="1A243A"/>
            </a:solidFill>
            <a:prstDash val="solid"/>
          </a:ln>
        </p:spPr>
        <p:txBody>
          <a:bodyPr/>
          <a:lstStyle/>
          <a:p>
            <a:endParaRPr/>
          </a:p>
        </p:txBody>
      </p:sp>
      <p:sp>
        <p:nvSpPr>
          <p:cNvPr id="21" name="Shape 19"/>
          <p:cNvSpPr/>
          <p:nvPr/>
        </p:nvSpPr>
        <p:spPr>
          <a:xfrm>
            <a:off x="850392" y="2414016"/>
            <a:ext cx="1051560"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22" name="Text 20"/>
          <p:cNvSpPr/>
          <p:nvPr/>
        </p:nvSpPr>
        <p:spPr>
          <a:xfrm>
            <a:off x="932688" y="2436876"/>
            <a:ext cx="88696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63717D"/>
                </a:solidFill>
                <a:latin typeface="Inter" pitchFamily="34" charset="0"/>
                <a:ea typeface="Inter" pitchFamily="34" charset="-122"/>
                <a:cs typeface="Inter" pitchFamily="34" charset="-120"/>
              </a:rPr>
              <a:t>EXPLAINS</a:t>
            </a:r>
            <a:endParaRPr lang="en-US" sz="1000" dirty="0"/>
          </a:p>
        </p:txBody>
      </p:sp>
      <p:sp>
        <p:nvSpPr>
          <p:cNvPr id="23" name="Text 21"/>
          <p:cNvSpPr/>
          <p:nvPr/>
        </p:nvSpPr>
        <p:spPr>
          <a:xfrm>
            <a:off x="859536" y="2871216"/>
            <a:ext cx="3108960" cy="466344"/>
          </a:xfrm>
          <a:prstGeom prst="rect">
            <a:avLst/>
          </a:prstGeom>
          <a:noFill/>
          <a:ln/>
        </p:spPr>
        <p:txBody>
          <a:bodyPr wrap="square" lIns="0" tIns="0" rIns="0" bIns="0" rtlCol="0" anchor="ctr">
            <a:normAutofit/>
          </a:bodyPr>
          <a:lstStyle/>
          <a:p>
            <a:pPr marL="0" indent="0" algn="l">
              <a:buNone/>
            </a:pPr>
            <a:r>
              <a:rPr lang="en-US" sz="2100" b="1" dirty="0">
                <a:solidFill>
                  <a:srgbClr val="1A243A"/>
                </a:solidFill>
                <a:latin typeface="Inter" pitchFamily="34" charset="0"/>
                <a:ea typeface="Inter" pitchFamily="34" charset="-122"/>
                <a:cs typeface="Inter" pitchFamily="34" charset="-120"/>
              </a:rPr>
              <a:t>CHATBOT</a:t>
            </a:r>
            <a:endParaRPr lang="en-US" sz="2100" dirty="0"/>
          </a:p>
        </p:txBody>
      </p:sp>
      <p:sp>
        <p:nvSpPr>
          <p:cNvPr id="24" name="Text 22"/>
          <p:cNvSpPr/>
          <p:nvPr/>
        </p:nvSpPr>
        <p:spPr>
          <a:xfrm>
            <a:off x="859536" y="3337560"/>
            <a:ext cx="3072384" cy="2231136"/>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Engineer asks why a pump is overheating.</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AI explains possible causes.</a:t>
            </a:r>
            <a:endParaRPr lang="en-US" sz="1500" dirty="0"/>
          </a:p>
        </p:txBody>
      </p:sp>
      <p:sp>
        <p:nvSpPr>
          <p:cNvPr id="25" name="Shape 23"/>
          <p:cNvSpPr/>
          <p:nvPr/>
        </p:nvSpPr>
        <p:spPr>
          <a:xfrm>
            <a:off x="4297680" y="2258568"/>
            <a:ext cx="3575304" cy="3419856"/>
          </a:xfrm>
          <a:prstGeom prst="roundRect">
            <a:avLst>
              <a:gd name="adj" fmla="val 4011"/>
            </a:avLst>
          </a:prstGeom>
          <a:solidFill>
            <a:srgbClr val="FFFFFF"/>
          </a:solidFill>
          <a:ln w="12700">
            <a:solidFill>
              <a:srgbClr val="DDE5E1"/>
            </a:solidFill>
            <a:prstDash val="solid"/>
          </a:ln>
        </p:spPr>
        <p:txBody>
          <a:bodyPr/>
          <a:lstStyle/>
          <a:p>
            <a:endParaRPr/>
          </a:p>
        </p:txBody>
      </p:sp>
      <p:sp>
        <p:nvSpPr>
          <p:cNvPr id="26" name="Shape 24"/>
          <p:cNvSpPr/>
          <p:nvPr/>
        </p:nvSpPr>
        <p:spPr>
          <a:xfrm>
            <a:off x="4297680" y="2258568"/>
            <a:ext cx="77724" cy="3419856"/>
          </a:xfrm>
          <a:prstGeom prst="rect">
            <a:avLst/>
          </a:prstGeom>
          <a:solidFill>
            <a:srgbClr val="E04149"/>
          </a:solidFill>
          <a:ln w="12700">
            <a:solidFill>
              <a:srgbClr val="E04149"/>
            </a:solidFill>
            <a:prstDash val="solid"/>
          </a:ln>
        </p:spPr>
        <p:txBody>
          <a:bodyPr/>
          <a:lstStyle/>
          <a:p>
            <a:endParaRPr/>
          </a:p>
        </p:txBody>
      </p:sp>
      <p:sp>
        <p:nvSpPr>
          <p:cNvPr id="27" name="Shape 25"/>
          <p:cNvSpPr/>
          <p:nvPr/>
        </p:nvSpPr>
        <p:spPr>
          <a:xfrm>
            <a:off x="4526280" y="2414016"/>
            <a:ext cx="1051560"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28" name="Text 26"/>
          <p:cNvSpPr/>
          <p:nvPr/>
        </p:nvSpPr>
        <p:spPr>
          <a:xfrm>
            <a:off x="4608576" y="2436876"/>
            <a:ext cx="886968" cy="256032"/>
          </a:xfrm>
          <a:prstGeom prst="rect">
            <a:avLst/>
          </a:prstGeom>
          <a:noFill/>
          <a:ln/>
        </p:spPr>
        <p:txBody>
          <a:bodyPr wrap="square" lIns="0" tIns="0" rIns="0" bIns="0" rtlCol="0" anchor="ctr">
            <a:normAutofit fontScale="92500" lnSpcReduction="10000"/>
          </a:bodyPr>
          <a:lstStyle/>
          <a:p>
            <a:pPr marL="0" indent="0" algn="ctr">
              <a:buNone/>
            </a:pPr>
            <a:r>
              <a:rPr lang="en-US" sz="1000" b="1" kern="0" spc="60" dirty="0">
                <a:solidFill>
                  <a:srgbClr val="63717D"/>
                </a:solidFill>
                <a:latin typeface="Inter" pitchFamily="34" charset="0"/>
                <a:ea typeface="Inter" pitchFamily="34" charset="-122"/>
                <a:cs typeface="Inter" pitchFamily="34" charset="-120"/>
              </a:rPr>
              <a:t>FOLLOWS RULES</a:t>
            </a:r>
            <a:endParaRPr lang="en-US" sz="1000" dirty="0"/>
          </a:p>
        </p:txBody>
      </p:sp>
      <p:sp>
        <p:nvSpPr>
          <p:cNvPr id="29" name="Text 27"/>
          <p:cNvSpPr/>
          <p:nvPr/>
        </p:nvSpPr>
        <p:spPr>
          <a:xfrm>
            <a:off x="4535424" y="2871216"/>
            <a:ext cx="3108960" cy="466344"/>
          </a:xfrm>
          <a:prstGeom prst="rect">
            <a:avLst/>
          </a:prstGeom>
          <a:noFill/>
          <a:ln/>
        </p:spPr>
        <p:txBody>
          <a:bodyPr wrap="square" lIns="0" tIns="0" rIns="0" bIns="0" rtlCol="0" anchor="ctr">
            <a:normAutofit/>
          </a:bodyPr>
          <a:lstStyle/>
          <a:p>
            <a:pPr marL="0" indent="0" algn="l">
              <a:buNone/>
            </a:pPr>
            <a:r>
              <a:rPr lang="en-US" sz="2100" b="1" dirty="0">
                <a:solidFill>
                  <a:srgbClr val="1A243A"/>
                </a:solidFill>
                <a:latin typeface="Inter" pitchFamily="34" charset="0"/>
                <a:ea typeface="Inter" pitchFamily="34" charset="-122"/>
                <a:cs typeface="Inter" pitchFamily="34" charset="-120"/>
              </a:rPr>
              <a:t>AUTOMATION</a:t>
            </a:r>
            <a:endParaRPr lang="en-US" sz="2100" dirty="0"/>
          </a:p>
        </p:txBody>
      </p:sp>
      <p:sp>
        <p:nvSpPr>
          <p:cNvPr id="30" name="Text 28"/>
          <p:cNvSpPr/>
          <p:nvPr/>
        </p:nvSpPr>
        <p:spPr>
          <a:xfrm>
            <a:off x="4535424" y="3337560"/>
            <a:ext cx="3072384" cy="2231136"/>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When temperature crosses a fixed threshold, send an alert.</a:t>
            </a:r>
            <a:endParaRPr lang="en-US" sz="1500" dirty="0"/>
          </a:p>
        </p:txBody>
      </p:sp>
      <p:sp>
        <p:nvSpPr>
          <p:cNvPr id="31" name="Shape 29"/>
          <p:cNvSpPr/>
          <p:nvPr/>
        </p:nvSpPr>
        <p:spPr>
          <a:xfrm>
            <a:off x="7973568" y="2258568"/>
            <a:ext cx="3575304" cy="3419856"/>
          </a:xfrm>
          <a:prstGeom prst="roundRect">
            <a:avLst>
              <a:gd name="adj" fmla="val 4011"/>
            </a:avLst>
          </a:prstGeom>
          <a:solidFill>
            <a:srgbClr val="FFFFFF"/>
          </a:solidFill>
          <a:ln w="12700">
            <a:solidFill>
              <a:srgbClr val="DDE5E1"/>
            </a:solidFill>
            <a:prstDash val="solid"/>
          </a:ln>
        </p:spPr>
        <p:txBody>
          <a:bodyPr/>
          <a:lstStyle/>
          <a:p>
            <a:endParaRPr/>
          </a:p>
        </p:txBody>
      </p:sp>
      <p:sp>
        <p:nvSpPr>
          <p:cNvPr id="32" name="Shape 30"/>
          <p:cNvSpPr/>
          <p:nvPr/>
        </p:nvSpPr>
        <p:spPr>
          <a:xfrm>
            <a:off x="7973568" y="2258568"/>
            <a:ext cx="77724" cy="3419856"/>
          </a:xfrm>
          <a:prstGeom prst="rect">
            <a:avLst/>
          </a:prstGeom>
          <a:solidFill>
            <a:srgbClr val="2B6450"/>
          </a:solidFill>
          <a:ln w="12700">
            <a:solidFill>
              <a:srgbClr val="2B6450"/>
            </a:solidFill>
            <a:prstDash val="solid"/>
          </a:ln>
        </p:spPr>
        <p:txBody>
          <a:bodyPr/>
          <a:lstStyle/>
          <a:p>
            <a:endParaRPr/>
          </a:p>
        </p:txBody>
      </p:sp>
      <p:sp>
        <p:nvSpPr>
          <p:cNvPr id="33" name="Shape 31"/>
          <p:cNvSpPr/>
          <p:nvPr/>
        </p:nvSpPr>
        <p:spPr>
          <a:xfrm>
            <a:off x="8202168" y="2414016"/>
            <a:ext cx="1051560"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34" name="Text 32"/>
          <p:cNvSpPr/>
          <p:nvPr/>
        </p:nvSpPr>
        <p:spPr>
          <a:xfrm>
            <a:off x="8284464" y="2436876"/>
            <a:ext cx="886968" cy="256032"/>
          </a:xfrm>
          <a:prstGeom prst="rect">
            <a:avLst/>
          </a:prstGeom>
          <a:noFill/>
          <a:ln/>
        </p:spPr>
        <p:txBody>
          <a:bodyPr wrap="square" lIns="0" tIns="0" rIns="0" bIns="0" rtlCol="0" anchor="ctr">
            <a:normAutofit fontScale="92500" lnSpcReduction="10000"/>
          </a:bodyPr>
          <a:lstStyle/>
          <a:p>
            <a:pPr marL="0" indent="0" algn="ctr">
              <a:buNone/>
            </a:pPr>
            <a:r>
              <a:rPr lang="en-US" sz="1000" b="1" kern="0" spc="60" dirty="0">
                <a:solidFill>
                  <a:srgbClr val="63717D"/>
                </a:solidFill>
                <a:latin typeface="Inter" pitchFamily="34" charset="0"/>
                <a:ea typeface="Inter" pitchFamily="34" charset="-122"/>
                <a:cs typeface="Inter" pitchFamily="34" charset="-120"/>
              </a:rPr>
              <a:t>CHOOSES STEPS</a:t>
            </a:r>
            <a:endParaRPr lang="en-US" sz="1000" dirty="0"/>
          </a:p>
        </p:txBody>
      </p:sp>
      <p:sp>
        <p:nvSpPr>
          <p:cNvPr id="35" name="Text 33"/>
          <p:cNvSpPr/>
          <p:nvPr/>
        </p:nvSpPr>
        <p:spPr>
          <a:xfrm>
            <a:off x="8211312" y="2871216"/>
            <a:ext cx="3108960" cy="466344"/>
          </a:xfrm>
          <a:prstGeom prst="rect">
            <a:avLst/>
          </a:prstGeom>
          <a:noFill/>
          <a:ln/>
        </p:spPr>
        <p:txBody>
          <a:bodyPr wrap="square" lIns="0" tIns="0" rIns="0" bIns="0" rtlCol="0" anchor="ctr">
            <a:normAutofit/>
          </a:bodyPr>
          <a:lstStyle/>
          <a:p>
            <a:pPr marL="0" indent="0" algn="l">
              <a:buNone/>
            </a:pPr>
            <a:r>
              <a:rPr lang="en-US" sz="2100" b="1" dirty="0">
                <a:solidFill>
                  <a:srgbClr val="1A243A"/>
                </a:solidFill>
                <a:latin typeface="Inter" pitchFamily="34" charset="0"/>
                <a:ea typeface="Inter" pitchFamily="34" charset="-122"/>
                <a:cs typeface="Inter" pitchFamily="34" charset="-120"/>
              </a:rPr>
              <a:t>AI AGENT</a:t>
            </a:r>
            <a:endParaRPr lang="en-US" sz="2100" dirty="0"/>
          </a:p>
        </p:txBody>
      </p:sp>
      <p:sp>
        <p:nvSpPr>
          <p:cNvPr id="36" name="Text 34"/>
          <p:cNvSpPr/>
          <p:nvPr/>
        </p:nvSpPr>
        <p:spPr>
          <a:xfrm>
            <a:off x="8211312" y="3337560"/>
            <a:ext cx="3072384" cy="2231136"/>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Chooses whether to read sensors, check records, or ask for more information.</a:t>
            </a:r>
            <a:endParaRPr lang="en-US" sz="15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2205533"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2040941"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ENGINEERING ANALOGY</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Think: observe → decide → act → check</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A feedback-like loop, not a magical black box.</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09  /  32</a:t>
            </a:r>
            <a:endParaRPr lang="en-US" sz="900" dirty="0"/>
          </a:p>
        </p:txBody>
      </p:sp>
      <p:sp>
        <p:nvSpPr>
          <p:cNvPr id="19" name="Shape 17"/>
          <p:cNvSpPr/>
          <p:nvPr/>
        </p:nvSpPr>
        <p:spPr>
          <a:xfrm>
            <a:off x="603504" y="2560320"/>
            <a:ext cx="2496312" cy="2103120"/>
          </a:xfrm>
          <a:prstGeom prst="roundRect">
            <a:avLst>
              <a:gd name="adj" fmla="val 6522"/>
            </a:avLst>
          </a:prstGeom>
          <a:solidFill>
            <a:srgbClr val="2B6450"/>
          </a:solidFill>
          <a:ln w="12700">
            <a:solidFill>
              <a:srgbClr val="2B6450"/>
            </a:solidFill>
            <a:prstDash val="solid"/>
          </a:ln>
        </p:spPr>
        <p:txBody>
          <a:bodyPr/>
          <a:lstStyle/>
          <a:p>
            <a:endParaRPr/>
          </a:p>
        </p:txBody>
      </p:sp>
      <p:sp>
        <p:nvSpPr>
          <p:cNvPr id="20" name="Text 18"/>
          <p:cNvSpPr/>
          <p:nvPr/>
        </p:nvSpPr>
        <p:spPr>
          <a:xfrm>
            <a:off x="749808" y="2761488"/>
            <a:ext cx="530352" cy="347472"/>
          </a:xfrm>
          <a:prstGeom prst="rect">
            <a:avLst/>
          </a:prstGeom>
          <a:noFill/>
          <a:ln/>
        </p:spPr>
        <p:txBody>
          <a:bodyPr wrap="square" lIns="0" tIns="0" rIns="0" bIns="0" rtlCol="0" anchor="ctr">
            <a:normAutofit/>
          </a:bodyPr>
          <a:lstStyle/>
          <a:p>
            <a:pPr marL="0" indent="0" algn="l">
              <a:buNone/>
            </a:pPr>
            <a:r>
              <a:rPr lang="en-US" sz="1600" b="1" dirty="0">
                <a:solidFill>
                  <a:srgbClr val="D8E5E4"/>
                </a:solidFill>
                <a:latin typeface="Inter" pitchFamily="34" charset="0"/>
                <a:ea typeface="Inter" pitchFamily="34" charset="-122"/>
                <a:cs typeface="Inter" pitchFamily="34" charset="-120"/>
              </a:rPr>
              <a:t>01</a:t>
            </a:r>
            <a:endParaRPr lang="en-US" sz="1600" dirty="0"/>
          </a:p>
        </p:txBody>
      </p:sp>
      <p:sp>
        <p:nvSpPr>
          <p:cNvPr id="21" name="Text 19"/>
          <p:cNvSpPr/>
          <p:nvPr/>
        </p:nvSpPr>
        <p:spPr>
          <a:xfrm>
            <a:off x="749808" y="3246120"/>
            <a:ext cx="2194560" cy="466344"/>
          </a:xfrm>
          <a:prstGeom prst="rect">
            <a:avLst/>
          </a:prstGeom>
          <a:noFill/>
          <a:ln/>
        </p:spPr>
        <p:txBody>
          <a:bodyPr wrap="square" lIns="0" tIns="0" rIns="0" bIns="0" rtlCol="0" anchor="ctr">
            <a:normAutofit/>
          </a:bodyPr>
          <a:lstStyle/>
          <a:p>
            <a:pPr marL="0" indent="0" algn="l">
              <a:buNone/>
            </a:pPr>
            <a:r>
              <a:rPr lang="en-US" sz="2300" b="1" dirty="0">
                <a:solidFill>
                  <a:srgbClr val="FFFFFF"/>
                </a:solidFill>
                <a:latin typeface="Inter" pitchFamily="34" charset="0"/>
                <a:ea typeface="Inter" pitchFamily="34" charset="-122"/>
                <a:cs typeface="Inter" pitchFamily="34" charset="-120"/>
              </a:rPr>
              <a:t>OBSERVE</a:t>
            </a:r>
            <a:endParaRPr lang="en-US" sz="2300" dirty="0"/>
          </a:p>
        </p:txBody>
      </p:sp>
      <p:sp>
        <p:nvSpPr>
          <p:cNvPr id="22" name="Text 20"/>
          <p:cNvSpPr/>
          <p:nvPr/>
        </p:nvSpPr>
        <p:spPr>
          <a:xfrm>
            <a:off x="749808" y="3904488"/>
            <a:ext cx="2194560" cy="411480"/>
          </a:xfrm>
          <a:prstGeom prst="rect">
            <a:avLst/>
          </a:prstGeom>
          <a:noFill/>
          <a:ln/>
        </p:spPr>
        <p:txBody>
          <a:bodyPr wrap="square" lIns="0" tIns="0" rIns="0" bIns="0" rtlCol="0" anchor="ctr">
            <a:normAutofit/>
          </a:bodyPr>
          <a:lstStyle/>
          <a:p>
            <a:pPr marL="0" indent="0" algn="l">
              <a:buNone/>
            </a:pPr>
            <a:r>
              <a:rPr lang="en-US" sz="1400" dirty="0">
                <a:solidFill>
                  <a:srgbClr val="FFFFFF"/>
                </a:solidFill>
                <a:latin typeface="Inter" pitchFamily="34" charset="0"/>
                <a:ea typeface="Inter" pitchFamily="34" charset="-122"/>
                <a:cs typeface="Inter" pitchFamily="34" charset="-120"/>
              </a:rPr>
              <a:t>Read information</a:t>
            </a:r>
            <a:endParaRPr lang="en-US" sz="1400" dirty="0"/>
          </a:p>
        </p:txBody>
      </p:sp>
      <p:sp>
        <p:nvSpPr>
          <p:cNvPr id="23" name="Text 21"/>
          <p:cNvSpPr/>
          <p:nvPr/>
        </p:nvSpPr>
        <p:spPr>
          <a:xfrm>
            <a:off x="3172968" y="3310128"/>
            <a:ext cx="338328" cy="338328"/>
          </a:xfrm>
          <a:prstGeom prst="rect">
            <a:avLst/>
          </a:prstGeom>
          <a:noFill/>
          <a:ln/>
        </p:spPr>
        <p:txBody>
          <a:bodyPr wrap="square" lIns="0" tIns="0" rIns="0" bIns="0" rtlCol="0" anchor="ctr">
            <a:normAutofit lnSpcReduction="10000"/>
          </a:bodyPr>
          <a:lstStyle/>
          <a:p>
            <a:pPr marL="0" indent="0" algn="l">
              <a:buNone/>
            </a:pPr>
            <a:r>
              <a:rPr lang="en-US" sz="2300" b="1" dirty="0">
                <a:solidFill>
                  <a:srgbClr val="E04149"/>
                </a:solidFill>
                <a:latin typeface="Inter" pitchFamily="34" charset="0"/>
                <a:ea typeface="Inter" pitchFamily="34" charset="-122"/>
                <a:cs typeface="Inter" pitchFamily="34" charset="-120"/>
              </a:rPr>
              <a:t>→</a:t>
            </a:r>
            <a:endParaRPr lang="en-US" sz="2300" dirty="0"/>
          </a:p>
        </p:txBody>
      </p:sp>
      <p:sp>
        <p:nvSpPr>
          <p:cNvPr id="24" name="Shape 22"/>
          <p:cNvSpPr/>
          <p:nvPr/>
        </p:nvSpPr>
        <p:spPr>
          <a:xfrm>
            <a:off x="3529584" y="2560320"/>
            <a:ext cx="2496312" cy="2103120"/>
          </a:xfrm>
          <a:prstGeom prst="roundRect">
            <a:avLst>
              <a:gd name="adj" fmla="val 6522"/>
            </a:avLst>
          </a:prstGeom>
          <a:solidFill>
            <a:srgbClr val="1A243A"/>
          </a:solidFill>
          <a:ln w="12700">
            <a:solidFill>
              <a:srgbClr val="1A243A"/>
            </a:solidFill>
            <a:prstDash val="solid"/>
          </a:ln>
        </p:spPr>
        <p:txBody>
          <a:bodyPr/>
          <a:lstStyle/>
          <a:p>
            <a:endParaRPr/>
          </a:p>
        </p:txBody>
      </p:sp>
      <p:sp>
        <p:nvSpPr>
          <p:cNvPr id="25" name="Text 23"/>
          <p:cNvSpPr/>
          <p:nvPr/>
        </p:nvSpPr>
        <p:spPr>
          <a:xfrm>
            <a:off x="3675888" y="2761488"/>
            <a:ext cx="530352" cy="347472"/>
          </a:xfrm>
          <a:prstGeom prst="rect">
            <a:avLst/>
          </a:prstGeom>
          <a:noFill/>
          <a:ln/>
        </p:spPr>
        <p:txBody>
          <a:bodyPr wrap="square" lIns="0" tIns="0" rIns="0" bIns="0" rtlCol="0" anchor="ctr">
            <a:normAutofit/>
          </a:bodyPr>
          <a:lstStyle/>
          <a:p>
            <a:pPr marL="0" indent="0" algn="l">
              <a:buNone/>
            </a:pPr>
            <a:r>
              <a:rPr lang="en-US" sz="1600" b="1" dirty="0">
                <a:solidFill>
                  <a:srgbClr val="D8E5E4"/>
                </a:solidFill>
                <a:latin typeface="Inter" pitchFamily="34" charset="0"/>
                <a:ea typeface="Inter" pitchFamily="34" charset="-122"/>
                <a:cs typeface="Inter" pitchFamily="34" charset="-120"/>
              </a:rPr>
              <a:t>02</a:t>
            </a:r>
            <a:endParaRPr lang="en-US" sz="1600" dirty="0"/>
          </a:p>
        </p:txBody>
      </p:sp>
      <p:sp>
        <p:nvSpPr>
          <p:cNvPr id="26" name="Text 24"/>
          <p:cNvSpPr/>
          <p:nvPr/>
        </p:nvSpPr>
        <p:spPr>
          <a:xfrm>
            <a:off x="3675888" y="3246120"/>
            <a:ext cx="2194560" cy="466344"/>
          </a:xfrm>
          <a:prstGeom prst="rect">
            <a:avLst/>
          </a:prstGeom>
          <a:noFill/>
          <a:ln/>
        </p:spPr>
        <p:txBody>
          <a:bodyPr wrap="square" lIns="0" tIns="0" rIns="0" bIns="0" rtlCol="0" anchor="ctr">
            <a:normAutofit/>
          </a:bodyPr>
          <a:lstStyle/>
          <a:p>
            <a:pPr marL="0" indent="0" algn="l">
              <a:buNone/>
            </a:pPr>
            <a:r>
              <a:rPr lang="en-US" sz="2300" b="1" dirty="0">
                <a:solidFill>
                  <a:srgbClr val="FFFFFF"/>
                </a:solidFill>
                <a:latin typeface="Inter" pitchFamily="34" charset="0"/>
                <a:ea typeface="Inter" pitchFamily="34" charset="-122"/>
                <a:cs typeface="Inter" pitchFamily="34" charset="-120"/>
              </a:rPr>
              <a:t>DECIDE</a:t>
            </a:r>
            <a:endParaRPr lang="en-US" sz="2300" dirty="0"/>
          </a:p>
        </p:txBody>
      </p:sp>
      <p:sp>
        <p:nvSpPr>
          <p:cNvPr id="27" name="Text 25"/>
          <p:cNvSpPr/>
          <p:nvPr/>
        </p:nvSpPr>
        <p:spPr>
          <a:xfrm>
            <a:off x="3675888" y="3904488"/>
            <a:ext cx="2194560" cy="411480"/>
          </a:xfrm>
          <a:prstGeom prst="rect">
            <a:avLst/>
          </a:prstGeom>
          <a:noFill/>
          <a:ln/>
        </p:spPr>
        <p:txBody>
          <a:bodyPr wrap="square" lIns="0" tIns="0" rIns="0" bIns="0" rtlCol="0" anchor="ctr">
            <a:normAutofit/>
          </a:bodyPr>
          <a:lstStyle/>
          <a:p>
            <a:pPr marL="0" indent="0" algn="l">
              <a:buNone/>
            </a:pPr>
            <a:r>
              <a:rPr lang="en-US" sz="1400" dirty="0">
                <a:solidFill>
                  <a:srgbClr val="FFFFFF"/>
                </a:solidFill>
                <a:latin typeface="Inter" pitchFamily="34" charset="0"/>
                <a:ea typeface="Inter" pitchFamily="34" charset="-122"/>
                <a:cs typeface="Inter" pitchFamily="34" charset="-120"/>
              </a:rPr>
              <a:t>Select next step</a:t>
            </a:r>
            <a:endParaRPr lang="en-US" sz="1400" dirty="0"/>
          </a:p>
        </p:txBody>
      </p:sp>
      <p:sp>
        <p:nvSpPr>
          <p:cNvPr id="28" name="Text 26"/>
          <p:cNvSpPr/>
          <p:nvPr/>
        </p:nvSpPr>
        <p:spPr>
          <a:xfrm>
            <a:off x="6099048" y="3310128"/>
            <a:ext cx="338328" cy="338328"/>
          </a:xfrm>
          <a:prstGeom prst="rect">
            <a:avLst/>
          </a:prstGeom>
          <a:noFill/>
          <a:ln/>
        </p:spPr>
        <p:txBody>
          <a:bodyPr wrap="square" lIns="0" tIns="0" rIns="0" bIns="0" rtlCol="0" anchor="ctr">
            <a:normAutofit lnSpcReduction="10000"/>
          </a:bodyPr>
          <a:lstStyle/>
          <a:p>
            <a:pPr marL="0" indent="0" algn="l">
              <a:buNone/>
            </a:pPr>
            <a:r>
              <a:rPr lang="en-US" sz="2300" b="1" dirty="0">
                <a:solidFill>
                  <a:srgbClr val="E04149"/>
                </a:solidFill>
                <a:latin typeface="Inter" pitchFamily="34" charset="0"/>
                <a:ea typeface="Inter" pitchFamily="34" charset="-122"/>
                <a:cs typeface="Inter" pitchFamily="34" charset="-120"/>
              </a:rPr>
              <a:t>→</a:t>
            </a:r>
            <a:endParaRPr lang="en-US" sz="2300" dirty="0"/>
          </a:p>
        </p:txBody>
      </p:sp>
      <p:sp>
        <p:nvSpPr>
          <p:cNvPr id="29" name="Shape 27"/>
          <p:cNvSpPr/>
          <p:nvPr/>
        </p:nvSpPr>
        <p:spPr>
          <a:xfrm>
            <a:off x="6455664" y="2560320"/>
            <a:ext cx="2496312" cy="2103120"/>
          </a:xfrm>
          <a:prstGeom prst="roundRect">
            <a:avLst>
              <a:gd name="adj" fmla="val 6522"/>
            </a:avLst>
          </a:prstGeom>
          <a:solidFill>
            <a:srgbClr val="E04149"/>
          </a:solidFill>
          <a:ln w="12700">
            <a:solidFill>
              <a:srgbClr val="E04149"/>
            </a:solidFill>
            <a:prstDash val="solid"/>
          </a:ln>
        </p:spPr>
        <p:txBody>
          <a:bodyPr/>
          <a:lstStyle/>
          <a:p>
            <a:endParaRPr/>
          </a:p>
        </p:txBody>
      </p:sp>
      <p:sp>
        <p:nvSpPr>
          <p:cNvPr id="30" name="Text 28"/>
          <p:cNvSpPr/>
          <p:nvPr/>
        </p:nvSpPr>
        <p:spPr>
          <a:xfrm>
            <a:off x="6601968" y="2761488"/>
            <a:ext cx="530352" cy="347472"/>
          </a:xfrm>
          <a:prstGeom prst="rect">
            <a:avLst/>
          </a:prstGeom>
          <a:noFill/>
          <a:ln/>
        </p:spPr>
        <p:txBody>
          <a:bodyPr wrap="square" lIns="0" tIns="0" rIns="0" bIns="0" rtlCol="0" anchor="ctr">
            <a:normAutofit/>
          </a:bodyPr>
          <a:lstStyle/>
          <a:p>
            <a:pPr marL="0" indent="0" algn="l">
              <a:buNone/>
            </a:pPr>
            <a:r>
              <a:rPr lang="en-US" sz="1600" b="1" dirty="0">
                <a:solidFill>
                  <a:srgbClr val="D8E5E4"/>
                </a:solidFill>
                <a:latin typeface="Inter" pitchFamily="34" charset="0"/>
                <a:ea typeface="Inter" pitchFamily="34" charset="-122"/>
                <a:cs typeface="Inter" pitchFamily="34" charset="-120"/>
              </a:rPr>
              <a:t>03</a:t>
            </a:r>
            <a:endParaRPr lang="en-US" sz="1600" dirty="0"/>
          </a:p>
        </p:txBody>
      </p:sp>
      <p:sp>
        <p:nvSpPr>
          <p:cNvPr id="31" name="Text 29"/>
          <p:cNvSpPr/>
          <p:nvPr/>
        </p:nvSpPr>
        <p:spPr>
          <a:xfrm>
            <a:off x="6601968" y="3246120"/>
            <a:ext cx="2194560" cy="466344"/>
          </a:xfrm>
          <a:prstGeom prst="rect">
            <a:avLst/>
          </a:prstGeom>
          <a:noFill/>
          <a:ln/>
        </p:spPr>
        <p:txBody>
          <a:bodyPr wrap="square" lIns="0" tIns="0" rIns="0" bIns="0" rtlCol="0" anchor="ctr">
            <a:normAutofit/>
          </a:bodyPr>
          <a:lstStyle/>
          <a:p>
            <a:pPr marL="0" indent="0" algn="l">
              <a:buNone/>
            </a:pPr>
            <a:r>
              <a:rPr lang="en-US" sz="2300" b="1" dirty="0">
                <a:solidFill>
                  <a:srgbClr val="FFFFFF"/>
                </a:solidFill>
                <a:latin typeface="Inter" pitchFamily="34" charset="0"/>
                <a:ea typeface="Inter" pitchFamily="34" charset="-122"/>
                <a:cs typeface="Inter" pitchFamily="34" charset="-120"/>
              </a:rPr>
              <a:t>ACT</a:t>
            </a:r>
            <a:endParaRPr lang="en-US" sz="2300" dirty="0"/>
          </a:p>
        </p:txBody>
      </p:sp>
      <p:sp>
        <p:nvSpPr>
          <p:cNvPr id="32" name="Text 30"/>
          <p:cNvSpPr/>
          <p:nvPr/>
        </p:nvSpPr>
        <p:spPr>
          <a:xfrm>
            <a:off x="6601968" y="3904488"/>
            <a:ext cx="2194560" cy="411480"/>
          </a:xfrm>
          <a:prstGeom prst="rect">
            <a:avLst/>
          </a:prstGeom>
          <a:noFill/>
          <a:ln/>
        </p:spPr>
        <p:txBody>
          <a:bodyPr wrap="square" lIns="0" tIns="0" rIns="0" bIns="0" rtlCol="0" anchor="ctr">
            <a:normAutofit/>
          </a:bodyPr>
          <a:lstStyle/>
          <a:p>
            <a:pPr marL="0" indent="0" algn="l">
              <a:buNone/>
            </a:pPr>
            <a:r>
              <a:rPr lang="en-US" sz="1400" dirty="0">
                <a:solidFill>
                  <a:srgbClr val="FFFFFF"/>
                </a:solidFill>
                <a:latin typeface="Inter" pitchFamily="34" charset="0"/>
                <a:ea typeface="Inter" pitchFamily="34" charset="-122"/>
                <a:cs typeface="Inter" pitchFamily="34" charset="-120"/>
              </a:rPr>
              <a:t>Use an allowed tool</a:t>
            </a:r>
            <a:endParaRPr lang="en-US" sz="1400" dirty="0"/>
          </a:p>
        </p:txBody>
      </p:sp>
      <p:sp>
        <p:nvSpPr>
          <p:cNvPr id="33" name="Text 31"/>
          <p:cNvSpPr/>
          <p:nvPr/>
        </p:nvSpPr>
        <p:spPr>
          <a:xfrm>
            <a:off x="9025128" y="3310128"/>
            <a:ext cx="338328" cy="338328"/>
          </a:xfrm>
          <a:prstGeom prst="rect">
            <a:avLst/>
          </a:prstGeom>
          <a:noFill/>
          <a:ln/>
        </p:spPr>
        <p:txBody>
          <a:bodyPr wrap="square" lIns="0" tIns="0" rIns="0" bIns="0" rtlCol="0" anchor="ctr">
            <a:normAutofit lnSpcReduction="10000"/>
          </a:bodyPr>
          <a:lstStyle/>
          <a:p>
            <a:pPr marL="0" indent="0" algn="l">
              <a:buNone/>
            </a:pPr>
            <a:r>
              <a:rPr lang="en-US" sz="2300" b="1" dirty="0">
                <a:solidFill>
                  <a:srgbClr val="E04149"/>
                </a:solidFill>
                <a:latin typeface="Inter" pitchFamily="34" charset="0"/>
                <a:ea typeface="Inter" pitchFamily="34" charset="-122"/>
                <a:cs typeface="Inter" pitchFamily="34" charset="-120"/>
              </a:rPr>
              <a:t>→</a:t>
            </a:r>
            <a:endParaRPr lang="en-US" sz="2300" dirty="0"/>
          </a:p>
        </p:txBody>
      </p:sp>
      <p:sp>
        <p:nvSpPr>
          <p:cNvPr id="34" name="Shape 32"/>
          <p:cNvSpPr/>
          <p:nvPr/>
        </p:nvSpPr>
        <p:spPr>
          <a:xfrm>
            <a:off x="9381744" y="2560320"/>
            <a:ext cx="2496312" cy="2103120"/>
          </a:xfrm>
          <a:prstGeom prst="roundRect">
            <a:avLst>
              <a:gd name="adj" fmla="val 6522"/>
            </a:avLst>
          </a:prstGeom>
          <a:solidFill>
            <a:srgbClr val="2B6450"/>
          </a:solidFill>
          <a:ln w="12700">
            <a:solidFill>
              <a:srgbClr val="2B6450"/>
            </a:solidFill>
            <a:prstDash val="solid"/>
          </a:ln>
        </p:spPr>
        <p:txBody>
          <a:bodyPr/>
          <a:lstStyle/>
          <a:p>
            <a:endParaRPr/>
          </a:p>
        </p:txBody>
      </p:sp>
      <p:sp>
        <p:nvSpPr>
          <p:cNvPr id="35" name="Text 33"/>
          <p:cNvSpPr/>
          <p:nvPr/>
        </p:nvSpPr>
        <p:spPr>
          <a:xfrm>
            <a:off x="9528048" y="2761488"/>
            <a:ext cx="530352" cy="347472"/>
          </a:xfrm>
          <a:prstGeom prst="rect">
            <a:avLst/>
          </a:prstGeom>
          <a:noFill/>
          <a:ln/>
        </p:spPr>
        <p:txBody>
          <a:bodyPr wrap="square" lIns="0" tIns="0" rIns="0" bIns="0" rtlCol="0" anchor="ctr">
            <a:normAutofit/>
          </a:bodyPr>
          <a:lstStyle/>
          <a:p>
            <a:pPr marL="0" indent="0" algn="l">
              <a:buNone/>
            </a:pPr>
            <a:r>
              <a:rPr lang="en-US" sz="1600" b="1" dirty="0">
                <a:solidFill>
                  <a:srgbClr val="D8E5E4"/>
                </a:solidFill>
                <a:latin typeface="Inter" pitchFamily="34" charset="0"/>
                <a:ea typeface="Inter" pitchFamily="34" charset="-122"/>
                <a:cs typeface="Inter" pitchFamily="34" charset="-120"/>
              </a:rPr>
              <a:t>04</a:t>
            </a:r>
            <a:endParaRPr lang="en-US" sz="1600" dirty="0"/>
          </a:p>
        </p:txBody>
      </p:sp>
      <p:sp>
        <p:nvSpPr>
          <p:cNvPr id="36" name="Text 34"/>
          <p:cNvSpPr/>
          <p:nvPr/>
        </p:nvSpPr>
        <p:spPr>
          <a:xfrm>
            <a:off x="9528048" y="3246120"/>
            <a:ext cx="2194560" cy="466344"/>
          </a:xfrm>
          <a:prstGeom prst="rect">
            <a:avLst/>
          </a:prstGeom>
          <a:noFill/>
          <a:ln/>
        </p:spPr>
        <p:txBody>
          <a:bodyPr wrap="square" lIns="0" tIns="0" rIns="0" bIns="0" rtlCol="0" anchor="ctr">
            <a:normAutofit/>
          </a:bodyPr>
          <a:lstStyle/>
          <a:p>
            <a:pPr marL="0" indent="0" algn="l">
              <a:buNone/>
            </a:pPr>
            <a:r>
              <a:rPr lang="en-US" sz="2300" b="1" dirty="0">
                <a:solidFill>
                  <a:srgbClr val="FFFFFF"/>
                </a:solidFill>
                <a:latin typeface="Inter" pitchFamily="34" charset="0"/>
                <a:ea typeface="Inter" pitchFamily="34" charset="-122"/>
                <a:cs typeface="Inter" pitchFamily="34" charset="-120"/>
              </a:rPr>
              <a:t>CHECK</a:t>
            </a:r>
            <a:endParaRPr lang="en-US" sz="2300" dirty="0"/>
          </a:p>
        </p:txBody>
      </p:sp>
      <p:sp>
        <p:nvSpPr>
          <p:cNvPr id="37" name="Text 35"/>
          <p:cNvSpPr/>
          <p:nvPr/>
        </p:nvSpPr>
        <p:spPr>
          <a:xfrm>
            <a:off x="9528048" y="3904488"/>
            <a:ext cx="2194560" cy="411480"/>
          </a:xfrm>
          <a:prstGeom prst="rect">
            <a:avLst/>
          </a:prstGeom>
          <a:noFill/>
          <a:ln/>
        </p:spPr>
        <p:txBody>
          <a:bodyPr wrap="square" lIns="0" tIns="0" rIns="0" bIns="0" rtlCol="0" anchor="ctr">
            <a:normAutofit/>
          </a:bodyPr>
          <a:lstStyle/>
          <a:p>
            <a:pPr marL="0" indent="0" algn="l">
              <a:buNone/>
            </a:pPr>
            <a:r>
              <a:rPr lang="en-US" sz="1400" dirty="0">
                <a:solidFill>
                  <a:srgbClr val="FFFFFF"/>
                </a:solidFill>
                <a:latin typeface="Inter" pitchFamily="34" charset="0"/>
                <a:ea typeface="Inter" pitchFamily="34" charset="-122"/>
                <a:cs typeface="Inter" pitchFamily="34" charset="-120"/>
              </a:rPr>
              <a:t>Inspect result</a:t>
            </a:r>
            <a:endParaRPr lang="en-US" sz="1400" dirty="0"/>
          </a:p>
        </p:txBody>
      </p:sp>
      <p:sp>
        <p:nvSpPr>
          <p:cNvPr id="38" name="Shape 36"/>
          <p:cNvSpPr/>
          <p:nvPr/>
        </p:nvSpPr>
        <p:spPr>
          <a:xfrm>
            <a:off x="1060704" y="5010912"/>
            <a:ext cx="10131552" cy="868680"/>
          </a:xfrm>
          <a:prstGeom prst="roundRect">
            <a:avLst>
              <a:gd name="adj" fmla="val 15789"/>
            </a:avLst>
          </a:prstGeom>
          <a:solidFill>
            <a:srgbClr val="1A243A"/>
          </a:solidFill>
          <a:ln w="12700">
            <a:solidFill>
              <a:srgbClr val="1A243A"/>
            </a:solidFill>
            <a:prstDash val="solid"/>
          </a:ln>
        </p:spPr>
        <p:txBody>
          <a:bodyPr/>
          <a:lstStyle/>
          <a:p>
            <a:endParaRPr/>
          </a:p>
        </p:txBody>
      </p:sp>
      <p:sp>
        <p:nvSpPr>
          <p:cNvPr id="39" name="Text 37"/>
          <p:cNvSpPr/>
          <p:nvPr/>
        </p:nvSpPr>
        <p:spPr>
          <a:xfrm>
            <a:off x="1271016" y="5157216"/>
            <a:ext cx="9720072" cy="320040"/>
          </a:xfrm>
          <a:prstGeom prst="rect">
            <a:avLst/>
          </a:prstGeom>
          <a:noFill/>
          <a:ln/>
        </p:spPr>
        <p:txBody>
          <a:bodyPr wrap="square" lIns="0" tIns="0" rIns="0" bIns="0" rtlCol="0" anchor="ctr">
            <a:normAutofit/>
          </a:bodyPr>
          <a:lstStyle/>
          <a:p>
            <a:pPr marL="0" indent="0" algn="l">
              <a:buNone/>
            </a:pPr>
            <a:r>
              <a:rPr lang="en-US" sz="1500" b="1" dirty="0">
                <a:solidFill>
                  <a:srgbClr val="FFFFFF"/>
                </a:solidFill>
                <a:latin typeface="Inter" pitchFamily="34" charset="0"/>
                <a:ea typeface="Inter" pitchFamily="34" charset="-122"/>
                <a:cs typeface="Inter" pitchFamily="34" charset="-120"/>
              </a:rPr>
              <a:t>ENGINEER’S CAUTION</a:t>
            </a:r>
            <a:endParaRPr lang="en-US" sz="1500" dirty="0"/>
          </a:p>
        </p:txBody>
      </p:sp>
      <p:sp>
        <p:nvSpPr>
          <p:cNvPr id="40" name="Text 38"/>
          <p:cNvSpPr/>
          <p:nvPr/>
        </p:nvSpPr>
        <p:spPr>
          <a:xfrm>
            <a:off x="1271016" y="5550408"/>
            <a:ext cx="9720072" cy="182880"/>
          </a:xfrm>
          <a:prstGeom prst="rect">
            <a:avLst/>
          </a:prstGeom>
          <a:noFill/>
          <a:ln/>
        </p:spPr>
        <p:txBody>
          <a:bodyPr wrap="square" lIns="0" tIns="0" rIns="0" bIns="0" rtlCol="0" anchor="t">
            <a:normAutofit fontScale="92500" lnSpcReduction="10000"/>
          </a:bodyPr>
          <a:lstStyle/>
          <a:p>
            <a:pPr marL="0" indent="0" algn="l">
              <a:buNone/>
            </a:pPr>
            <a:r>
              <a:rPr lang="en-US" sz="1400" dirty="0">
                <a:solidFill>
                  <a:srgbClr val="E1EAF0"/>
                </a:solidFill>
                <a:latin typeface="Inter" pitchFamily="34" charset="0"/>
                <a:ea typeface="Inter" pitchFamily="34" charset="-122"/>
                <a:cs typeface="Inter" pitchFamily="34" charset="-120"/>
              </a:rPr>
              <a:t>LLM agents are not deterministic industrial controllers. Keep safety-critical control separate.</a:t>
            </a:r>
            <a:endParaRPr lang="en-US" sz="1400" dirty="0"/>
          </a:p>
        </p:txBody>
      </p:sp>
    </p:spTree>
  </p:cSld>
  <p:clrMapOvr>
    <a:masterClrMapping/>
  </p:clrMapOvr>
  <p:transition spd="med">
    <p:push dir="r"/>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2205533"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2040941"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SYSTEM ARCHITECTURE</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Five ingredients of a practical agent</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The model is only one piece.</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10  /  32</a:t>
            </a:r>
            <a:endParaRPr lang="en-US" sz="900" dirty="0"/>
          </a:p>
        </p:txBody>
      </p:sp>
      <p:sp>
        <p:nvSpPr>
          <p:cNvPr id="19" name="Shape 17"/>
          <p:cNvSpPr/>
          <p:nvPr/>
        </p:nvSpPr>
        <p:spPr>
          <a:xfrm>
            <a:off x="603504" y="2615184"/>
            <a:ext cx="2185416" cy="2212848"/>
          </a:xfrm>
          <a:prstGeom prst="roundRect">
            <a:avLst>
              <a:gd name="adj" fmla="val 6276"/>
            </a:avLst>
          </a:prstGeom>
          <a:solidFill>
            <a:srgbClr val="FFFFFF"/>
          </a:solidFill>
          <a:ln w="12700">
            <a:solidFill>
              <a:srgbClr val="DDE5E1"/>
            </a:solidFill>
            <a:prstDash val="solid"/>
          </a:ln>
        </p:spPr>
        <p:txBody>
          <a:bodyPr/>
          <a:lstStyle/>
          <a:p>
            <a:endParaRPr/>
          </a:p>
        </p:txBody>
      </p:sp>
      <p:sp>
        <p:nvSpPr>
          <p:cNvPr id="20" name="Shape 18"/>
          <p:cNvSpPr/>
          <p:nvPr/>
        </p:nvSpPr>
        <p:spPr>
          <a:xfrm>
            <a:off x="777240" y="2834640"/>
            <a:ext cx="384048" cy="320040"/>
          </a:xfrm>
          <a:prstGeom prst="roundRect">
            <a:avLst>
              <a:gd name="adj" fmla="val 42857"/>
            </a:avLst>
          </a:prstGeom>
          <a:solidFill>
            <a:srgbClr val="1A243A"/>
          </a:solidFill>
          <a:ln w="12700">
            <a:solidFill>
              <a:srgbClr val="1A243A"/>
            </a:solidFill>
            <a:prstDash val="solid"/>
          </a:ln>
        </p:spPr>
        <p:txBody>
          <a:bodyPr/>
          <a:lstStyle/>
          <a:p>
            <a:endParaRPr/>
          </a:p>
        </p:txBody>
      </p:sp>
      <p:sp>
        <p:nvSpPr>
          <p:cNvPr id="21" name="Text 19"/>
          <p:cNvSpPr/>
          <p:nvPr/>
        </p:nvSpPr>
        <p:spPr>
          <a:xfrm>
            <a:off x="859536" y="2857500"/>
            <a:ext cx="219456"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1</a:t>
            </a:r>
            <a:endParaRPr lang="en-US" sz="1000" dirty="0"/>
          </a:p>
        </p:txBody>
      </p:sp>
      <p:sp>
        <p:nvSpPr>
          <p:cNvPr id="22" name="Text 20"/>
          <p:cNvSpPr/>
          <p:nvPr/>
        </p:nvSpPr>
        <p:spPr>
          <a:xfrm>
            <a:off x="768096" y="3447288"/>
            <a:ext cx="1874520" cy="320040"/>
          </a:xfrm>
          <a:prstGeom prst="rect">
            <a:avLst/>
          </a:prstGeom>
          <a:noFill/>
          <a:ln/>
        </p:spPr>
        <p:txBody>
          <a:bodyPr wrap="square" lIns="0" tIns="0" rIns="0" bIns="0" rtlCol="0" anchor="ctr">
            <a:normAutofit/>
          </a:bodyPr>
          <a:lstStyle/>
          <a:p>
            <a:pPr marL="0" indent="0" algn="l">
              <a:buNone/>
            </a:pPr>
            <a:r>
              <a:rPr lang="en-US" sz="1600" b="1" dirty="0">
                <a:solidFill>
                  <a:srgbClr val="1A243A"/>
                </a:solidFill>
                <a:latin typeface="Inter" pitchFamily="34" charset="0"/>
                <a:ea typeface="Inter" pitchFamily="34" charset="-122"/>
                <a:cs typeface="Inter" pitchFamily="34" charset="-120"/>
              </a:rPr>
              <a:t>LLM</a:t>
            </a:r>
            <a:endParaRPr lang="en-US" sz="1600" dirty="0"/>
          </a:p>
        </p:txBody>
      </p:sp>
      <p:sp>
        <p:nvSpPr>
          <p:cNvPr id="23" name="Text 21"/>
          <p:cNvSpPr/>
          <p:nvPr/>
        </p:nvSpPr>
        <p:spPr>
          <a:xfrm>
            <a:off x="768096" y="4005072"/>
            <a:ext cx="1874520" cy="448056"/>
          </a:xfrm>
          <a:prstGeom prst="rect">
            <a:avLst/>
          </a:prstGeom>
          <a:noFill/>
          <a:ln/>
        </p:spPr>
        <p:txBody>
          <a:bodyPr wrap="square" lIns="0" tIns="0" rIns="0" bIns="0" rtlCol="0" anchor="ctr">
            <a:normAutofit/>
          </a:bodyPr>
          <a:lstStyle/>
          <a:p>
            <a:pPr marL="0" indent="0" algn="l">
              <a:buNone/>
            </a:pPr>
            <a:r>
              <a:rPr lang="en-US" sz="1300" dirty="0">
                <a:solidFill>
                  <a:srgbClr val="63717D"/>
                </a:solidFill>
                <a:latin typeface="Inter" pitchFamily="34" charset="0"/>
                <a:ea typeface="Inter" pitchFamily="34" charset="-122"/>
                <a:cs typeface="Inter" pitchFamily="34" charset="-120"/>
              </a:rPr>
              <a:t>Interprets task</a:t>
            </a:r>
            <a:endParaRPr lang="en-US" sz="1300" dirty="0"/>
          </a:p>
        </p:txBody>
      </p:sp>
      <p:sp>
        <p:nvSpPr>
          <p:cNvPr id="24" name="Shape 22"/>
          <p:cNvSpPr/>
          <p:nvPr/>
        </p:nvSpPr>
        <p:spPr>
          <a:xfrm>
            <a:off x="2926080" y="2615184"/>
            <a:ext cx="2185416" cy="2212848"/>
          </a:xfrm>
          <a:prstGeom prst="roundRect">
            <a:avLst>
              <a:gd name="adj" fmla="val 6276"/>
            </a:avLst>
          </a:prstGeom>
          <a:solidFill>
            <a:srgbClr val="FFFFFF"/>
          </a:solidFill>
          <a:ln w="12700">
            <a:solidFill>
              <a:srgbClr val="DDE5E1"/>
            </a:solidFill>
            <a:prstDash val="solid"/>
          </a:ln>
        </p:spPr>
        <p:txBody>
          <a:bodyPr/>
          <a:lstStyle/>
          <a:p>
            <a:endParaRPr/>
          </a:p>
        </p:txBody>
      </p:sp>
      <p:sp>
        <p:nvSpPr>
          <p:cNvPr id="25" name="Shape 23"/>
          <p:cNvSpPr/>
          <p:nvPr/>
        </p:nvSpPr>
        <p:spPr>
          <a:xfrm>
            <a:off x="3099816" y="2834640"/>
            <a:ext cx="384048" cy="320040"/>
          </a:xfrm>
          <a:prstGeom prst="roundRect">
            <a:avLst>
              <a:gd name="adj" fmla="val 42857"/>
            </a:avLst>
          </a:prstGeom>
          <a:solidFill>
            <a:srgbClr val="2B6450"/>
          </a:solidFill>
          <a:ln w="12700">
            <a:solidFill>
              <a:srgbClr val="2B6450"/>
            </a:solidFill>
            <a:prstDash val="solid"/>
          </a:ln>
        </p:spPr>
        <p:txBody>
          <a:bodyPr/>
          <a:lstStyle/>
          <a:p>
            <a:endParaRPr/>
          </a:p>
        </p:txBody>
      </p:sp>
      <p:sp>
        <p:nvSpPr>
          <p:cNvPr id="26" name="Text 24"/>
          <p:cNvSpPr/>
          <p:nvPr/>
        </p:nvSpPr>
        <p:spPr>
          <a:xfrm>
            <a:off x="3182112" y="2857500"/>
            <a:ext cx="219456"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2</a:t>
            </a:r>
            <a:endParaRPr lang="en-US" sz="1000" dirty="0"/>
          </a:p>
        </p:txBody>
      </p:sp>
      <p:sp>
        <p:nvSpPr>
          <p:cNvPr id="27" name="Text 25"/>
          <p:cNvSpPr/>
          <p:nvPr/>
        </p:nvSpPr>
        <p:spPr>
          <a:xfrm>
            <a:off x="3090672" y="3447288"/>
            <a:ext cx="1874520" cy="320040"/>
          </a:xfrm>
          <a:prstGeom prst="rect">
            <a:avLst/>
          </a:prstGeom>
          <a:noFill/>
          <a:ln/>
        </p:spPr>
        <p:txBody>
          <a:bodyPr wrap="square" lIns="0" tIns="0" rIns="0" bIns="0" rtlCol="0" anchor="ctr">
            <a:normAutofit/>
          </a:bodyPr>
          <a:lstStyle/>
          <a:p>
            <a:pPr marL="0" indent="0" algn="l">
              <a:buNone/>
            </a:pPr>
            <a:r>
              <a:rPr lang="en-US" sz="1600" b="1" dirty="0">
                <a:solidFill>
                  <a:srgbClr val="1A243A"/>
                </a:solidFill>
                <a:latin typeface="Inter" pitchFamily="34" charset="0"/>
                <a:ea typeface="Inter" pitchFamily="34" charset="-122"/>
                <a:cs typeface="Inter" pitchFamily="34" charset="-120"/>
              </a:rPr>
              <a:t>TOOLS</a:t>
            </a:r>
            <a:endParaRPr lang="en-US" sz="1600" dirty="0"/>
          </a:p>
        </p:txBody>
      </p:sp>
      <p:sp>
        <p:nvSpPr>
          <p:cNvPr id="28" name="Text 26"/>
          <p:cNvSpPr/>
          <p:nvPr/>
        </p:nvSpPr>
        <p:spPr>
          <a:xfrm>
            <a:off x="3090672" y="4005072"/>
            <a:ext cx="1874520" cy="448056"/>
          </a:xfrm>
          <a:prstGeom prst="rect">
            <a:avLst/>
          </a:prstGeom>
          <a:noFill/>
          <a:ln/>
        </p:spPr>
        <p:txBody>
          <a:bodyPr wrap="square" lIns="0" tIns="0" rIns="0" bIns="0" rtlCol="0" anchor="ctr">
            <a:normAutofit/>
          </a:bodyPr>
          <a:lstStyle/>
          <a:p>
            <a:pPr marL="0" indent="0" algn="l">
              <a:buNone/>
            </a:pPr>
            <a:r>
              <a:rPr lang="en-US" sz="1300" dirty="0">
                <a:solidFill>
                  <a:srgbClr val="63717D"/>
                </a:solidFill>
                <a:latin typeface="Inter" pitchFamily="34" charset="0"/>
                <a:ea typeface="Inter" pitchFamily="34" charset="-122"/>
                <a:cs typeface="Inter" pitchFamily="34" charset="-120"/>
              </a:rPr>
              <a:t>Interact with data</a:t>
            </a:r>
            <a:endParaRPr lang="en-US" sz="1300" dirty="0"/>
          </a:p>
        </p:txBody>
      </p:sp>
      <p:sp>
        <p:nvSpPr>
          <p:cNvPr id="29" name="Shape 27"/>
          <p:cNvSpPr/>
          <p:nvPr/>
        </p:nvSpPr>
        <p:spPr>
          <a:xfrm>
            <a:off x="5248656" y="2615184"/>
            <a:ext cx="2185416" cy="2212848"/>
          </a:xfrm>
          <a:prstGeom prst="roundRect">
            <a:avLst>
              <a:gd name="adj" fmla="val 6276"/>
            </a:avLst>
          </a:prstGeom>
          <a:solidFill>
            <a:srgbClr val="FFFFFF"/>
          </a:solidFill>
          <a:ln w="12700">
            <a:solidFill>
              <a:srgbClr val="DDE5E1"/>
            </a:solidFill>
            <a:prstDash val="solid"/>
          </a:ln>
        </p:spPr>
        <p:txBody>
          <a:bodyPr/>
          <a:lstStyle/>
          <a:p>
            <a:endParaRPr/>
          </a:p>
        </p:txBody>
      </p:sp>
      <p:sp>
        <p:nvSpPr>
          <p:cNvPr id="30" name="Shape 28"/>
          <p:cNvSpPr/>
          <p:nvPr/>
        </p:nvSpPr>
        <p:spPr>
          <a:xfrm>
            <a:off x="5422392" y="2834640"/>
            <a:ext cx="384048" cy="320040"/>
          </a:xfrm>
          <a:prstGeom prst="roundRect">
            <a:avLst>
              <a:gd name="adj" fmla="val 42857"/>
            </a:avLst>
          </a:prstGeom>
          <a:solidFill>
            <a:srgbClr val="E04149"/>
          </a:solidFill>
          <a:ln w="12700">
            <a:solidFill>
              <a:srgbClr val="E04149"/>
            </a:solidFill>
            <a:prstDash val="solid"/>
          </a:ln>
        </p:spPr>
        <p:txBody>
          <a:bodyPr/>
          <a:lstStyle/>
          <a:p>
            <a:endParaRPr/>
          </a:p>
        </p:txBody>
      </p:sp>
      <p:sp>
        <p:nvSpPr>
          <p:cNvPr id="31" name="Text 29"/>
          <p:cNvSpPr/>
          <p:nvPr/>
        </p:nvSpPr>
        <p:spPr>
          <a:xfrm>
            <a:off x="5504688" y="2857500"/>
            <a:ext cx="219456"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3</a:t>
            </a:r>
            <a:endParaRPr lang="en-US" sz="1000" dirty="0"/>
          </a:p>
        </p:txBody>
      </p:sp>
      <p:sp>
        <p:nvSpPr>
          <p:cNvPr id="32" name="Text 30"/>
          <p:cNvSpPr/>
          <p:nvPr/>
        </p:nvSpPr>
        <p:spPr>
          <a:xfrm>
            <a:off x="5413248" y="3447288"/>
            <a:ext cx="1874520" cy="320040"/>
          </a:xfrm>
          <a:prstGeom prst="rect">
            <a:avLst/>
          </a:prstGeom>
          <a:noFill/>
          <a:ln/>
        </p:spPr>
        <p:txBody>
          <a:bodyPr wrap="square" lIns="0" tIns="0" rIns="0" bIns="0" rtlCol="0" anchor="ctr">
            <a:normAutofit/>
          </a:bodyPr>
          <a:lstStyle/>
          <a:p>
            <a:pPr marL="0" indent="0" algn="l">
              <a:buNone/>
            </a:pPr>
            <a:r>
              <a:rPr lang="en-US" sz="1600" b="1" dirty="0">
                <a:solidFill>
                  <a:srgbClr val="1A243A"/>
                </a:solidFill>
                <a:latin typeface="Inter" pitchFamily="34" charset="0"/>
                <a:ea typeface="Inter" pitchFamily="34" charset="-122"/>
                <a:cs typeface="Inter" pitchFamily="34" charset="-120"/>
              </a:rPr>
              <a:t>STATE</a:t>
            </a:r>
            <a:endParaRPr lang="en-US" sz="1600" dirty="0"/>
          </a:p>
        </p:txBody>
      </p:sp>
      <p:sp>
        <p:nvSpPr>
          <p:cNvPr id="33" name="Text 31"/>
          <p:cNvSpPr/>
          <p:nvPr/>
        </p:nvSpPr>
        <p:spPr>
          <a:xfrm>
            <a:off x="5413248" y="4005072"/>
            <a:ext cx="1874520" cy="448056"/>
          </a:xfrm>
          <a:prstGeom prst="rect">
            <a:avLst/>
          </a:prstGeom>
          <a:noFill/>
          <a:ln/>
        </p:spPr>
        <p:txBody>
          <a:bodyPr wrap="square" lIns="0" tIns="0" rIns="0" bIns="0" rtlCol="0" anchor="ctr">
            <a:normAutofit/>
          </a:bodyPr>
          <a:lstStyle/>
          <a:p>
            <a:pPr marL="0" indent="0" algn="l">
              <a:buNone/>
            </a:pPr>
            <a:r>
              <a:rPr lang="en-US" sz="1300" dirty="0">
                <a:solidFill>
                  <a:srgbClr val="63717D"/>
                </a:solidFill>
                <a:latin typeface="Inter" pitchFamily="34" charset="0"/>
                <a:ea typeface="Inter" pitchFamily="34" charset="-122"/>
                <a:cs typeface="Inter" pitchFamily="34" charset="-120"/>
              </a:rPr>
              <a:t>Tracks progress</a:t>
            </a:r>
            <a:endParaRPr lang="en-US" sz="1300" dirty="0"/>
          </a:p>
        </p:txBody>
      </p:sp>
      <p:sp>
        <p:nvSpPr>
          <p:cNvPr id="34" name="Shape 32"/>
          <p:cNvSpPr/>
          <p:nvPr/>
        </p:nvSpPr>
        <p:spPr>
          <a:xfrm>
            <a:off x="7571232" y="2615184"/>
            <a:ext cx="2185416" cy="2212848"/>
          </a:xfrm>
          <a:prstGeom prst="roundRect">
            <a:avLst>
              <a:gd name="adj" fmla="val 6276"/>
            </a:avLst>
          </a:prstGeom>
          <a:solidFill>
            <a:srgbClr val="FFFFFF"/>
          </a:solidFill>
          <a:ln w="12700">
            <a:solidFill>
              <a:srgbClr val="DDE5E1"/>
            </a:solidFill>
            <a:prstDash val="solid"/>
          </a:ln>
        </p:spPr>
        <p:txBody>
          <a:bodyPr/>
          <a:lstStyle/>
          <a:p>
            <a:endParaRPr/>
          </a:p>
        </p:txBody>
      </p:sp>
      <p:sp>
        <p:nvSpPr>
          <p:cNvPr id="35" name="Shape 33"/>
          <p:cNvSpPr/>
          <p:nvPr/>
        </p:nvSpPr>
        <p:spPr>
          <a:xfrm>
            <a:off x="7744968" y="2834640"/>
            <a:ext cx="384048" cy="320040"/>
          </a:xfrm>
          <a:prstGeom prst="roundRect">
            <a:avLst>
              <a:gd name="adj" fmla="val 42857"/>
            </a:avLst>
          </a:prstGeom>
          <a:solidFill>
            <a:srgbClr val="1A243A"/>
          </a:solidFill>
          <a:ln w="12700">
            <a:solidFill>
              <a:srgbClr val="1A243A"/>
            </a:solidFill>
            <a:prstDash val="solid"/>
          </a:ln>
        </p:spPr>
        <p:txBody>
          <a:bodyPr/>
          <a:lstStyle/>
          <a:p>
            <a:endParaRPr/>
          </a:p>
        </p:txBody>
      </p:sp>
      <p:sp>
        <p:nvSpPr>
          <p:cNvPr id="36" name="Text 34"/>
          <p:cNvSpPr/>
          <p:nvPr/>
        </p:nvSpPr>
        <p:spPr>
          <a:xfrm>
            <a:off x="7827264" y="2857500"/>
            <a:ext cx="219456"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4</a:t>
            </a:r>
            <a:endParaRPr lang="en-US" sz="1000" dirty="0"/>
          </a:p>
        </p:txBody>
      </p:sp>
      <p:sp>
        <p:nvSpPr>
          <p:cNvPr id="37" name="Text 35"/>
          <p:cNvSpPr/>
          <p:nvPr/>
        </p:nvSpPr>
        <p:spPr>
          <a:xfrm>
            <a:off x="7735824" y="3447288"/>
            <a:ext cx="1874520" cy="320040"/>
          </a:xfrm>
          <a:prstGeom prst="rect">
            <a:avLst/>
          </a:prstGeom>
          <a:noFill/>
          <a:ln/>
        </p:spPr>
        <p:txBody>
          <a:bodyPr wrap="square" lIns="0" tIns="0" rIns="0" bIns="0" rtlCol="0" anchor="ctr">
            <a:normAutofit/>
          </a:bodyPr>
          <a:lstStyle/>
          <a:p>
            <a:pPr marL="0" indent="0" algn="l">
              <a:buNone/>
            </a:pPr>
            <a:r>
              <a:rPr lang="en-US" sz="1300" b="1" dirty="0">
                <a:solidFill>
                  <a:srgbClr val="1A243A"/>
                </a:solidFill>
                <a:latin typeface="Inter" pitchFamily="34" charset="0"/>
                <a:ea typeface="Inter" pitchFamily="34" charset="-122"/>
                <a:cs typeface="Inter" pitchFamily="34" charset="-120"/>
              </a:rPr>
              <a:t>ORCHESTRATOR</a:t>
            </a:r>
            <a:endParaRPr lang="en-US" sz="1300" dirty="0"/>
          </a:p>
        </p:txBody>
      </p:sp>
      <p:sp>
        <p:nvSpPr>
          <p:cNvPr id="38" name="Text 36"/>
          <p:cNvSpPr/>
          <p:nvPr/>
        </p:nvSpPr>
        <p:spPr>
          <a:xfrm>
            <a:off x="7735824" y="4005072"/>
            <a:ext cx="1874520" cy="448056"/>
          </a:xfrm>
          <a:prstGeom prst="rect">
            <a:avLst/>
          </a:prstGeom>
          <a:noFill/>
          <a:ln/>
        </p:spPr>
        <p:txBody>
          <a:bodyPr wrap="square" lIns="0" tIns="0" rIns="0" bIns="0" rtlCol="0" anchor="ctr">
            <a:normAutofit/>
          </a:bodyPr>
          <a:lstStyle/>
          <a:p>
            <a:pPr marL="0" indent="0" algn="l">
              <a:buNone/>
            </a:pPr>
            <a:r>
              <a:rPr lang="en-US" sz="1300" dirty="0">
                <a:solidFill>
                  <a:srgbClr val="63717D"/>
                </a:solidFill>
                <a:latin typeface="Inter" pitchFamily="34" charset="0"/>
                <a:ea typeface="Inter" pitchFamily="34" charset="-122"/>
                <a:cs typeface="Inter" pitchFamily="34" charset="-120"/>
              </a:rPr>
              <a:t>Runs the loop</a:t>
            </a:r>
            <a:endParaRPr lang="en-US" sz="1300" dirty="0"/>
          </a:p>
        </p:txBody>
      </p:sp>
      <p:sp>
        <p:nvSpPr>
          <p:cNvPr id="39" name="Shape 37"/>
          <p:cNvSpPr/>
          <p:nvPr/>
        </p:nvSpPr>
        <p:spPr>
          <a:xfrm>
            <a:off x="9893808" y="2615184"/>
            <a:ext cx="2185416" cy="2212848"/>
          </a:xfrm>
          <a:prstGeom prst="roundRect">
            <a:avLst>
              <a:gd name="adj" fmla="val 6276"/>
            </a:avLst>
          </a:prstGeom>
          <a:solidFill>
            <a:srgbClr val="FFFFFF"/>
          </a:solidFill>
          <a:ln w="12700">
            <a:solidFill>
              <a:srgbClr val="DDE5E1"/>
            </a:solidFill>
            <a:prstDash val="solid"/>
          </a:ln>
        </p:spPr>
        <p:txBody>
          <a:bodyPr/>
          <a:lstStyle/>
          <a:p>
            <a:endParaRPr/>
          </a:p>
        </p:txBody>
      </p:sp>
      <p:sp>
        <p:nvSpPr>
          <p:cNvPr id="40" name="Shape 38"/>
          <p:cNvSpPr/>
          <p:nvPr/>
        </p:nvSpPr>
        <p:spPr>
          <a:xfrm>
            <a:off x="10067544" y="2834640"/>
            <a:ext cx="384048" cy="320040"/>
          </a:xfrm>
          <a:prstGeom prst="roundRect">
            <a:avLst>
              <a:gd name="adj" fmla="val 42857"/>
            </a:avLst>
          </a:prstGeom>
          <a:solidFill>
            <a:srgbClr val="2B6450"/>
          </a:solidFill>
          <a:ln w="12700">
            <a:solidFill>
              <a:srgbClr val="2B6450"/>
            </a:solidFill>
            <a:prstDash val="solid"/>
          </a:ln>
        </p:spPr>
        <p:txBody>
          <a:bodyPr/>
          <a:lstStyle/>
          <a:p>
            <a:endParaRPr/>
          </a:p>
        </p:txBody>
      </p:sp>
      <p:sp>
        <p:nvSpPr>
          <p:cNvPr id="41" name="Text 39"/>
          <p:cNvSpPr/>
          <p:nvPr/>
        </p:nvSpPr>
        <p:spPr>
          <a:xfrm>
            <a:off x="10149840" y="2857500"/>
            <a:ext cx="219456"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5</a:t>
            </a:r>
            <a:endParaRPr lang="en-US" sz="1000" dirty="0"/>
          </a:p>
        </p:txBody>
      </p:sp>
      <p:sp>
        <p:nvSpPr>
          <p:cNvPr id="42" name="Text 40"/>
          <p:cNvSpPr/>
          <p:nvPr/>
        </p:nvSpPr>
        <p:spPr>
          <a:xfrm>
            <a:off x="10058400" y="3447288"/>
            <a:ext cx="1874520" cy="320040"/>
          </a:xfrm>
          <a:prstGeom prst="rect">
            <a:avLst/>
          </a:prstGeom>
          <a:noFill/>
          <a:ln/>
        </p:spPr>
        <p:txBody>
          <a:bodyPr wrap="square" lIns="0" tIns="0" rIns="0" bIns="0" rtlCol="0" anchor="ctr">
            <a:normAutofit/>
          </a:bodyPr>
          <a:lstStyle/>
          <a:p>
            <a:pPr marL="0" indent="0" algn="l">
              <a:buNone/>
            </a:pPr>
            <a:r>
              <a:rPr lang="en-US" sz="1600" b="1" dirty="0">
                <a:solidFill>
                  <a:srgbClr val="1A243A"/>
                </a:solidFill>
                <a:latin typeface="Inter" pitchFamily="34" charset="0"/>
                <a:ea typeface="Inter" pitchFamily="34" charset="-122"/>
                <a:cs typeface="Inter" pitchFamily="34" charset="-120"/>
              </a:rPr>
              <a:t>GUARDRAILS</a:t>
            </a:r>
            <a:endParaRPr lang="en-US" sz="1600" dirty="0"/>
          </a:p>
        </p:txBody>
      </p:sp>
      <p:sp>
        <p:nvSpPr>
          <p:cNvPr id="43" name="Text 41"/>
          <p:cNvSpPr/>
          <p:nvPr/>
        </p:nvSpPr>
        <p:spPr>
          <a:xfrm>
            <a:off x="10058400" y="4005072"/>
            <a:ext cx="1874520" cy="448056"/>
          </a:xfrm>
          <a:prstGeom prst="rect">
            <a:avLst/>
          </a:prstGeom>
          <a:noFill/>
          <a:ln/>
        </p:spPr>
        <p:txBody>
          <a:bodyPr wrap="square" lIns="0" tIns="0" rIns="0" bIns="0" rtlCol="0" anchor="ctr">
            <a:normAutofit/>
          </a:bodyPr>
          <a:lstStyle/>
          <a:p>
            <a:pPr marL="0" indent="0" algn="l">
              <a:buNone/>
            </a:pPr>
            <a:r>
              <a:rPr lang="en-US" sz="1300" dirty="0">
                <a:solidFill>
                  <a:srgbClr val="63717D"/>
                </a:solidFill>
                <a:latin typeface="Inter" pitchFamily="34" charset="0"/>
                <a:ea typeface="Inter" pitchFamily="34" charset="-122"/>
                <a:cs typeface="Inter" pitchFamily="34" charset="-120"/>
              </a:rPr>
              <a:t>Controls risk</a:t>
            </a:r>
            <a:endParaRPr lang="en-US" sz="1300" dirty="0"/>
          </a:p>
        </p:txBody>
      </p:sp>
      <p:pic>
        <p:nvPicPr>
          <p:cNvPr id="44" name="Image 0" descr="BEA_MASCOT_guard"/>
          <p:cNvPicPr>
            <a:picLocks noChangeAspect="1"/>
          </p:cNvPicPr>
          <p:nvPr/>
        </p:nvPicPr>
        <p:blipFill>
          <a:blip r:embed="rId3"/>
          <a:stretch>
            <a:fillRect/>
          </a:stretch>
        </p:blipFill>
        <p:spPr>
          <a:xfrm>
            <a:off x="8988552" y="4791456"/>
            <a:ext cx="987552" cy="1122218"/>
          </a:xfrm>
          <a:prstGeom prst="rect">
            <a:avLst/>
          </a:prstGeom>
        </p:spPr>
      </p:pic>
      <p:sp>
        <p:nvSpPr>
          <p:cNvPr id="45" name="Text 42"/>
          <p:cNvSpPr/>
          <p:nvPr/>
        </p:nvSpPr>
        <p:spPr>
          <a:xfrm>
            <a:off x="841248" y="5321808"/>
            <a:ext cx="8229600" cy="457200"/>
          </a:xfrm>
          <a:prstGeom prst="rect">
            <a:avLst/>
          </a:prstGeom>
          <a:noFill/>
          <a:ln/>
        </p:spPr>
        <p:txBody>
          <a:bodyPr wrap="square" lIns="0" tIns="0" rIns="0" bIns="0" rtlCol="0" anchor="ctr">
            <a:normAutofit/>
          </a:bodyPr>
          <a:lstStyle/>
          <a:p>
            <a:pPr marL="0" indent="0" algn="l">
              <a:buNone/>
            </a:pPr>
            <a:r>
              <a:rPr lang="en-US" sz="1600" b="1" dirty="0">
                <a:solidFill>
                  <a:srgbClr val="2B6450"/>
                </a:solidFill>
                <a:latin typeface="Inter" pitchFamily="34" charset="0"/>
                <a:ea typeface="Inter" pitchFamily="34" charset="-122"/>
                <a:cs typeface="Inter" pitchFamily="34" charset="-120"/>
              </a:rPr>
              <a:t>Tools and permissions come from the application — not the model itself.</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44"/>
                                  </p:tgtEl>
                                  <p:attrNameLst>
                                    <p:attrName>style.visibility</p:attrName>
                                  </p:attrNameLst>
                                </p:cBhvr>
                                <p:to>
                                  <p:strVal val="visible"/>
                                </p:to>
                              </p:set>
                              <p:animEffect transition="in" filter="fade">
                                <p:cBhvr>
                                  <p:cTn id="6" dur="650"/>
                                  <p:tgtEl>
                                    <p:spTgt spid="44"/>
                                  </p:tgtEl>
                                </p:cBhvr>
                              </p:animEffect>
                            </p:childTnLst>
                          </p:cTn>
                        </p:par>
                      </p:childTnLst>
                    </p:cTn>
                  </p:par>
                </p:childTnLst>
              </p:cTn>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950976"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786384"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TOOLS</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An agent’s engineering instruments</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Software functions are the equivalent of instruments and interfaces.</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11  /  32</a:t>
            </a:r>
            <a:endParaRPr lang="en-US" sz="900" dirty="0"/>
          </a:p>
        </p:txBody>
      </p:sp>
      <p:sp>
        <p:nvSpPr>
          <p:cNvPr id="19" name="Shape 17"/>
          <p:cNvSpPr/>
          <p:nvPr/>
        </p:nvSpPr>
        <p:spPr>
          <a:xfrm>
            <a:off x="667512" y="2331720"/>
            <a:ext cx="5294376" cy="1362456"/>
          </a:xfrm>
          <a:prstGeom prst="roundRect">
            <a:avLst>
              <a:gd name="adj" fmla="val 10067"/>
            </a:avLst>
          </a:prstGeom>
          <a:solidFill>
            <a:srgbClr val="FFFFFF"/>
          </a:solidFill>
          <a:ln w="12700">
            <a:solidFill>
              <a:srgbClr val="DDE5E1"/>
            </a:solidFill>
            <a:prstDash val="solid"/>
          </a:ln>
        </p:spPr>
        <p:txBody>
          <a:bodyPr/>
          <a:lstStyle/>
          <a:p>
            <a:endParaRPr/>
          </a:p>
        </p:txBody>
      </p:sp>
      <p:sp>
        <p:nvSpPr>
          <p:cNvPr id="20" name="Shape 18"/>
          <p:cNvSpPr/>
          <p:nvPr/>
        </p:nvSpPr>
        <p:spPr>
          <a:xfrm>
            <a:off x="667512" y="2331720"/>
            <a:ext cx="77724" cy="1362456"/>
          </a:xfrm>
          <a:prstGeom prst="rect">
            <a:avLst/>
          </a:prstGeom>
          <a:solidFill>
            <a:srgbClr val="2B6450"/>
          </a:solidFill>
          <a:ln w="12700">
            <a:solidFill>
              <a:srgbClr val="2B6450"/>
            </a:solidFill>
            <a:prstDash val="solid"/>
          </a:ln>
        </p:spPr>
        <p:txBody>
          <a:bodyPr/>
          <a:lstStyle/>
          <a:p>
            <a:endParaRPr/>
          </a:p>
        </p:txBody>
      </p:sp>
      <p:sp>
        <p:nvSpPr>
          <p:cNvPr id="21" name="Text 19"/>
          <p:cNvSpPr/>
          <p:nvPr/>
        </p:nvSpPr>
        <p:spPr>
          <a:xfrm>
            <a:off x="905256" y="2542032"/>
            <a:ext cx="4828032" cy="466344"/>
          </a:xfrm>
          <a:prstGeom prst="rect">
            <a:avLst/>
          </a:prstGeom>
          <a:noFill/>
          <a:ln/>
        </p:spPr>
        <p:txBody>
          <a:bodyPr wrap="square" lIns="0" tIns="0" rIns="0" bIns="0" rtlCol="0" anchor="ctr">
            <a:normAutofit/>
          </a:bodyPr>
          <a:lstStyle/>
          <a:p>
            <a:pPr marL="0" indent="0" algn="l">
              <a:buNone/>
            </a:pPr>
            <a:r>
              <a:rPr lang="en-US" sz="1900" b="1" dirty="0">
                <a:solidFill>
                  <a:srgbClr val="1A243A"/>
                </a:solidFill>
                <a:latin typeface="Inter" pitchFamily="34" charset="0"/>
                <a:ea typeface="Inter" pitchFamily="34" charset="-122"/>
                <a:cs typeface="Inter" pitchFamily="34" charset="-120"/>
              </a:rPr>
              <a:t>SENSOR API</a:t>
            </a:r>
            <a:endParaRPr lang="en-US" sz="1900" dirty="0"/>
          </a:p>
        </p:txBody>
      </p:sp>
      <p:sp>
        <p:nvSpPr>
          <p:cNvPr id="22" name="Text 20"/>
          <p:cNvSpPr/>
          <p:nvPr/>
        </p:nvSpPr>
        <p:spPr>
          <a:xfrm>
            <a:off x="905256" y="3099816"/>
            <a:ext cx="4791456" cy="484632"/>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Read simulated temperature</a:t>
            </a:r>
            <a:endParaRPr lang="en-US" sz="1500" dirty="0"/>
          </a:p>
        </p:txBody>
      </p:sp>
      <p:sp>
        <p:nvSpPr>
          <p:cNvPr id="23" name="Shape 21"/>
          <p:cNvSpPr/>
          <p:nvPr/>
        </p:nvSpPr>
        <p:spPr>
          <a:xfrm>
            <a:off x="6236208" y="2331720"/>
            <a:ext cx="5294376" cy="1362456"/>
          </a:xfrm>
          <a:prstGeom prst="roundRect">
            <a:avLst>
              <a:gd name="adj" fmla="val 10067"/>
            </a:avLst>
          </a:prstGeom>
          <a:solidFill>
            <a:srgbClr val="FFFFFF"/>
          </a:solidFill>
          <a:ln w="12700">
            <a:solidFill>
              <a:srgbClr val="DDE5E1"/>
            </a:solidFill>
            <a:prstDash val="solid"/>
          </a:ln>
        </p:spPr>
        <p:txBody>
          <a:bodyPr/>
          <a:lstStyle/>
          <a:p>
            <a:endParaRPr/>
          </a:p>
        </p:txBody>
      </p:sp>
      <p:sp>
        <p:nvSpPr>
          <p:cNvPr id="24" name="Shape 22"/>
          <p:cNvSpPr/>
          <p:nvPr/>
        </p:nvSpPr>
        <p:spPr>
          <a:xfrm>
            <a:off x="6236208" y="2331720"/>
            <a:ext cx="77724" cy="1362456"/>
          </a:xfrm>
          <a:prstGeom prst="rect">
            <a:avLst/>
          </a:prstGeom>
          <a:solidFill>
            <a:srgbClr val="E04149"/>
          </a:solidFill>
          <a:ln w="12700">
            <a:solidFill>
              <a:srgbClr val="E04149"/>
            </a:solidFill>
            <a:prstDash val="solid"/>
          </a:ln>
        </p:spPr>
        <p:txBody>
          <a:bodyPr/>
          <a:lstStyle/>
          <a:p>
            <a:endParaRPr/>
          </a:p>
        </p:txBody>
      </p:sp>
      <p:sp>
        <p:nvSpPr>
          <p:cNvPr id="25" name="Text 23"/>
          <p:cNvSpPr/>
          <p:nvPr/>
        </p:nvSpPr>
        <p:spPr>
          <a:xfrm>
            <a:off x="6473952" y="2542032"/>
            <a:ext cx="4828032" cy="466344"/>
          </a:xfrm>
          <a:prstGeom prst="rect">
            <a:avLst/>
          </a:prstGeom>
          <a:noFill/>
          <a:ln/>
        </p:spPr>
        <p:txBody>
          <a:bodyPr wrap="square" lIns="0" tIns="0" rIns="0" bIns="0" rtlCol="0" anchor="ctr">
            <a:normAutofit/>
          </a:bodyPr>
          <a:lstStyle/>
          <a:p>
            <a:pPr marL="0" indent="0" algn="l">
              <a:buNone/>
            </a:pPr>
            <a:r>
              <a:rPr lang="en-US" sz="1900" b="1" dirty="0">
                <a:solidFill>
                  <a:srgbClr val="1A243A"/>
                </a:solidFill>
                <a:latin typeface="Inter" pitchFamily="34" charset="0"/>
                <a:ea typeface="Inter" pitchFamily="34" charset="-122"/>
                <a:cs typeface="Inter" pitchFamily="34" charset="-120"/>
              </a:rPr>
              <a:t>DOCUMENT SEARCH</a:t>
            </a:r>
            <a:endParaRPr lang="en-US" sz="1900" dirty="0"/>
          </a:p>
        </p:txBody>
      </p:sp>
      <p:sp>
        <p:nvSpPr>
          <p:cNvPr id="26" name="Text 24"/>
          <p:cNvSpPr/>
          <p:nvPr/>
        </p:nvSpPr>
        <p:spPr>
          <a:xfrm>
            <a:off x="6473952" y="3099816"/>
            <a:ext cx="4791456" cy="484632"/>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Find manual instructions</a:t>
            </a:r>
            <a:endParaRPr lang="en-US" sz="1500" dirty="0"/>
          </a:p>
        </p:txBody>
      </p:sp>
      <p:sp>
        <p:nvSpPr>
          <p:cNvPr id="27" name="Shape 25"/>
          <p:cNvSpPr/>
          <p:nvPr/>
        </p:nvSpPr>
        <p:spPr>
          <a:xfrm>
            <a:off x="667512" y="3913632"/>
            <a:ext cx="5294376" cy="1362456"/>
          </a:xfrm>
          <a:prstGeom prst="roundRect">
            <a:avLst>
              <a:gd name="adj" fmla="val 10067"/>
            </a:avLst>
          </a:prstGeom>
          <a:solidFill>
            <a:srgbClr val="FFFFFF"/>
          </a:solidFill>
          <a:ln w="12700">
            <a:solidFill>
              <a:srgbClr val="DDE5E1"/>
            </a:solidFill>
            <a:prstDash val="solid"/>
          </a:ln>
        </p:spPr>
        <p:txBody>
          <a:bodyPr/>
          <a:lstStyle/>
          <a:p>
            <a:endParaRPr/>
          </a:p>
        </p:txBody>
      </p:sp>
      <p:sp>
        <p:nvSpPr>
          <p:cNvPr id="28" name="Shape 26"/>
          <p:cNvSpPr/>
          <p:nvPr/>
        </p:nvSpPr>
        <p:spPr>
          <a:xfrm>
            <a:off x="667512" y="3913632"/>
            <a:ext cx="77724" cy="1362456"/>
          </a:xfrm>
          <a:prstGeom prst="rect">
            <a:avLst/>
          </a:prstGeom>
          <a:solidFill>
            <a:srgbClr val="2B6450"/>
          </a:solidFill>
          <a:ln w="12700">
            <a:solidFill>
              <a:srgbClr val="2B6450"/>
            </a:solidFill>
            <a:prstDash val="solid"/>
          </a:ln>
        </p:spPr>
        <p:txBody>
          <a:bodyPr/>
          <a:lstStyle/>
          <a:p>
            <a:endParaRPr/>
          </a:p>
        </p:txBody>
      </p:sp>
      <p:sp>
        <p:nvSpPr>
          <p:cNvPr id="29" name="Text 27"/>
          <p:cNvSpPr/>
          <p:nvPr/>
        </p:nvSpPr>
        <p:spPr>
          <a:xfrm>
            <a:off x="905256" y="4123944"/>
            <a:ext cx="4828032" cy="466344"/>
          </a:xfrm>
          <a:prstGeom prst="rect">
            <a:avLst/>
          </a:prstGeom>
          <a:noFill/>
          <a:ln/>
        </p:spPr>
        <p:txBody>
          <a:bodyPr wrap="square" lIns="0" tIns="0" rIns="0" bIns="0" rtlCol="0" anchor="ctr">
            <a:normAutofit/>
          </a:bodyPr>
          <a:lstStyle/>
          <a:p>
            <a:pPr marL="0" indent="0" algn="l">
              <a:buNone/>
            </a:pPr>
            <a:r>
              <a:rPr lang="en-US" sz="1900" b="1" dirty="0">
                <a:solidFill>
                  <a:srgbClr val="1A243A"/>
                </a:solidFill>
                <a:latin typeface="Inter" pitchFamily="34" charset="0"/>
                <a:ea typeface="Inter" pitchFamily="34" charset="-122"/>
                <a:cs typeface="Inter" pitchFamily="34" charset="-120"/>
              </a:rPr>
              <a:t>MAINTENANCE DB</a:t>
            </a:r>
            <a:endParaRPr lang="en-US" sz="1900" dirty="0"/>
          </a:p>
        </p:txBody>
      </p:sp>
      <p:sp>
        <p:nvSpPr>
          <p:cNvPr id="30" name="Text 28"/>
          <p:cNvSpPr/>
          <p:nvPr/>
        </p:nvSpPr>
        <p:spPr>
          <a:xfrm>
            <a:off x="905256" y="4681728"/>
            <a:ext cx="4791456" cy="484632"/>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Retrieve service history</a:t>
            </a:r>
            <a:endParaRPr lang="en-US" sz="1500" dirty="0"/>
          </a:p>
        </p:txBody>
      </p:sp>
      <p:sp>
        <p:nvSpPr>
          <p:cNvPr id="31" name="Shape 29"/>
          <p:cNvSpPr/>
          <p:nvPr/>
        </p:nvSpPr>
        <p:spPr>
          <a:xfrm>
            <a:off x="6236208" y="3913632"/>
            <a:ext cx="5294376" cy="1362456"/>
          </a:xfrm>
          <a:prstGeom prst="roundRect">
            <a:avLst>
              <a:gd name="adj" fmla="val 10067"/>
            </a:avLst>
          </a:prstGeom>
          <a:solidFill>
            <a:srgbClr val="FFFFFF"/>
          </a:solidFill>
          <a:ln w="12700">
            <a:solidFill>
              <a:srgbClr val="DDE5E1"/>
            </a:solidFill>
            <a:prstDash val="solid"/>
          </a:ln>
        </p:spPr>
        <p:txBody>
          <a:bodyPr/>
          <a:lstStyle/>
          <a:p>
            <a:endParaRPr/>
          </a:p>
        </p:txBody>
      </p:sp>
      <p:sp>
        <p:nvSpPr>
          <p:cNvPr id="32" name="Shape 30"/>
          <p:cNvSpPr/>
          <p:nvPr/>
        </p:nvSpPr>
        <p:spPr>
          <a:xfrm>
            <a:off x="6236208" y="3913632"/>
            <a:ext cx="77724" cy="1362456"/>
          </a:xfrm>
          <a:prstGeom prst="rect">
            <a:avLst/>
          </a:prstGeom>
          <a:solidFill>
            <a:srgbClr val="E04149"/>
          </a:solidFill>
          <a:ln w="12700">
            <a:solidFill>
              <a:srgbClr val="E04149"/>
            </a:solidFill>
            <a:prstDash val="solid"/>
          </a:ln>
        </p:spPr>
        <p:txBody>
          <a:bodyPr/>
          <a:lstStyle/>
          <a:p>
            <a:endParaRPr/>
          </a:p>
        </p:txBody>
      </p:sp>
      <p:sp>
        <p:nvSpPr>
          <p:cNvPr id="33" name="Text 31"/>
          <p:cNvSpPr/>
          <p:nvPr/>
        </p:nvSpPr>
        <p:spPr>
          <a:xfrm>
            <a:off x="6473952" y="4123944"/>
            <a:ext cx="4828032" cy="466344"/>
          </a:xfrm>
          <a:prstGeom prst="rect">
            <a:avLst/>
          </a:prstGeom>
          <a:noFill/>
          <a:ln/>
        </p:spPr>
        <p:txBody>
          <a:bodyPr wrap="square" lIns="0" tIns="0" rIns="0" bIns="0" rtlCol="0" anchor="ctr">
            <a:normAutofit/>
          </a:bodyPr>
          <a:lstStyle/>
          <a:p>
            <a:pPr marL="0" indent="0" algn="l">
              <a:buNone/>
            </a:pPr>
            <a:r>
              <a:rPr lang="en-US" sz="1900" b="1" dirty="0">
                <a:solidFill>
                  <a:srgbClr val="1A243A"/>
                </a:solidFill>
                <a:latin typeface="Inter" pitchFamily="34" charset="0"/>
                <a:ea typeface="Inter" pitchFamily="34" charset="-122"/>
                <a:cs typeface="Inter" pitchFamily="34" charset="-120"/>
              </a:rPr>
              <a:t>TICKETING TOOL</a:t>
            </a:r>
            <a:endParaRPr lang="en-US" sz="1900" dirty="0"/>
          </a:p>
        </p:txBody>
      </p:sp>
      <p:sp>
        <p:nvSpPr>
          <p:cNvPr id="34" name="Text 32"/>
          <p:cNvSpPr/>
          <p:nvPr/>
        </p:nvSpPr>
        <p:spPr>
          <a:xfrm>
            <a:off x="6473952" y="4681728"/>
            <a:ext cx="4791456" cy="484632"/>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Prepare a work order</a:t>
            </a:r>
            <a:endParaRPr lang="en-US" sz="15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578254"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41366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TOOL CALLING</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Who really presses the button?</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The model requests; the application executes.</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12  /  32</a:t>
            </a:r>
            <a:endParaRPr lang="en-US" sz="900" dirty="0"/>
          </a:p>
        </p:txBody>
      </p:sp>
      <p:sp>
        <p:nvSpPr>
          <p:cNvPr id="19" name="Shape 17"/>
          <p:cNvSpPr/>
          <p:nvPr/>
        </p:nvSpPr>
        <p:spPr>
          <a:xfrm>
            <a:off x="950976" y="2039112"/>
            <a:ext cx="10213848" cy="576072"/>
          </a:xfrm>
          <a:prstGeom prst="roundRect">
            <a:avLst>
              <a:gd name="adj" fmla="val 23810"/>
            </a:avLst>
          </a:prstGeom>
          <a:solidFill>
            <a:srgbClr val="FFFFFF"/>
          </a:solidFill>
          <a:ln w="12700">
            <a:solidFill>
              <a:srgbClr val="DDE5E1"/>
            </a:solidFill>
            <a:prstDash val="solid"/>
          </a:ln>
        </p:spPr>
        <p:txBody>
          <a:bodyPr/>
          <a:lstStyle/>
          <a:p>
            <a:endParaRPr/>
          </a:p>
        </p:txBody>
      </p:sp>
      <p:sp>
        <p:nvSpPr>
          <p:cNvPr id="20" name="Text 18"/>
          <p:cNvSpPr/>
          <p:nvPr/>
        </p:nvSpPr>
        <p:spPr>
          <a:xfrm>
            <a:off x="1143000" y="2176272"/>
            <a:ext cx="2148840" cy="283464"/>
          </a:xfrm>
          <a:prstGeom prst="rect">
            <a:avLst/>
          </a:prstGeom>
          <a:noFill/>
          <a:ln/>
        </p:spPr>
        <p:txBody>
          <a:bodyPr wrap="square" lIns="0" tIns="0" rIns="0" bIns="0" rtlCol="0" anchor="ctr">
            <a:normAutofit/>
          </a:bodyPr>
          <a:lstStyle/>
          <a:p>
            <a:pPr marL="0" indent="0" algn="l">
              <a:buNone/>
            </a:pPr>
            <a:r>
              <a:rPr lang="en-US" sz="1400" b="1" dirty="0">
                <a:solidFill>
                  <a:srgbClr val="2B6450"/>
                </a:solidFill>
                <a:latin typeface="Inter" pitchFamily="34" charset="0"/>
                <a:ea typeface="Inter" pitchFamily="34" charset="-122"/>
                <a:cs typeface="Inter" pitchFamily="34" charset="-120"/>
              </a:rPr>
              <a:t>1 · USER</a:t>
            </a:r>
            <a:endParaRPr lang="en-US" sz="1400" dirty="0"/>
          </a:p>
        </p:txBody>
      </p:sp>
      <p:sp>
        <p:nvSpPr>
          <p:cNvPr id="21" name="Text 19"/>
          <p:cNvSpPr/>
          <p:nvPr/>
        </p:nvSpPr>
        <p:spPr>
          <a:xfrm>
            <a:off x="3310128" y="2157984"/>
            <a:ext cx="7543800" cy="320040"/>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“Read AHU-01.”</a:t>
            </a:r>
            <a:endParaRPr lang="en-US" sz="1600" dirty="0"/>
          </a:p>
        </p:txBody>
      </p:sp>
      <p:sp>
        <p:nvSpPr>
          <p:cNvPr id="22" name="Shape 20"/>
          <p:cNvSpPr/>
          <p:nvPr/>
        </p:nvSpPr>
        <p:spPr>
          <a:xfrm>
            <a:off x="950976" y="2788920"/>
            <a:ext cx="10213848" cy="576072"/>
          </a:xfrm>
          <a:prstGeom prst="roundRect">
            <a:avLst>
              <a:gd name="adj" fmla="val 23810"/>
            </a:avLst>
          </a:prstGeom>
          <a:solidFill>
            <a:srgbClr val="FFFFFF"/>
          </a:solidFill>
          <a:ln w="12700">
            <a:solidFill>
              <a:srgbClr val="DDE5E1"/>
            </a:solidFill>
            <a:prstDash val="solid"/>
          </a:ln>
        </p:spPr>
        <p:txBody>
          <a:bodyPr/>
          <a:lstStyle/>
          <a:p>
            <a:endParaRPr/>
          </a:p>
        </p:txBody>
      </p:sp>
      <p:sp>
        <p:nvSpPr>
          <p:cNvPr id="23" name="Text 21"/>
          <p:cNvSpPr/>
          <p:nvPr/>
        </p:nvSpPr>
        <p:spPr>
          <a:xfrm>
            <a:off x="1143000" y="2926080"/>
            <a:ext cx="2148840" cy="283464"/>
          </a:xfrm>
          <a:prstGeom prst="rect">
            <a:avLst/>
          </a:prstGeom>
          <a:noFill/>
          <a:ln/>
        </p:spPr>
        <p:txBody>
          <a:bodyPr wrap="square" lIns="0" tIns="0" rIns="0" bIns="0" rtlCol="0" anchor="ctr">
            <a:normAutofit/>
          </a:bodyPr>
          <a:lstStyle/>
          <a:p>
            <a:pPr marL="0" indent="0" algn="l">
              <a:buNone/>
            </a:pPr>
            <a:r>
              <a:rPr lang="en-US" sz="1400" b="1" dirty="0">
                <a:solidFill>
                  <a:srgbClr val="2B6450"/>
                </a:solidFill>
                <a:latin typeface="Inter" pitchFamily="34" charset="0"/>
                <a:ea typeface="Inter" pitchFamily="34" charset="-122"/>
                <a:cs typeface="Inter" pitchFamily="34" charset="-120"/>
              </a:rPr>
              <a:t>2 · LLM</a:t>
            </a:r>
            <a:endParaRPr lang="en-US" sz="1400" dirty="0"/>
          </a:p>
        </p:txBody>
      </p:sp>
      <p:sp>
        <p:nvSpPr>
          <p:cNvPr id="24" name="Text 22"/>
          <p:cNvSpPr/>
          <p:nvPr/>
        </p:nvSpPr>
        <p:spPr>
          <a:xfrm>
            <a:off x="3310128" y="2907792"/>
            <a:ext cx="7543800" cy="320040"/>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Requests get_ahu_readings</a:t>
            </a:r>
            <a:endParaRPr lang="en-US" sz="1600" dirty="0"/>
          </a:p>
        </p:txBody>
      </p:sp>
      <p:sp>
        <p:nvSpPr>
          <p:cNvPr id="25" name="Shape 23"/>
          <p:cNvSpPr/>
          <p:nvPr/>
        </p:nvSpPr>
        <p:spPr>
          <a:xfrm>
            <a:off x="950976" y="3538728"/>
            <a:ext cx="10213848" cy="576072"/>
          </a:xfrm>
          <a:prstGeom prst="roundRect">
            <a:avLst>
              <a:gd name="adj" fmla="val 23810"/>
            </a:avLst>
          </a:prstGeom>
          <a:solidFill>
            <a:srgbClr val="1A243A"/>
          </a:solidFill>
          <a:ln w="12700">
            <a:solidFill>
              <a:srgbClr val="1A243A"/>
            </a:solidFill>
            <a:prstDash val="solid"/>
          </a:ln>
        </p:spPr>
        <p:txBody>
          <a:bodyPr/>
          <a:lstStyle/>
          <a:p>
            <a:endParaRPr/>
          </a:p>
        </p:txBody>
      </p:sp>
      <p:sp>
        <p:nvSpPr>
          <p:cNvPr id="26" name="Text 24"/>
          <p:cNvSpPr/>
          <p:nvPr/>
        </p:nvSpPr>
        <p:spPr>
          <a:xfrm>
            <a:off x="1143000" y="3675888"/>
            <a:ext cx="2148840" cy="283464"/>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Inter" pitchFamily="34" charset="0"/>
                <a:ea typeface="Inter" pitchFamily="34" charset="-122"/>
                <a:cs typeface="Inter" pitchFamily="34" charset="-120"/>
              </a:rPr>
              <a:t>3 · PYTHON APP</a:t>
            </a:r>
            <a:endParaRPr lang="en-US" sz="1400" dirty="0"/>
          </a:p>
        </p:txBody>
      </p:sp>
      <p:sp>
        <p:nvSpPr>
          <p:cNvPr id="27" name="Text 25"/>
          <p:cNvSpPr/>
          <p:nvPr/>
        </p:nvSpPr>
        <p:spPr>
          <a:xfrm>
            <a:off x="3310128" y="3657600"/>
            <a:ext cx="7543800" cy="320040"/>
          </a:xfrm>
          <a:prstGeom prst="rect">
            <a:avLst/>
          </a:prstGeom>
          <a:noFill/>
          <a:ln/>
        </p:spPr>
        <p:txBody>
          <a:bodyPr wrap="square" lIns="0" tIns="0" rIns="0" bIns="0" rtlCol="0" anchor="ctr">
            <a:normAutofit/>
          </a:bodyPr>
          <a:lstStyle/>
          <a:p>
            <a:pPr marL="0" indent="0" algn="l">
              <a:buNone/>
            </a:pPr>
            <a:r>
              <a:rPr lang="en-US" sz="1600" dirty="0">
                <a:solidFill>
                  <a:srgbClr val="FFFFFF"/>
                </a:solidFill>
                <a:latin typeface="Inter" pitchFamily="34" charset="0"/>
                <a:ea typeface="Inter" pitchFamily="34" charset="-122"/>
                <a:cs typeface="Inter" pitchFamily="34" charset="-120"/>
              </a:rPr>
              <a:t>Runs the function</a:t>
            </a:r>
            <a:endParaRPr lang="en-US" sz="1600" dirty="0"/>
          </a:p>
        </p:txBody>
      </p:sp>
      <p:sp>
        <p:nvSpPr>
          <p:cNvPr id="28" name="Shape 26"/>
          <p:cNvSpPr/>
          <p:nvPr/>
        </p:nvSpPr>
        <p:spPr>
          <a:xfrm>
            <a:off x="950976" y="4288536"/>
            <a:ext cx="10213848" cy="576072"/>
          </a:xfrm>
          <a:prstGeom prst="roundRect">
            <a:avLst>
              <a:gd name="adj" fmla="val 23810"/>
            </a:avLst>
          </a:prstGeom>
          <a:solidFill>
            <a:srgbClr val="FFFFFF"/>
          </a:solidFill>
          <a:ln w="12700">
            <a:solidFill>
              <a:srgbClr val="DDE5E1"/>
            </a:solidFill>
            <a:prstDash val="solid"/>
          </a:ln>
        </p:spPr>
        <p:txBody>
          <a:bodyPr/>
          <a:lstStyle/>
          <a:p>
            <a:endParaRPr/>
          </a:p>
        </p:txBody>
      </p:sp>
      <p:sp>
        <p:nvSpPr>
          <p:cNvPr id="29" name="Text 27"/>
          <p:cNvSpPr/>
          <p:nvPr/>
        </p:nvSpPr>
        <p:spPr>
          <a:xfrm>
            <a:off x="1143000" y="4425696"/>
            <a:ext cx="2148840" cy="283464"/>
          </a:xfrm>
          <a:prstGeom prst="rect">
            <a:avLst/>
          </a:prstGeom>
          <a:noFill/>
          <a:ln/>
        </p:spPr>
        <p:txBody>
          <a:bodyPr wrap="square" lIns="0" tIns="0" rIns="0" bIns="0" rtlCol="0" anchor="ctr">
            <a:normAutofit/>
          </a:bodyPr>
          <a:lstStyle/>
          <a:p>
            <a:pPr marL="0" indent="0" algn="l">
              <a:buNone/>
            </a:pPr>
            <a:r>
              <a:rPr lang="en-US" sz="1400" b="1" dirty="0">
                <a:solidFill>
                  <a:srgbClr val="2B6450"/>
                </a:solidFill>
                <a:latin typeface="Inter" pitchFamily="34" charset="0"/>
                <a:ea typeface="Inter" pitchFamily="34" charset="-122"/>
                <a:cs typeface="Inter" pitchFamily="34" charset="-120"/>
              </a:rPr>
              <a:t>4 · RESULT</a:t>
            </a:r>
            <a:endParaRPr lang="en-US" sz="1400" dirty="0"/>
          </a:p>
        </p:txBody>
      </p:sp>
      <p:sp>
        <p:nvSpPr>
          <p:cNvPr id="30" name="Text 28"/>
          <p:cNvSpPr/>
          <p:nvPr/>
        </p:nvSpPr>
        <p:spPr>
          <a:xfrm>
            <a:off x="3310128" y="4407408"/>
            <a:ext cx="7543800" cy="320040"/>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Returns simulated readings</a:t>
            </a:r>
            <a:endParaRPr lang="en-US" sz="1600" dirty="0"/>
          </a:p>
        </p:txBody>
      </p:sp>
      <p:sp>
        <p:nvSpPr>
          <p:cNvPr id="31" name="Shape 29"/>
          <p:cNvSpPr/>
          <p:nvPr/>
        </p:nvSpPr>
        <p:spPr>
          <a:xfrm>
            <a:off x="950976" y="5038344"/>
            <a:ext cx="10213848" cy="576072"/>
          </a:xfrm>
          <a:prstGeom prst="roundRect">
            <a:avLst>
              <a:gd name="adj" fmla="val 23810"/>
            </a:avLst>
          </a:prstGeom>
          <a:solidFill>
            <a:srgbClr val="FFFFFF"/>
          </a:solidFill>
          <a:ln w="12700">
            <a:solidFill>
              <a:srgbClr val="DDE5E1"/>
            </a:solidFill>
            <a:prstDash val="solid"/>
          </a:ln>
        </p:spPr>
        <p:txBody>
          <a:bodyPr/>
          <a:lstStyle/>
          <a:p>
            <a:endParaRPr/>
          </a:p>
        </p:txBody>
      </p:sp>
      <p:sp>
        <p:nvSpPr>
          <p:cNvPr id="32" name="Text 30"/>
          <p:cNvSpPr/>
          <p:nvPr/>
        </p:nvSpPr>
        <p:spPr>
          <a:xfrm>
            <a:off x="1143000" y="5175504"/>
            <a:ext cx="2148840" cy="283464"/>
          </a:xfrm>
          <a:prstGeom prst="rect">
            <a:avLst/>
          </a:prstGeom>
          <a:noFill/>
          <a:ln/>
        </p:spPr>
        <p:txBody>
          <a:bodyPr wrap="square" lIns="0" tIns="0" rIns="0" bIns="0" rtlCol="0" anchor="ctr">
            <a:normAutofit/>
          </a:bodyPr>
          <a:lstStyle/>
          <a:p>
            <a:pPr marL="0" indent="0" algn="l">
              <a:buNone/>
            </a:pPr>
            <a:r>
              <a:rPr lang="en-US" sz="1400" b="1" dirty="0">
                <a:solidFill>
                  <a:srgbClr val="2B6450"/>
                </a:solidFill>
                <a:latin typeface="Inter" pitchFamily="34" charset="0"/>
                <a:ea typeface="Inter" pitchFamily="34" charset="-122"/>
                <a:cs typeface="Inter" pitchFamily="34" charset="-120"/>
              </a:rPr>
              <a:t>5 · LLM</a:t>
            </a:r>
            <a:endParaRPr lang="en-US" sz="1400" dirty="0"/>
          </a:p>
        </p:txBody>
      </p:sp>
      <p:sp>
        <p:nvSpPr>
          <p:cNvPr id="33" name="Text 31"/>
          <p:cNvSpPr/>
          <p:nvPr/>
        </p:nvSpPr>
        <p:spPr>
          <a:xfrm>
            <a:off x="3310128" y="5157216"/>
            <a:ext cx="7543800" cy="320040"/>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Explains what was found</a:t>
            </a:r>
            <a:endParaRPr lang="en-US" sz="16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09421"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144829"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GROUNDING</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sz="2900" b="1">
                <a:solidFill>
                  <a:srgbClr val="1A243A"/>
                </a:solidFill>
                <a:latin typeface="Inter"/>
              </a:rPr>
              <a:t>RAG: search first, answer with evidence</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sz="1500">
                <a:solidFill>
                  <a:srgbClr val="566673"/>
                </a:solidFill>
                <a:latin typeface="Inter"/>
              </a:rPr>
              <a:t>Retrieval-Augmented Generation (RAG) finds relevant sources before answering.</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13  /  32</a:t>
            </a:r>
            <a:endParaRPr lang="en-US" sz="900" dirty="0"/>
          </a:p>
        </p:txBody>
      </p:sp>
      <p:pic>
        <p:nvPicPr>
          <p:cNvPr id="19" name="Image 0" descr="BEA_MASCOT_gear"/>
          <p:cNvPicPr>
            <a:picLocks noChangeAspect="1"/>
          </p:cNvPicPr>
          <p:nvPr/>
        </p:nvPicPr>
        <p:blipFill>
          <a:blip r:embed="rId3"/>
          <a:stretch>
            <a:fillRect/>
          </a:stretch>
        </p:blipFill>
        <p:spPr>
          <a:xfrm>
            <a:off x="9098280" y="2103120"/>
            <a:ext cx="2112264" cy="2400300"/>
          </a:xfrm>
          <a:prstGeom prst="rect">
            <a:avLst/>
          </a:prstGeom>
        </p:spPr>
      </p:pic>
      <p:sp>
        <p:nvSpPr>
          <p:cNvPr id="20" name="Shape 17"/>
          <p:cNvSpPr/>
          <p:nvPr/>
        </p:nvSpPr>
        <p:spPr>
          <a:xfrm>
            <a:off x="731520" y="2322576"/>
            <a:ext cx="7050024" cy="3255264"/>
          </a:xfrm>
          <a:prstGeom prst="roundRect">
            <a:avLst>
              <a:gd name="adj" fmla="val 4213"/>
            </a:avLst>
          </a:prstGeom>
          <a:solidFill>
            <a:srgbClr val="FFFFFF"/>
          </a:solidFill>
          <a:ln w="12700">
            <a:solidFill>
              <a:srgbClr val="DDE5E1"/>
            </a:solidFill>
            <a:prstDash val="solid"/>
          </a:ln>
        </p:spPr>
        <p:txBody>
          <a:bodyPr/>
          <a:lstStyle/>
          <a:p>
            <a:endParaRPr/>
          </a:p>
        </p:txBody>
      </p:sp>
      <p:sp>
        <p:nvSpPr>
          <p:cNvPr id="21" name="Text 18"/>
          <p:cNvSpPr/>
          <p:nvPr/>
        </p:nvSpPr>
        <p:spPr>
          <a:xfrm>
            <a:off x="1051560" y="2633472"/>
            <a:ext cx="6419088" cy="448056"/>
          </a:xfrm>
          <a:prstGeom prst="rect">
            <a:avLst/>
          </a:prstGeom>
          <a:noFill/>
          <a:ln/>
        </p:spPr>
        <p:txBody>
          <a:bodyPr wrap="square" lIns="0" tIns="0" rIns="0" bIns="0" rtlCol="0" anchor="ctr">
            <a:normAutofit/>
          </a:bodyPr>
          <a:lstStyle/>
          <a:p>
            <a:pPr marL="0" indent="0" algn="l">
              <a:buNone/>
            </a:pPr>
            <a:r>
              <a:rPr lang="en-US" sz="2300" b="1" dirty="0">
                <a:solidFill>
                  <a:srgbClr val="172337"/>
                </a:solidFill>
                <a:latin typeface="Inter" pitchFamily="34" charset="0"/>
                <a:ea typeface="Inter" pitchFamily="34" charset="-122"/>
                <a:cs typeface="Inter" pitchFamily="34" charset="-120"/>
              </a:rPr>
              <a:t>A maintenance question</a:t>
            </a:r>
            <a:endParaRPr lang="en-US" sz="2300" dirty="0"/>
          </a:p>
        </p:txBody>
      </p:sp>
      <p:sp>
        <p:nvSpPr>
          <p:cNvPr id="22" name="Text 19"/>
          <p:cNvSpPr/>
          <p:nvPr/>
        </p:nvSpPr>
        <p:spPr>
          <a:xfrm>
            <a:off x="1051560" y="3328416"/>
            <a:ext cx="6291072" cy="365760"/>
          </a:xfrm>
          <a:prstGeom prst="rect">
            <a:avLst/>
          </a:prstGeom>
          <a:noFill/>
          <a:ln/>
        </p:spPr>
        <p:txBody>
          <a:bodyPr wrap="square" lIns="0" tIns="0" rIns="0" bIns="0" rtlCol="0" anchor="ctr">
            <a:normAutofit/>
          </a:bodyPr>
          <a:lstStyle/>
          <a:p>
            <a:pPr marL="0" indent="0" algn="l">
              <a:buNone/>
            </a:pPr>
            <a:r>
              <a:rPr lang="en-US" sz="2100" dirty="0">
                <a:solidFill>
                  <a:srgbClr val="2B6450"/>
                </a:solidFill>
                <a:latin typeface="Inter" pitchFamily="34" charset="0"/>
                <a:ea typeface="Inter" pitchFamily="34" charset="-122"/>
                <a:cs typeface="Inter" pitchFamily="34" charset="-120"/>
              </a:rPr>
              <a:t>↓   Search the document</a:t>
            </a:r>
            <a:endParaRPr lang="en-US" sz="2100" dirty="0"/>
          </a:p>
        </p:txBody>
      </p:sp>
      <p:sp>
        <p:nvSpPr>
          <p:cNvPr id="23" name="Text 20"/>
          <p:cNvSpPr/>
          <p:nvPr/>
        </p:nvSpPr>
        <p:spPr>
          <a:xfrm>
            <a:off x="1051560" y="3995928"/>
            <a:ext cx="6291072" cy="365760"/>
          </a:xfrm>
          <a:prstGeom prst="rect">
            <a:avLst/>
          </a:prstGeom>
          <a:noFill/>
          <a:ln/>
        </p:spPr>
        <p:txBody>
          <a:bodyPr wrap="square" lIns="0" tIns="0" rIns="0" bIns="0" rtlCol="0" anchor="ctr">
            <a:normAutofit/>
          </a:bodyPr>
          <a:lstStyle/>
          <a:p>
            <a:pPr marL="0" indent="0" algn="l">
              <a:buNone/>
            </a:pPr>
            <a:r>
              <a:rPr lang="en-US" sz="2100" dirty="0">
                <a:solidFill>
                  <a:srgbClr val="2B6450"/>
                </a:solidFill>
                <a:latin typeface="Inter" pitchFamily="34" charset="0"/>
                <a:ea typeface="Inter" pitchFamily="34" charset="-122"/>
                <a:cs typeface="Inter" pitchFamily="34" charset="-120"/>
              </a:rPr>
              <a:t>↓   Retrieve relevant passage</a:t>
            </a:r>
            <a:endParaRPr lang="en-US" sz="2100" dirty="0"/>
          </a:p>
        </p:txBody>
      </p:sp>
      <p:sp>
        <p:nvSpPr>
          <p:cNvPr id="24" name="Text 21"/>
          <p:cNvSpPr/>
          <p:nvPr/>
        </p:nvSpPr>
        <p:spPr>
          <a:xfrm>
            <a:off x="1051560" y="4672584"/>
            <a:ext cx="6291072" cy="365760"/>
          </a:xfrm>
          <a:prstGeom prst="rect">
            <a:avLst/>
          </a:prstGeom>
          <a:noFill/>
          <a:ln/>
        </p:spPr>
        <p:txBody>
          <a:bodyPr wrap="square" lIns="0" tIns="0" rIns="0" bIns="0" rtlCol="0" anchor="ctr">
            <a:normAutofit/>
          </a:bodyPr>
          <a:lstStyle/>
          <a:p>
            <a:pPr marL="0" indent="0" algn="l">
              <a:buNone/>
            </a:pPr>
            <a:r>
              <a:rPr lang="en-US" sz="2100" dirty="0">
                <a:solidFill>
                  <a:srgbClr val="2B6450"/>
                </a:solidFill>
                <a:latin typeface="Inter" pitchFamily="34" charset="0"/>
                <a:ea typeface="Inter" pitchFamily="34" charset="-122"/>
                <a:cs typeface="Inter" pitchFamily="34" charset="-120"/>
              </a:rPr>
              <a:t>↓   Explain with evidence</a:t>
            </a:r>
            <a:endParaRPr lang="en-US" sz="2100" dirty="0"/>
          </a:p>
        </p:txBody>
      </p:sp>
      <p:sp>
        <p:nvSpPr>
          <p:cNvPr id="25" name="Shape 22"/>
          <p:cNvSpPr/>
          <p:nvPr/>
        </p:nvSpPr>
        <p:spPr>
          <a:xfrm>
            <a:off x="8549640" y="5047488"/>
            <a:ext cx="2816352" cy="320040"/>
          </a:xfrm>
          <a:prstGeom prst="roundRect">
            <a:avLst>
              <a:gd name="adj" fmla="val 42857"/>
            </a:avLst>
          </a:prstGeom>
          <a:solidFill>
            <a:srgbClr val="FFE9EB"/>
          </a:solidFill>
          <a:ln w="12700">
            <a:solidFill>
              <a:srgbClr val="FFE9EB"/>
            </a:solidFill>
            <a:prstDash val="solid"/>
          </a:ln>
        </p:spPr>
        <p:txBody>
          <a:bodyPr/>
          <a:lstStyle/>
          <a:p>
            <a:endParaRPr/>
          </a:p>
        </p:txBody>
      </p:sp>
      <p:sp>
        <p:nvSpPr>
          <p:cNvPr id="26" name="Text 23"/>
          <p:cNvSpPr/>
          <p:nvPr/>
        </p:nvSpPr>
        <p:spPr>
          <a:xfrm>
            <a:off x="8631936" y="5070348"/>
            <a:ext cx="265176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E04149"/>
                </a:solidFill>
                <a:latin typeface="Inter" pitchFamily="34" charset="0"/>
                <a:ea typeface="Inter" pitchFamily="34" charset="-122"/>
                <a:cs typeface="Inter" pitchFamily="34" charset="-120"/>
              </a:rPr>
              <a:t>RAG ≠ AUTOMATICALLY CORRECT</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757477"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592885"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STATE &amp; MEMORY</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What happened earlier in the investigation?</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An agent needs to retain task information across steps.</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14  /  32</a:t>
            </a:r>
            <a:endParaRPr lang="en-US" sz="900" dirty="0"/>
          </a:p>
        </p:txBody>
      </p:sp>
      <p:sp>
        <p:nvSpPr>
          <p:cNvPr id="19" name="Shape 17"/>
          <p:cNvSpPr/>
          <p:nvPr/>
        </p:nvSpPr>
        <p:spPr>
          <a:xfrm>
            <a:off x="694944" y="2679192"/>
            <a:ext cx="2587752" cy="2157984"/>
          </a:xfrm>
          <a:prstGeom prst="roundRect">
            <a:avLst>
              <a:gd name="adj" fmla="val 6356"/>
            </a:avLst>
          </a:prstGeom>
          <a:solidFill>
            <a:srgbClr val="FFFFFF"/>
          </a:solidFill>
          <a:ln w="12700">
            <a:solidFill>
              <a:srgbClr val="DDE5E1"/>
            </a:solidFill>
            <a:prstDash val="solid"/>
          </a:ln>
        </p:spPr>
        <p:txBody>
          <a:bodyPr/>
          <a:lstStyle/>
          <a:p>
            <a:endParaRPr/>
          </a:p>
        </p:txBody>
      </p:sp>
      <p:sp>
        <p:nvSpPr>
          <p:cNvPr id="20" name="Shape 18"/>
          <p:cNvSpPr/>
          <p:nvPr/>
        </p:nvSpPr>
        <p:spPr>
          <a:xfrm>
            <a:off x="859536" y="2862072"/>
            <a:ext cx="20848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21" name="Text 19"/>
          <p:cNvSpPr/>
          <p:nvPr/>
        </p:nvSpPr>
        <p:spPr>
          <a:xfrm>
            <a:off x="941832" y="2884932"/>
            <a:ext cx="19202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REQUEST</a:t>
            </a:r>
            <a:endParaRPr lang="en-US" sz="1000" dirty="0"/>
          </a:p>
        </p:txBody>
      </p:sp>
      <p:sp>
        <p:nvSpPr>
          <p:cNvPr id="22" name="Text 20"/>
          <p:cNvSpPr/>
          <p:nvPr/>
        </p:nvSpPr>
        <p:spPr>
          <a:xfrm>
            <a:off x="868680" y="3456432"/>
            <a:ext cx="2212848" cy="960120"/>
          </a:xfrm>
          <a:prstGeom prst="rect">
            <a:avLst/>
          </a:prstGeom>
          <a:noFill/>
          <a:ln/>
        </p:spPr>
        <p:txBody>
          <a:bodyPr wrap="square" lIns="0" tIns="0" rIns="0" bIns="0" rtlCol="0" anchor="t">
            <a:normAutofit/>
          </a:bodyPr>
          <a:lstStyle/>
          <a:p>
            <a:pPr marL="0" indent="0" algn="ctr">
              <a:buNone/>
            </a:pPr>
            <a:r>
              <a:rPr lang="en-US" sz="1900" b="1" dirty="0">
                <a:solidFill>
                  <a:srgbClr val="1A243A"/>
                </a:solidFill>
                <a:latin typeface="Inter" pitchFamily="34" charset="0"/>
                <a:ea typeface="Inter" pitchFamily="34" charset="-122"/>
                <a:cs typeface="Inter" pitchFamily="34" charset="-120"/>
              </a:rPr>
              <a:t>Investigate AHU-01</a:t>
            </a:r>
            <a:endParaRPr lang="en-US" sz="1900" dirty="0"/>
          </a:p>
        </p:txBody>
      </p:sp>
      <p:sp>
        <p:nvSpPr>
          <p:cNvPr id="23" name="Shape 21"/>
          <p:cNvSpPr/>
          <p:nvPr/>
        </p:nvSpPr>
        <p:spPr>
          <a:xfrm>
            <a:off x="3575304" y="2679192"/>
            <a:ext cx="2587752" cy="2157984"/>
          </a:xfrm>
          <a:prstGeom prst="roundRect">
            <a:avLst>
              <a:gd name="adj" fmla="val 6356"/>
            </a:avLst>
          </a:prstGeom>
          <a:solidFill>
            <a:srgbClr val="F3F5F3"/>
          </a:solidFill>
          <a:ln w="12700">
            <a:solidFill>
              <a:srgbClr val="DDE5E1"/>
            </a:solidFill>
            <a:prstDash val="solid"/>
          </a:ln>
        </p:spPr>
        <p:txBody>
          <a:bodyPr/>
          <a:lstStyle/>
          <a:p>
            <a:endParaRPr/>
          </a:p>
        </p:txBody>
      </p:sp>
      <p:sp>
        <p:nvSpPr>
          <p:cNvPr id="24" name="Shape 22"/>
          <p:cNvSpPr/>
          <p:nvPr/>
        </p:nvSpPr>
        <p:spPr>
          <a:xfrm>
            <a:off x="3739896" y="2862072"/>
            <a:ext cx="2084832" cy="320040"/>
          </a:xfrm>
          <a:prstGeom prst="roundRect">
            <a:avLst>
              <a:gd name="adj" fmla="val 42857"/>
            </a:avLst>
          </a:prstGeom>
          <a:solidFill>
            <a:srgbClr val="FFE9EB"/>
          </a:solidFill>
          <a:ln w="12700">
            <a:solidFill>
              <a:srgbClr val="FFE9EB"/>
            </a:solidFill>
            <a:prstDash val="solid"/>
          </a:ln>
        </p:spPr>
        <p:txBody>
          <a:bodyPr/>
          <a:lstStyle/>
          <a:p>
            <a:endParaRPr/>
          </a:p>
        </p:txBody>
      </p:sp>
      <p:sp>
        <p:nvSpPr>
          <p:cNvPr id="25" name="Text 23"/>
          <p:cNvSpPr/>
          <p:nvPr/>
        </p:nvSpPr>
        <p:spPr>
          <a:xfrm>
            <a:off x="3822192" y="2884932"/>
            <a:ext cx="19202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E04149"/>
                </a:solidFill>
                <a:latin typeface="Inter" pitchFamily="34" charset="0"/>
                <a:ea typeface="Inter" pitchFamily="34" charset="-122"/>
                <a:cs typeface="Inter" pitchFamily="34" charset="-120"/>
              </a:rPr>
              <a:t>OBSERVATION</a:t>
            </a:r>
            <a:endParaRPr lang="en-US" sz="1000" dirty="0"/>
          </a:p>
        </p:txBody>
      </p:sp>
      <p:sp>
        <p:nvSpPr>
          <p:cNvPr id="26" name="Text 24"/>
          <p:cNvSpPr/>
          <p:nvPr/>
        </p:nvSpPr>
        <p:spPr>
          <a:xfrm>
            <a:off x="3749040" y="3456432"/>
            <a:ext cx="2212848" cy="960120"/>
          </a:xfrm>
          <a:prstGeom prst="rect">
            <a:avLst/>
          </a:prstGeom>
          <a:noFill/>
          <a:ln/>
        </p:spPr>
        <p:txBody>
          <a:bodyPr wrap="square" lIns="0" tIns="0" rIns="0" bIns="0" rtlCol="0" anchor="t">
            <a:normAutofit/>
          </a:bodyPr>
          <a:lstStyle/>
          <a:p>
            <a:pPr marL="0" indent="0" algn="ctr">
              <a:buNone/>
            </a:pPr>
            <a:r>
              <a:rPr lang="en-US" sz="1900" b="1" dirty="0">
                <a:solidFill>
                  <a:srgbClr val="1A243A"/>
                </a:solidFill>
                <a:latin typeface="Inter" pitchFamily="34" charset="0"/>
                <a:ea typeface="Inter" pitchFamily="34" charset="-122"/>
                <a:cs typeface="Inter" pitchFamily="34" charset="-120"/>
              </a:rPr>
              <a:t>Airflow is low</a:t>
            </a:r>
            <a:endParaRPr lang="en-US" sz="1900" dirty="0"/>
          </a:p>
        </p:txBody>
      </p:sp>
      <p:sp>
        <p:nvSpPr>
          <p:cNvPr id="27" name="Shape 25"/>
          <p:cNvSpPr/>
          <p:nvPr/>
        </p:nvSpPr>
        <p:spPr>
          <a:xfrm>
            <a:off x="6455664" y="2679192"/>
            <a:ext cx="2587752" cy="2157984"/>
          </a:xfrm>
          <a:prstGeom prst="roundRect">
            <a:avLst>
              <a:gd name="adj" fmla="val 6356"/>
            </a:avLst>
          </a:prstGeom>
          <a:solidFill>
            <a:srgbClr val="FFFFFF"/>
          </a:solidFill>
          <a:ln w="12700">
            <a:solidFill>
              <a:srgbClr val="DDE5E1"/>
            </a:solidFill>
            <a:prstDash val="solid"/>
          </a:ln>
        </p:spPr>
        <p:txBody>
          <a:bodyPr/>
          <a:lstStyle/>
          <a:p>
            <a:endParaRPr/>
          </a:p>
        </p:txBody>
      </p:sp>
      <p:sp>
        <p:nvSpPr>
          <p:cNvPr id="28" name="Shape 26"/>
          <p:cNvSpPr/>
          <p:nvPr/>
        </p:nvSpPr>
        <p:spPr>
          <a:xfrm>
            <a:off x="6620256" y="2862072"/>
            <a:ext cx="20848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29" name="Text 27"/>
          <p:cNvSpPr/>
          <p:nvPr/>
        </p:nvSpPr>
        <p:spPr>
          <a:xfrm>
            <a:off x="6702552" y="2884932"/>
            <a:ext cx="19202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HISTORY</a:t>
            </a:r>
            <a:endParaRPr lang="en-US" sz="1000" dirty="0"/>
          </a:p>
        </p:txBody>
      </p:sp>
      <p:sp>
        <p:nvSpPr>
          <p:cNvPr id="30" name="Text 28"/>
          <p:cNvSpPr/>
          <p:nvPr/>
        </p:nvSpPr>
        <p:spPr>
          <a:xfrm>
            <a:off x="6629400" y="3456432"/>
            <a:ext cx="2212848" cy="960120"/>
          </a:xfrm>
          <a:prstGeom prst="rect">
            <a:avLst/>
          </a:prstGeom>
          <a:noFill/>
          <a:ln/>
        </p:spPr>
        <p:txBody>
          <a:bodyPr wrap="square" lIns="0" tIns="0" rIns="0" bIns="0" rtlCol="0" anchor="t">
            <a:normAutofit/>
          </a:bodyPr>
          <a:lstStyle/>
          <a:p>
            <a:pPr marL="0" indent="0" algn="ctr">
              <a:buNone/>
            </a:pPr>
            <a:r>
              <a:rPr lang="en-US" sz="1900" b="1" dirty="0">
                <a:solidFill>
                  <a:srgbClr val="1A243A"/>
                </a:solidFill>
                <a:latin typeface="Inter" pitchFamily="34" charset="0"/>
                <a:ea typeface="Inter" pitchFamily="34" charset="-122"/>
                <a:cs typeface="Inter" pitchFamily="34" charset="-120"/>
              </a:rPr>
              <a:t>Filter service overdue</a:t>
            </a:r>
            <a:endParaRPr lang="en-US" sz="1900" dirty="0"/>
          </a:p>
        </p:txBody>
      </p:sp>
      <p:sp>
        <p:nvSpPr>
          <p:cNvPr id="31" name="Shape 29"/>
          <p:cNvSpPr/>
          <p:nvPr/>
        </p:nvSpPr>
        <p:spPr>
          <a:xfrm>
            <a:off x="9336024" y="2679192"/>
            <a:ext cx="2587752" cy="2157984"/>
          </a:xfrm>
          <a:prstGeom prst="roundRect">
            <a:avLst>
              <a:gd name="adj" fmla="val 6356"/>
            </a:avLst>
          </a:prstGeom>
          <a:solidFill>
            <a:srgbClr val="F3F5F3"/>
          </a:solidFill>
          <a:ln w="12700">
            <a:solidFill>
              <a:srgbClr val="DDE5E1"/>
            </a:solidFill>
            <a:prstDash val="solid"/>
          </a:ln>
        </p:spPr>
        <p:txBody>
          <a:bodyPr/>
          <a:lstStyle/>
          <a:p>
            <a:endParaRPr/>
          </a:p>
        </p:txBody>
      </p:sp>
      <p:sp>
        <p:nvSpPr>
          <p:cNvPr id="32" name="Shape 30"/>
          <p:cNvSpPr/>
          <p:nvPr/>
        </p:nvSpPr>
        <p:spPr>
          <a:xfrm>
            <a:off x="9500616" y="2862072"/>
            <a:ext cx="2084832" cy="320040"/>
          </a:xfrm>
          <a:prstGeom prst="roundRect">
            <a:avLst>
              <a:gd name="adj" fmla="val 42857"/>
            </a:avLst>
          </a:prstGeom>
          <a:solidFill>
            <a:srgbClr val="FFE9EB"/>
          </a:solidFill>
          <a:ln w="12700">
            <a:solidFill>
              <a:srgbClr val="FFE9EB"/>
            </a:solidFill>
            <a:prstDash val="solid"/>
          </a:ln>
        </p:spPr>
        <p:txBody>
          <a:bodyPr/>
          <a:lstStyle/>
          <a:p>
            <a:endParaRPr/>
          </a:p>
        </p:txBody>
      </p:sp>
      <p:sp>
        <p:nvSpPr>
          <p:cNvPr id="33" name="Text 31"/>
          <p:cNvSpPr/>
          <p:nvPr/>
        </p:nvSpPr>
        <p:spPr>
          <a:xfrm>
            <a:off x="9582912" y="2884932"/>
            <a:ext cx="19202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E04149"/>
                </a:solidFill>
                <a:latin typeface="Inter" pitchFamily="34" charset="0"/>
                <a:ea typeface="Inter" pitchFamily="34" charset="-122"/>
                <a:cs typeface="Inter" pitchFamily="34" charset="-120"/>
              </a:rPr>
              <a:t>NEXT ACTION</a:t>
            </a:r>
            <a:endParaRPr lang="en-US" sz="1000" dirty="0"/>
          </a:p>
        </p:txBody>
      </p:sp>
      <p:sp>
        <p:nvSpPr>
          <p:cNvPr id="34" name="Text 32"/>
          <p:cNvSpPr/>
          <p:nvPr/>
        </p:nvSpPr>
        <p:spPr>
          <a:xfrm>
            <a:off x="9509760" y="3456432"/>
            <a:ext cx="2212848" cy="960120"/>
          </a:xfrm>
          <a:prstGeom prst="rect">
            <a:avLst/>
          </a:prstGeom>
          <a:noFill/>
          <a:ln/>
        </p:spPr>
        <p:txBody>
          <a:bodyPr wrap="square" lIns="0" tIns="0" rIns="0" bIns="0" rtlCol="0" anchor="t">
            <a:normAutofit/>
          </a:bodyPr>
          <a:lstStyle/>
          <a:p>
            <a:pPr marL="0" indent="0" algn="ctr">
              <a:buNone/>
            </a:pPr>
            <a:r>
              <a:rPr lang="en-US" sz="1900" b="1" dirty="0">
                <a:solidFill>
                  <a:srgbClr val="1A243A"/>
                </a:solidFill>
                <a:latin typeface="Inter" pitchFamily="34" charset="0"/>
                <a:ea typeface="Inter" pitchFamily="34" charset="-122"/>
                <a:cs typeface="Inter" pitchFamily="34" charset="-120"/>
              </a:rPr>
              <a:t>Recommend engineer inspection</a:t>
            </a:r>
            <a:endParaRPr lang="en-US" sz="1900" dirty="0"/>
          </a:p>
        </p:txBody>
      </p:sp>
      <p:sp>
        <p:nvSpPr>
          <p:cNvPr id="35" name="Text 33"/>
          <p:cNvSpPr/>
          <p:nvPr/>
        </p:nvSpPr>
        <p:spPr>
          <a:xfrm>
            <a:off x="1097280" y="5312664"/>
            <a:ext cx="10058400" cy="420624"/>
          </a:xfrm>
          <a:prstGeom prst="rect">
            <a:avLst/>
          </a:prstGeom>
          <a:noFill/>
          <a:ln/>
        </p:spPr>
        <p:txBody>
          <a:bodyPr wrap="square" lIns="0" tIns="0" rIns="0" bIns="0" rtlCol="0" anchor="ctr">
            <a:normAutofit/>
          </a:bodyPr>
          <a:lstStyle/>
          <a:p>
            <a:pPr marL="0" indent="0" algn="ctr">
              <a:buNone/>
            </a:pPr>
            <a:r>
              <a:rPr lang="en-US" sz="2100" b="1" dirty="0">
                <a:solidFill>
                  <a:srgbClr val="2B6450"/>
                </a:solidFill>
                <a:latin typeface="Inter" pitchFamily="34" charset="0"/>
                <a:ea typeface="Inter" pitchFamily="34" charset="-122"/>
                <a:cs typeface="Inter" pitchFamily="34" charset="-120"/>
              </a:rPr>
              <a:t>Short-term state = what happened during the current task.</a:t>
            </a:r>
            <a:endParaRPr lang="en-US" sz="2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LIVE DEMO</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One app, five levels</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Every level of today's workshop runs live in the browser, step by step.</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15  /  32</a:t>
            </a:r>
            <a:endParaRPr lang="en-US" sz="900" dirty="0"/>
          </a:p>
        </p:txBody>
      </p:sp>
      <p:sp>
        <p:nvSpPr>
          <p:cNvPr id="19" name="Shape 17"/>
          <p:cNvSpPr/>
          <p:nvPr/>
        </p:nvSpPr>
        <p:spPr>
          <a:xfrm>
            <a:off x="667512" y="2286000"/>
            <a:ext cx="7443216" cy="3438144"/>
          </a:xfrm>
          <a:prstGeom prst="roundRect">
            <a:avLst>
              <a:gd name="adj" fmla="val 3989"/>
            </a:avLst>
          </a:prstGeom>
          <a:solidFill>
            <a:srgbClr val="14213B"/>
          </a:solidFill>
          <a:ln w="12700">
            <a:solidFill>
              <a:srgbClr val="14213B"/>
            </a:solidFill>
            <a:prstDash val="solid"/>
          </a:ln>
        </p:spPr>
        <p:txBody>
          <a:bodyPr/>
          <a:lstStyle/>
          <a:p>
            <a:endParaRPr/>
          </a:p>
        </p:txBody>
      </p:sp>
      <p:sp>
        <p:nvSpPr>
          <p:cNvPr id="20" name="Shape 18"/>
          <p:cNvSpPr/>
          <p:nvPr/>
        </p:nvSpPr>
        <p:spPr>
          <a:xfrm>
            <a:off x="667512" y="2286000"/>
            <a:ext cx="7443216" cy="356616"/>
          </a:xfrm>
          <a:prstGeom prst="roundRect">
            <a:avLst>
              <a:gd name="adj" fmla="val 38462"/>
            </a:avLst>
          </a:prstGeom>
          <a:solidFill>
            <a:srgbClr val="293A57"/>
          </a:solidFill>
          <a:ln w="12700">
            <a:solidFill>
              <a:srgbClr val="293A57"/>
            </a:solidFill>
            <a:prstDash val="solid"/>
          </a:ln>
        </p:spPr>
        <p:txBody>
          <a:bodyPr/>
          <a:lstStyle/>
          <a:p>
            <a:endParaRPr/>
          </a:p>
        </p:txBody>
      </p:sp>
      <p:sp>
        <p:nvSpPr>
          <p:cNvPr id="21" name="Shape 19"/>
          <p:cNvSpPr/>
          <p:nvPr/>
        </p:nvSpPr>
        <p:spPr>
          <a:xfrm>
            <a:off x="832104" y="2414016"/>
            <a:ext cx="91440" cy="91440"/>
          </a:xfrm>
          <a:prstGeom prst="ellipse">
            <a:avLst/>
          </a:prstGeom>
          <a:solidFill>
            <a:srgbClr val="E04149"/>
          </a:solidFill>
          <a:ln w="12700">
            <a:solidFill>
              <a:srgbClr val="E04149"/>
            </a:solidFill>
            <a:prstDash val="solid"/>
          </a:ln>
        </p:spPr>
        <p:txBody>
          <a:bodyPr/>
          <a:lstStyle/>
          <a:p>
            <a:endParaRPr/>
          </a:p>
        </p:txBody>
      </p:sp>
      <p:sp>
        <p:nvSpPr>
          <p:cNvPr id="22" name="Shape 20"/>
          <p:cNvSpPr/>
          <p:nvPr/>
        </p:nvSpPr>
        <p:spPr>
          <a:xfrm>
            <a:off x="996696" y="2414016"/>
            <a:ext cx="91440" cy="91440"/>
          </a:xfrm>
          <a:prstGeom prst="ellipse">
            <a:avLst/>
          </a:prstGeom>
          <a:solidFill>
            <a:srgbClr val="F9C74F"/>
          </a:solidFill>
          <a:ln w="12700">
            <a:solidFill>
              <a:srgbClr val="F9C74F"/>
            </a:solidFill>
            <a:prstDash val="solid"/>
          </a:ln>
        </p:spPr>
        <p:txBody>
          <a:bodyPr/>
          <a:lstStyle/>
          <a:p>
            <a:endParaRPr/>
          </a:p>
        </p:txBody>
      </p:sp>
      <p:sp>
        <p:nvSpPr>
          <p:cNvPr id="23" name="Shape 21"/>
          <p:cNvSpPr/>
          <p:nvPr/>
        </p:nvSpPr>
        <p:spPr>
          <a:xfrm>
            <a:off x="1161288" y="2414016"/>
            <a:ext cx="91440" cy="91440"/>
          </a:xfrm>
          <a:prstGeom prst="ellipse">
            <a:avLst/>
          </a:prstGeom>
          <a:solidFill>
            <a:srgbClr val="2B6450"/>
          </a:solidFill>
          <a:ln w="12700">
            <a:solidFill>
              <a:srgbClr val="2B6450"/>
            </a:solidFill>
            <a:prstDash val="solid"/>
          </a:ln>
        </p:spPr>
        <p:txBody>
          <a:bodyPr/>
          <a:lstStyle/>
          <a:p>
            <a:endParaRPr/>
          </a:p>
        </p:txBody>
      </p:sp>
      <p:sp>
        <p:nvSpPr>
          <p:cNvPr id="24" name="Text 22"/>
          <p:cNvSpPr/>
          <p:nvPr/>
        </p:nvSpPr>
        <p:spPr>
          <a:xfrm>
            <a:off x="1380744" y="2359152"/>
            <a:ext cx="6528816" cy="210312"/>
          </a:xfrm>
          <a:prstGeom prst="rect">
            <a:avLst/>
          </a:prstGeom>
          <a:noFill/>
          <a:ln/>
        </p:spPr>
        <p:txBody>
          <a:bodyPr wrap="square" lIns="0" tIns="0" rIns="0" bIns="0" rtlCol="0" anchor="ctr">
            <a:normAutofit/>
          </a:bodyPr>
          <a:lstStyle/>
          <a:p>
            <a:pPr marL="0" indent="0" algn="l">
              <a:buNone/>
            </a:pPr>
            <a:r>
              <a:rPr lang="en-US" sz="1000" b="1" dirty="0">
                <a:solidFill>
                  <a:srgbClr val="D6E3EF"/>
                </a:solidFill>
                <a:latin typeface="Inter" pitchFamily="34" charset="0"/>
                <a:ea typeface="Inter" pitchFamily="34" charset="-122"/>
                <a:cs typeface="Inter" pitchFamily="34" charset="-120"/>
              </a:rPr>
              <a:t>Demo app  ·  http://127.0.0.1:8791</a:t>
            </a:r>
            <a:endParaRPr lang="en-US" sz="1000" dirty="0"/>
          </a:p>
        </p:txBody>
      </p:sp>
      <p:pic>
        <p:nvPicPr>
          <p:cNvPr id="29" name="Demo screenshot" descr="The demo app: five levels in a sidebar, with Level 1 open showing a chat with the language model."/>
          <p:cNvPicPr>
            <a:picLocks noChangeAspect="1"/>
          </p:cNvPicPr>
          <p:nvPr/>
        </p:nvPicPr>
        <p:blipFill>
          <a:blip r:embed="rId2"/>
          <a:stretch>
            <a:fillRect/>
          </a:stretch>
        </p:blipFill>
        <p:spPr>
          <a:xfrm>
            <a:off x="762254" y="2642616"/>
            <a:ext cx="7253732" cy="2990088"/>
          </a:xfrm>
          <a:prstGeom prst="rect">
            <a:avLst/>
          </a:prstGeom>
        </p:spPr>
      </p:pic>
      <p:pic>
        <p:nvPicPr>
          <p:cNvPr id="26" name="Image 1" descr="BEA_MASCOT_chip"/>
          <p:cNvPicPr>
            <a:picLocks noChangeAspect="1"/>
          </p:cNvPicPr>
          <p:nvPr/>
        </p:nvPicPr>
        <p:blipFill>
          <a:blip r:embed="rId4"/>
          <a:stretch>
            <a:fillRect/>
          </a:stretch>
        </p:blipFill>
        <p:spPr>
          <a:xfrm>
            <a:off x="8997696" y="2487168"/>
            <a:ext cx="2048256" cy="2327564"/>
          </a:xfrm>
          <a:prstGeom prst="rect">
            <a:avLst/>
          </a:prstGeom>
        </p:spPr>
      </p:pic>
      <p:sp>
        <p:nvSpPr>
          <p:cNvPr id="27" name="Shape 23"/>
          <p:cNvSpPr/>
          <p:nvPr/>
        </p:nvSpPr>
        <p:spPr>
          <a:xfrm>
            <a:off x="8174736" y="4864608"/>
            <a:ext cx="3401568" cy="850392"/>
          </a:xfrm>
          <a:prstGeom prst="roundRect">
            <a:avLst>
              <a:gd name="adj" fmla="val 16129"/>
            </a:avLst>
          </a:prstGeom>
          <a:solidFill>
            <a:srgbClr val="D9F1E6"/>
          </a:solidFill>
          <a:ln w="12700">
            <a:solidFill>
              <a:srgbClr val="DDE5E1"/>
            </a:solidFill>
            <a:prstDash val="solid"/>
          </a:ln>
        </p:spPr>
        <p:txBody>
          <a:bodyPr/>
          <a:lstStyle/>
          <a:p>
            <a:endParaRPr/>
          </a:p>
        </p:txBody>
      </p:sp>
      <p:sp>
        <p:nvSpPr>
          <p:cNvPr id="28" name="Text 24"/>
          <p:cNvSpPr/>
          <p:nvPr/>
        </p:nvSpPr>
        <p:spPr>
          <a:xfrm>
            <a:off x="8403336" y="4992624"/>
            <a:ext cx="2944368" cy="594360"/>
          </a:xfrm>
          <a:prstGeom prst="rect">
            <a:avLst/>
          </a:prstGeom>
          <a:noFill/>
          <a:ln/>
        </p:spPr>
        <p:txBody>
          <a:bodyPr wrap="square" lIns="0" tIns="0" rIns="0" bIns="0" rtlCol="0" anchor="ctr">
            <a:normAutofit/>
          </a:bodyPr>
          <a:lstStyle/>
          <a:p>
            <a:pPr marL="0" indent="0" algn="l">
              <a:buNone/>
            </a:pPr>
            <a:r>
              <a:rPr lang="en-US" sz="1700" dirty="0">
                <a:solidFill>
                  <a:srgbClr val="1A243A"/>
                </a:solidFill>
                <a:latin typeface="Inter" pitchFamily="34" charset="0"/>
                <a:ea typeface="Inter" pitchFamily="34" charset="-122"/>
                <a:cs typeface="Inter" pitchFamily="34" charset="-120"/>
              </a:rPr>
              <a:t>Same AHU-01 case,</a:t>
            </a:r>
            <a:endParaRPr lang="en-US" sz="1700" dirty="0"/>
          </a:p>
          <a:p>
            <a:pPr marL="0" indent="0" algn="l">
              <a:buNone/>
            </a:pPr>
            <a:r>
              <a:rPr lang="en-US" sz="1700" dirty="0">
                <a:solidFill>
                  <a:srgbClr val="1A243A"/>
                </a:solidFill>
                <a:latin typeface="Inter" pitchFamily="34" charset="0"/>
                <a:ea typeface="Inter" pitchFamily="34" charset="-122"/>
                <a:cs typeface="Inter" pitchFamily="34" charset="-120"/>
              </a:rPr>
              <a:t>every step on screen.</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26"/>
                                  </p:tgtEl>
                                  <p:attrNameLst>
                                    <p:attrName>style.visibility</p:attrName>
                                  </p:attrNameLst>
                                </p:cBhvr>
                                <p:to>
                                  <p:strVal val="visible"/>
                                </p:to>
                              </p:set>
                              <p:animEffect transition="in" filter="fade">
                                <p:cBhvr>
                                  <p:cTn id="6" dur="650"/>
                                  <p:tgtEl>
                                    <p:spTgt spid="26"/>
                                  </p:tgtEl>
                                </p:cBhvr>
                              </p:animEffect>
                            </p:childTnLst>
                          </p:cTn>
                        </p:par>
                      </p:childTnLst>
                    </p:cTn>
                  </p:par>
                </p:childTnLst>
              </p:cTn>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A243A"/>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526177"/>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526177"/>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526177"/>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526177"/>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526177"/>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526177"/>
            </a:solidFill>
            <a:prstDash val="solid"/>
          </a:ln>
        </p:spPr>
        <p:txBody>
          <a:bodyPr/>
          <a:lstStyle/>
          <a:p>
            <a:endParaRPr/>
          </a:p>
        </p:txBody>
      </p:sp>
      <p:sp>
        <p:nvSpPr>
          <p:cNvPr id="8" name="Shape 6"/>
          <p:cNvSpPr/>
          <p:nvPr/>
        </p:nvSpPr>
        <p:spPr>
          <a:xfrm>
            <a:off x="10872216" y="475488"/>
            <a:ext cx="73152" cy="73152"/>
          </a:xfrm>
          <a:prstGeom prst="ellipse">
            <a:avLst/>
          </a:prstGeom>
          <a:solidFill>
            <a:srgbClr val="526177"/>
          </a:solidFill>
          <a:ln w="12700">
            <a:solidFill>
              <a:srgbClr val="526177"/>
            </a:solidFill>
            <a:prstDash val="solid"/>
          </a:ln>
        </p:spPr>
        <p:txBody>
          <a:bodyPr/>
          <a:lstStyle/>
          <a:p>
            <a:endParaRPr/>
          </a:p>
        </p:txBody>
      </p:sp>
      <p:sp>
        <p:nvSpPr>
          <p:cNvPr id="9" name="Shape 7"/>
          <p:cNvSpPr/>
          <p:nvPr/>
        </p:nvSpPr>
        <p:spPr>
          <a:xfrm>
            <a:off x="11512296" y="603504"/>
            <a:ext cx="73152" cy="73152"/>
          </a:xfrm>
          <a:prstGeom prst="ellipse">
            <a:avLst/>
          </a:prstGeom>
          <a:solidFill>
            <a:srgbClr val="526177"/>
          </a:solidFill>
          <a:ln w="12700">
            <a:solidFill>
              <a:srgbClr val="526177"/>
            </a:solidFill>
            <a:prstDash val="solid"/>
          </a:ln>
        </p:spPr>
        <p:txBody>
          <a:bodyPr/>
          <a:lstStyle/>
          <a:p>
            <a:endParaRPr/>
          </a:p>
        </p:txBody>
      </p:sp>
      <p:sp>
        <p:nvSpPr>
          <p:cNvPr id="10" name="Shape 8"/>
          <p:cNvSpPr/>
          <p:nvPr/>
        </p:nvSpPr>
        <p:spPr>
          <a:xfrm>
            <a:off x="530352" y="5879592"/>
            <a:ext cx="73152" cy="73152"/>
          </a:xfrm>
          <a:prstGeom prst="ellipse">
            <a:avLst/>
          </a:prstGeom>
          <a:solidFill>
            <a:srgbClr val="526177"/>
          </a:solidFill>
          <a:ln w="12700">
            <a:solidFill>
              <a:srgbClr val="526177"/>
            </a:solidFill>
            <a:prstDash val="solid"/>
          </a:ln>
        </p:spPr>
        <p:txBody>
          <a:bodyPr/>
          <a:lstStyle/>
          <a:p>
            <a:endParaRPr/>
          </a:p>
        </p:txBody>
      </p:sp>
      <p:sp>
        <p:nvSpPr>
          <p:cNvPr id="11" name="Shape 9"/>
          <p:cNvSpPr/>
          <p:nvPr/>
        </p:nvSpPr>
        <p:spPr>
          <a:xfrm>
            <a:off x="813816" y="5120640"/>
            <a:ext cx="73152" cy="73152"/>
          </a:xfrm>
          <a:prstGeom prst="ellipse">
            <a:avLst/>
          </a:prstGeom>
          <a:solidFill>
            <a:srgbClr val="526177"/>
          </a:solidFill>
          <a:ln w="12700">
            <a:solidFill>
              <a:srgbClr val="526177"/>
            </a:solidFill>
            <a:prstDash val="solid"/>
          </a:ln>
        </p:spPr>
        <p:txBody>
          <a:bodyPr/>
          <a:lstStyle/>
          <a:p>
            <a:endParaRPr/>
          </a:p>
        </p:txBody>
      </p:sp>
      <p:sp>
        <p:nvSpPr>
          <p:cNvPr id="12" name="Shape 10"/>
          <p:cNvSpPr/>
          <p:nvPr/>
        </p:nvSpPr>
        <p:spPr>
          <a:xfrm>
            <a:off x="502920" y="6519672"/>
            <a:ext cx="11173968" cy="0"/>
          </a:xfrm>
          <a:prstGeom prst="line">
            <a:avLst/>
          </a:prstGeom>
          <a:noFill/>
          <a:ln w="8890">
            <a:solidFill>
              <a:srgbClr val="48556A"/>
            </a:solidFill>
            <a:prstDash val="solid"/>
          </a:ln>
        </p:spPr>
        <p:txBody>
          <a:bodyPr/>
          <a:lstStyle/>
          <a:p>
            <a:endParaRPr/>
          </a:p>
        </p:txBody>
      </p:sp>
      <p:sp>
        <p:nvSpPr>
          <p:cNvPr id="13" name="Text 11"/>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D2E3DF"/>
                </a:solidFill>
                <a:latin typeface="Inter" pitchFamily="34" charset="0"/>
                <a:ea typeface="Inter" pitchFamily="34" charset="-122"/>
                <a:cs typeface="Inter" pitchFamily="34" charset="-120"/>
              </a:rPr>
              <a:t>BEAWORLD  /  AGENTIC ENGINEERING 101</a:t>
            </a:r>
            <a:endParaRPr lang="en-US" sz="800" dirty="0"/>
          </a:p>
        </p:txBody>
      </p:sp>
      <p:sp>
        <p:nvSpPr>
          <p:cNvPr id="14" name="Text 12"/>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D2E3DF"/>
                </a:solidFill>
                <a:latin typeface="Inter" pitchFamily="34" charset="0"/>
                <a:ea typeface="Inter" pitchFamily="34" charset="-122"/>
                <a:cs typeface="Inter" pitchFamily="34" charset="-120"/>
              </a:rPr>
              <a:t>16  /  32</a:t>
            </a:r>
            <a:endParaRPr lang="en-US" sz="900" dirty="0"/>
          </a:p>
        </p:txBody>
      </p:sp>
      <p:sp>
        <p:nvSpPr>
          <p:cNvPr id="15" name="Shape 13"/>
          <p:cNvSpPr/>
          <p:nvPr/>
        </p:nvSpPr>
        <p:spPr>
          <a:xfrm>
            <a:off x="640080" y="658368"/>
            <a:ext cx="1920240" cy="320040"/>
          </a:xfrm>
          <a:prstGeom prst="roundRect">
            <a:avLst>
              <a:gd name="adj" fmla="val 42857"/>
            </a:avLst>
          </a:prstGeom>
          <a:solidFill>
            <a:srgbClr val="1A243A"/>
          </a:solidFill>
          <a:ln w="12700">
            <a:solidFill>
              <a:srgbClr val="1A243A"/>
            </a:solidFill>
            <a:prstDash val="solid"/>
          </a:ln>
        </p:spPr>
        <p:txBody>
          <a:bodyPr/>
          <a:lstStyle/>
          <a:p>
            <a:endParaRPr/>
          </a:p>
        </p:txBody>
      </p:sp>
      <p:sp>
        <p:nvSpPr>
          <p:cNvPr id="16" name="Text 14"/>
          <p:cNvSpPr/>
          <p:nvPr/>
        </p:nvSpPr>
        <p:spPr>
          <a:xfrm>
            <a:off x="722376" y="681228"/>
            <a:ext cx="175564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LEVEL 1</a:t>
            </a:r>
            <a:endParaRPr lang="en-US" sz="1000" dirty="0"/>
          </a:p>
        </p:txBody>
      </p:sp>
      <p:sp>
        <p:nvSpPr>
          <p:cNvPr id="17" name="Text 15"/>
          <p:cNvSpPr/>
          <p:nvPr/>
        </p:nvSpPr>
        <p:spPr>
          <a:xfrm>
            <a:off x="676656" y="1353312"/>
            <a:ext cx="7772400" cy="1280160"/>
          </a:xfrm>
          <a:prstGeom prst="rect">
            <a:avLst/>
          </a:prstGeom>
          <a:noFill/>
          <a:ln/>
        </p:spPr>
        <p:txBody>
          <a:bodyPr wrap="square" lIns="0" tIns="0" rIns="0" bIns="0" rtlCol="0" anchor="ctr">
            <a:normAutofit/>
          </a:bodyPr>
          <a:lstStyle/>
          <a:p>
            <a:pPr marL="0" indent="0" algn="l">
              <a:buNone/>
            </a:pPr>
            <a:r>
              <a:rPr lang="en-US" sz="3900" b="1" dirty="0">
                <a:solidFill>
                  <a:srgbClr val="FFFFFF"/>
                </a:solidFill>
                <a:latin typeface="Inter" pitchFamily="34" charset="0"/>
                <a:ea typeface="Inter" pitchFamily="34" charset="-122"/>
                <a:cs typeface="Inter" pitchFamily="34" charset="-120"/>
              </a:rPr>
              <a:t>The LLM</a:t>
            </a:r>
            <a:endParaRPr lang="en-US" sz="3900" dirty="0"/>
          </a:p>
        </p:txBody>
      </p:sp>
      <p:sp>
        <p:nvSpPr>
          <p:cNvPr id="18" name="Text 16"/>
          <p:cNvSpPr/>
          <p:nvPr/>
        </p:nvSpPr>
        <p:spPr>
          <a:xfrm>
            <a:off x="704088" y="2788920"/>
            <a:ext cx="6839712" cy="1170432"/>
          </a:xfrm>
          <a:prstGeom prst="rect">
            <a:avLst/>
          </a:prstGeom>
          <a:noFill/>
          <a:ln/>
        </p:spPr>
        <p:txBody>
          <a:bodyPr wrap="square" lIns="0" tIns="0" rIns="0" bIns="0" rtlCol="0" anchor="t">
            <a:normAutofit/>
          </a:bodyPr>
          <a:lstStyle/>
          <a:p>
            <a:pPr marL="0" indent="0" algn="l">
              <a:buNone/>
            </a:pPr>
            <a:r>
              <a:rPr lang="en-US" sz="2200" dirty="0">
                <a:solidFill>
                  <a:srgbClr val="DEEBE9"/>
                </a:solidFill>
                <a:latin typeface="Inter" pitchFamily="34" charset="0"/>
                <a:ea typeface="Inter" pitchFamily="34" charset="-122"/>
                <a:cs typeface="Inter" pitchFamily="34" charset="-120"/>
              </a:rPr>
              <a:t>Start with the simplest question: “What might cause poor cooling?”</a:t>
            </a:r>
            <a:endParaRPr lang="en-US" sz="2200" dirty="0"/>
          </a:p>
        </p:txBody>
      </p:sp>
      <p:pic>
        <p:nvPicPr>
          <p:cNvPr id="19" name="Image 0" descr="BEA_MASCOT_chip"/>
          <p:cNvPicPr>
            <a:picLocks noChangeAspect="1"/>
          </p:cNvPicPr>
          <p:nvPr/>
        </p:nvPicPr>
        <p:blipFill>
          <a:blip r:embed="rId3"/>
          <a:stretch>
            <a:fillRect/>
          </a:stretch>
        </p:blipFill>
        <p:spPr>
          <a:xfrm>
            <a:off x="8001000" y="1874520"/>
            <a:ext cx="2971800" cy="3377045"/>
          </a:xfrm>
          <a:prstGeom prst="rect">
            <a:avLst/>
          </a:prstGeom>
        </p:spPr>
      </p:pic>
      <p:sp>
        <p:nvSpPr>
          <p:cNvPr id="20" name="Shape 17"/>
          <p:cNvSpPr/>
          <p:nvPr/>
        </p:nvSpPr>
        <p:spPr>
          <a:xfrm>
            <a:off x="731520" y="5330952"/>
            <a:ext cx="3136392" cy="320040"/>
          </a:xfrm>
          <a:prstGeom prst="roundRect">
            <a:avLst>
              <a:gd name="adj" fmla="val 42857"/>
            </a:avLst>
          </a:prstGeom>
          <a:solidFill>
            <a:srgbClr val="32445B"/>
          </a:solidFill>
          <a:ln w="12700">
            <a:solidFill>
              <a:srgbClr val="32445B"/>
            </a:solidFill>
            <a:prstDash val="solid"/>
          </a:ln>
        </p:spPr>
        <p:txBody>
          <a:bodyPr/>
          <a:lstStyle/>
          <a:p>
            <a:endParaRPr/>
          </a:p>
        </p:txBody>
      </p:sp>
      <p:sp>
        <p:nvSpPr>
          <p:cNvPr id="21" name="Text 18"/>
          <p:cNvSpPr/>
          <p:nvPr/>
        </p:nvSpPr>
        <p:spPr>
          <a:xfrm>
            <a:off x="813816" y="5353812"/>
            <a:ext cx="297180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D6FBEA"/>
                </a:solidFill>
                <a:latin typeface="Inter" pitchFamily="34" charset="0"/>
                <a:ea typeface="Inter" pitchFamily="34" charset="-122"/>
                <a:cs typeface="Inter" pitchFamily="34" charset="-120"/>
              </a:rPr>
              <a:t>ENGINEERING LAB  ·  AHU-01</a:t>
            </a:r>
            <a:endParaRPr lang="en-US" sz="1000" dirty="0"/>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EXERCISE 1</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Ask the LLM a question</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Answers without live measurements</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17  /  32</a:t>
            </a:r>
            <a:endParaRPr lang="en-US" sz="900" dirty="0"/>
          </a:p>
        </p:txBody>
      </p:sp>
      <p:sp>
        <p:nvSpPr>
          <p:cNvPr id="19" name="Shape 17"/>
          <p:cNvSpPr/>
          <p:nvPr/>
        </p:nvSpPr>
        <p:spPr>
          <a:xfrm>
            <a:off x="667512" y="2286000"/>
            <a:ext cx="7443216" cy="3438144"/>
          </a:xfrm>
          <a:prstGeom prst="roundRect">
            <a:avLst>
              <a:gd name="adj" fmla="val 3989"/>
            </a:avLst>
          </a:prstGeom>
          <a:solidFill>
            <a:srgbClr val="14213B"/>
          </a:solidFill>
          <a:ln w="12700">
            <a:solidFill>
              <a:srgbClr val="14213B"/>
            </a:solidFill>
            <a:prstDash val="solid"/>
          </a:ln>
        </p:spPr>
        <p:txBody>
          <a:bodyPr/>
          <a:lstStyle/>
          <a:p>
            <a:endParaRPr/>
          </a:p>
        </p:txBody>
      </p:sp>
      <p:sp>
        <p:nvSpPr>
          <p:cNvPr id="20" name="Shape 18"/>
          <p:cNvSpPr/>
          <p:nvPr/>
        </p:nvSpPr>
        <p:spPr>
          <a:xfrm>
            <a:off x="667512" y="2286000"/>
            <a:ext cx="7443216" cy="356616"/>
          </a:xfrm>
          <a:prstGeom prst="roundRect">
            <a:avLst>
              <a:gd name="adj" fmla="val 38462"/>
            </a:avLst>
          </a:prstGeom>
          <a:solidFill>
            <a:srgbClr val="293A57"/>
          </a:solidFill>
          <a:ln w="12700">
            <a:solidFill>
              <a:srgbClr val="293A57"/>
            </a:solidFill>
            <a:prstDash val="solid"/>
          </a:ln>
        </p:spPr>
        <p:txBody>
          <a:bodyPr/>
          <a:lstStyle/>
          <a:p>
            <a:endParaRPr/>
          </a:p>
        </p:txBody>
      </p:sp>
      <p:sp>
        <p:nvSpPr>
          <p:cNvPr id="21" name="Shape 19"/>
          <p:cNvSpPr/>
          <p:nvPr/>
        </p:nvSpPr>
        <p:spPr>
          <a:xfrm>
            <a:off x="832104" y="2414016"/>
            <a:ext cx="91440" cy="91440"/>
          </a:xfrm>
          <a:prstGeom prst="ellipse">
            <a:avLst/>
          </a:prstGeom>
          <a:solidFill>
            <a:srgbClr val="E04149"/>
          </a:solidFill>
          <a:ln w="12700">
            <a:solidFill>
              <a:srgbClr val="E04149"/>
            </a:solidFill>
            <a:prstDash val="solid"/>
          </a:ln>
        </p:spPr>
        <p:txBody>
          <a:bodyPr/>
          <a:lstStyle/>
          <a:p>
            <a:endParaRPr/>
          </a:p>
        </p:txBody>
      </p:sp>
      <p:sp>
        <p:nvSpPr>
          <p:cNvPr id="22" name="Shape 20"/>
          <p:cNvSpPr/>
          <p:nvPr/>
        </p:nvSpPr>
        <p:spPr>
          <a:xfrm>
            <a:off x="996696" y="2414016"/>
            <a:ext cx="91440" cy="91440"/>
          </a:xfrm>
          <a:prstGeom prst="ellipse">
            <a:avLst/>
          </a:prstGeom>
          <a:solidFill>
            <a:srgbClr val="F9C74F"/>
          </a:solidFill>
          <a:ln w="12700">
            <a:solidFill>
              <a:srgbClr val="F9C74F"/>
            </a:solidFill>
            <a:prstDash val="solid"/>
          </a:ln>
        </p:spPr>
        <p:txBody>
          <a:bodyPr/>
          <a:lstStyle/>
          <a:p>
            <a:endParaRPr/>
          </a:p>
        </p:txBody>
      </p:sp>
      <p:sp>
        <p:nvSpPr>
          <p:cNvPr id="23" name="Shape 21"/>
          <p:cNvSpPr/>
          <p:nvPr/>
        </p:nvSpPr>
        <p:spPr>
          <a:xfrm>
            <a:off x="1161288" y="2414016"/>
            <a:ext cx="91440" cy="91440"/>
          </a:xfrm>
          <a:prstGeom prst="ellipse">
            <a:avLst/>
          </a:prstGeom>
          <a:solidFill>
            <a:srgbClr val="2B6450"/>
          </a:solidFill>
          <a:ln w="12700">
            <a:solidFill>
              <a:srgbClr val="2B6450"/>
            </a:solidFill>
            <a:prstDash val="solid"/>
          </a:ln>
        </p:spPr>
        <p:txBody>
          <a:bodyPr/>
          <a:lstStyle/>
          <a:p>
            <a:endParaRPr/>
          </a:p>
        </p:txBody>
      </p:sp>
      <p:sp>
        <p:nvSpPr>
          <p:cNvPr id="24" name="Text 22"/>
          <p:cNvSpPr/>
          <p:nvPr/>
        </p:nvSpPr>
        <p:spPr>
          <a:xfrm>
            <a:off x="1380744" y="2359152"/>
            <a:ext cx="6528816" cy="210312"/>
          </a:xfrm>
          <a:prstGeom prst="rect">
            <a:avLst/>
          </a:prstGeom>
          <a:noFill/>
          <a:ln/>
        </p:spPr>
        <p:txBody>
          <a:bodyPr wrap="square" lIns="0" tIns="0" rIns="0" bIns="0" rtlCol="0" anchor="ctr">
            <a:normAutofit/>
          </a:bodyPr>
          <a:lstStyle/>
          <a:p>
            <a:pPr marL="0" indent="0" algn="l">
              <a:buNone/>
            </a:pPr>
            <a:r>
              <a:rPr lang="en-US" sz="1000" b="1" dirty="0">
                <a:solidFill>
                  <a:srgbClr val="D6E3EF"/>
                </a:solidFill>
                <a:latin typeface="Inter" pitchFamily="34" charset="0"/>
                <a:ea typeface="Inter" pitchFamily="34" charset="-122"/>
                <a:cs typeface="Inter" pitchFamily="34" charset="-120"/>
              </a:rPr>
              <a:t>Live demo  ·  Level 1  ·  Chat with the model</a:t>
            </a:r>
            <a:endParaRPr lang="en-US" sz="1000" dirty="0"/>
          </a:p>
        </p:txBody>
      </p:sp>
      <p:pic>
        <p:nvPicPr>
          <p:cNvPr id="29" name="Demo screenshot" descr="Level 1 chat: asked whether it has seen a temperature reading from AHU-01, the model answers that it has not."/>
          <p:cNvPicPr>
            <a:picLocks noChangeAspect="1"/>
          </p:cNvPicPr>
          <p:nvPr/>
        </p:nvPicPr>
        <p:blipFill>
          <a:blip r:embed="rId5"/>
          <a:stretch>
            <a:fillRect/>
          </a:stretch>
        </p:blipFill>
        <p:spPr>
          <a:xfrm>
            <a:off x="763474" y="2642616"/>
            <a:ext cx="7251292" cy="2990088"/>
          </a:xfrm>
          <a:prstGeom prst="rect">
            <a:avLst/>
          </a:prstGeom>
        </p:spPr>
      </p:pic>
      <p:pic>
        <p:nvPicPr>
          <p:cNvPr id="26" name="Image 1" descr="BEA_MASCOT_chip"/>
          <p:cNvPicPr>
            <a:picLocks noChangeAspect="1"/>
          </p:cNvPicPr>
          <p:nvPr/>
        </p:nvPicPr>
        <p:blipFill>
          <a:blip r:embed="rId4"/>
          <a:stretch>
            <a:fillRect/>
          </a:stretch>
        </p:blipFill>
        <p:spPr>
          <a:xfrm>
            <a:off x="8997696" y="2487168"/>
            <a:ext cx="2048256" cy="2327564"/>
          </a:xfrm>
          <a:prstGeom prst="rect">
            <a:avLst/>
          </a:prstGeom>
        </p:spPr>
      </p:pic>
      <p:sp>
        <p:nvSpPr>
          <p:cNvPr id="27" name="Shape 23"/>
          <p:cNvSpPr/>
          <p:nvPr/>
        </p:nvSpPr>
        <p:spPr>
          <a:xfrm>
            <a:off x="8174736" y="4864608"/>
            <a:ext cx="3401568" cy="850392"/>
          </a:xfrm>
          <a:prstGeom prst="roundRect">
            <a:avLst>
              <a:gd name="adj" fmla="val 16129"/>
            </a:avLst>
          </a:prstGeom>
          <a:solidFill>
            <a:srgbClr val="D9F1E6"/>
          </a:solidFill>
          <a:ln w="12700">
            <a:solidFill>
              <a:srgbClr val="DDE5E1"/>
            </a:solidFill>
            <a:prstDash val="solid"/>
          </a:ln>
        </p:spPr>
        <p:txBody>
          <a:bodyPr/>
          <a:lstStyle/>
          <a:p>
            <a:endParaRPr/>
          </a:p>
        </p:txBody>
      </p:sp>
      <p:sp>
        <p:nvSpPr>
          <p:cNvPr id="28" name="Text 24"/>
          <p:cNvSpPr/>
          <p:nvPr/>
        </p:nvSpPr>
        <p:spPr>
          <a:xfrm>
            <a:off x="8403336" y="4992624"/>
            <a:ext cx="2944368" cy="594360"/>
          </a:xfrm>
          <a:prstGeom prst="rect">
            <a:avLst/>
          </a:prstGeom>
          <a:noFill/>
          <a:ln/>
        </p:spPr>
        <p:txBody>
          <a:bodyPr wrap="square" lIns="0" tIns="0" rIns="0" bIns="0" rtlCol="0" anchor="ctr">
            <a:normAutofit/>
          </a:bodyPr>
          <a:lstStyle/>
          <a:p>
            <a:pPr marL="0" indent="0" algn="l">
              <a:buNone/>
            </a:pPr>
            <a:r>
              <a:rPr lang="en-US" sz="1700" dirty="0">
                <a:solidFill>
                  <a:srgbClr val="1A243A"/>
                </a:solidFill>
                <a:latin typeface="Inter" pitchFamily="34" charset="0"/>
                <a:ea typeface="Inter" pitchFamily="34" charset="-122"/>
                <a:cs typeface="Inter" pitchFamily="34" charset="-120"/>
              </a:rPr>
              <a:t>Question for the room:</a:t>
            </a:r>
            <a:endParaRPr lang="en-US" sz="1700" dirty="0"/>
          </a:p>
          <a:p>
            <a:pPr marL="0" indent="0" algn="l">
              <a:buNone/>
            </a:pPr>
            <a:r>
              <a:rPr lang="en-US" sz="1700" dirty="0">
                <a:solidFill>
                  <a:srgbClr val="1A243A"/>
                </a:solidFill>
                <a:latin typeface="Inter" pitchFamily="34" charset="0"/>
                <a:ea typeface="Inter" pitchFamily="34" charset="-122"/>
                <a:cs typeface="Inter" pitchFamily="34" charset="-120"/>
              </a:rPr>
              <a:t>Did we measure anything?</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26"/>
                                  </p:tgtEl>
                                  <p:attrNameLst>
                                    <p:attrName>style.visibility</p:attrName>
                                  </p:attrNameLst>
                                </p:cBhvr>
                                <p:to>
                                  <p:strVal val="visible"/>
                                </p:to>
                              </p:set>
                              <p:animEffect transition="in" filter="fade">
                                <p:cBhvr>
                                  <p:cTn id="6" dur="650"/>
                                  <p:tgtEl>
                                    <p:spTgt spid="26"/>
                                  </p:tgtEl>
                                </p:cBhvr>
                              </p:animEffect>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A243A"/>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526177"/>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526177"/>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526177"/>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526177"/>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526177"/>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526177"/>
            </a:solidFill>
            <a:prstDash val="solid"/>
          </a:ln>
        </p:spPr>
        <p:txBody>
          <a:bodyPr/>
          <a:lstStyle/>
          <a:p>
            <a:endParaRPr/>
          </a:p>
        </p:txBody>
      </p:sp>
      <p:sp>
        <p:nvSpPr>
          <p:cNvPr id="8" name="Shape 6"/>
          <p:cNvSpPr/>
          <p:nvPr/>
        </p:nvSpPr>
        <p:spPr>
          <a:xfrm>
            <a:off x="10872216" y="475488"/>
            <a:ext cx="73152" cy="73152"/>
          </a:xfrm>
          <a:prstGeom prst="ellipse">
            <a:avLst/>
          </a:prstGeom>
          <a:solidFill>
            <a:srgbClr val="526177"/>
          </a:solidFill>
          <a:ln w="12700">
            <a:solidFill>
              <a:srgbClr val="526177"/>
            </a:solidFill>
            <a:prstDash val="solid"/>
          </a:ln>
        </p:spPr>
        <p:txBody>
          <a:bodyPr/>
          <a:lstStyle/>
          <a:p>
            <a:endParaRPr/>
          </a:p>
        </p:txBody>
      </p:sp>
      <p:sp>
        <p:nvSpPr>
          <p:cNvPr id="9" name="Shape 7"/>
          <p:cNvSpPr/>
          <p:nvPr/>
        </p:nvSpPr>
        <p:spPr>
          <a:xfrm>
            <a:off x="11512296" y="603504"/>
            <a:ext cx="73152" cy="73152"/>
          </a:xfrm>
          <a:prstGeom prst="ellipse">
            <a:avLst/>
          </a:prstGeom>
          <a:solidFill>
            <a:srgbClr val="526177"/>
          </a:solidFill>
          <a:ln w="12700">
            <a:solidFill>
              <a:srgbClr val="526177"/>
            </a:solidFill>
            <a:prstDash val="solid"/>
          </a:ln>
        </p:spPr>
        <p:txBody>
          <a:bodyPr/>
          <a:lstStyle/>
          <a:p>
            <a:endParaRPr/>
          </a:p>
        </p:txBody>
      </p:sp>
      <p:sp>
        <p:nvSpPr>
          <p:cNvPr id="10" name="Shape 8"/>
          <p:cNvSpPr/>
          <p:nvPr/>
        </p:nvSpPr>
        <p:spPr>
          <a:xfrm>
            <a:off x="530352" y="5879592"/>
            <a:ext cx="73152" cy="73152"/>
          </a:xfrm>
          <a:prstGeom prst="ellipse">
            <a:avLst/>
          </a:prstGeom>
          <a:solidFill>
            <a:srgbClr val="526177"/>
          </a:solidFill>
          <a:ln w="12700">
            <a:solidFill>
              <a:srgbClr val="526177"/>
            </a:solidFill>
            <a:prstDash val="solid"/>
          </a:ln>
        </p:spPr>
        <p:txBody>
          <a:bodyPr/>
          <a:lstStyle/>
          <a:p>
            <a:endParaRPr/>
          </a:p>
        </p:txBody>
      </p:sp>
      <p:sp>
        <p:nvSpPr>
          <p:cNvPr id="11" name="Shape 9"/>
          <p:cNvSpPr/>
          <p:nvPr/>
        </p:nvSpPr>
        <p:spPr>
          <a:xfrm>
            <a:off x="813816" y="5120640"/>
            <a:ext cx="73152" cy="73152"/>
          </a:xfrm>
          <a:prstGeom prst="ellipse">
            <a:avLst/>
          </a:prstGeom>
          <a:solidFill>
            <a:srgbClr val="526177"/>
          </a:solidFill>
          <a:ln w="12700">
            <a:solidFill>
              <a:srgbClr val="526177"/>
            </a:solidFill>
            <a:prstDash val="solid"/>
          </a:ln>
        </p:spPr>
        <p:txBody>
          <a:bodyPr/>
          <a:lstStyle/>
          <a:p>
            <a:endParaRPr/>
          </a:p>
        </p:txBody>
      </p:sp>
      <p:sp>
        <p:nvSpPr>
          <p:cNvPr id="12" name="Shape 10"/>
          <p:cNvSpPr/>
          <p:nvPr/>
        </p:nvSpPr>
        <p:spPr>
          <a:xfrm>
            <a:off x="502920" y="6519672"/>
            <a:ext cx="11173968" cy="0"/>
          </a:xfrm>
          <a:prstGeom prst="line">
            <a:avLst/>
          </a:prstGeom>
          <a:noFill/>
          <a:ln w="8890">
            <a:solidFill>
              <a:srgbClr val="48556A"/>
            </a:solidFill>
            <a:prstDash val="solid"/>
          </a:ln>
        </p:spPr>
        <p:txBody>
          <a:bodyPr/>
          <a:lstStyle/>
          <a:p>
            <a:endParaRPr/>
          </a:p>
        </p:txBody>
      </p:sp>
      <p:sp>
        <p:nvSpPr>
          <p:cNvPr id="13" name="Text 11"/>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D2E3DF"/>
                </a:solidFill>
                <a:latin typeface="Inter" pitchFamily="34" charset="0"/>
                <a:ea typeface="Inter" pitchFamily="34" charset="-122"/>
                <a:cs typeface="Inter" pitchFamily="34" charset="-120"/>
              </a:rPr>
              <a:t>BEAWORLD  /  AGENTIC ENGINEERING 101</a:t>
            </a:r>
            <a:endParaRPr lang="en-US" sz="800" dirty="0"/>
          </a:p>
        </p:txBody>
      </p:sp>
      <p:sp>
        <p:nvSpPr>
          <p:cNvPr id="14" name="Text 12"/>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D2E3DF"/>
                </a:solidFill>
                <a:latin typeface="Inter" pitchFamily="34" charset="0"/>
                <a:ea typeface="Inter" pitchFamily="34" charset="-122"/>
                <a:cs typeface="Inter" pitchFamily="34" charset="-120"/>
              </a:rPr>
              <a:t>18  /  32</a:t>
            </a:r>
            <a:endParaRPr lang="en-US" sz="900" dirty="0"/>
          </a:p>
        </p:txBody>
      </p:sp>
      <p:sp>
        <p:nvSpPr>
          <p:cNvPr id="15" name="Shape 13"/>
          <p:cNvSpPr/>
          <p:nvPr/>
        </p:nvSpPr>
        <p:spPr>
          <a:xfrm>
            <a:off x="640080" y="658368"/>
            <a:ext cx="1920240" cy="320040"/>
          </a:xfrm>
          <a:prstGeom prst="roundRect">
            <a:avLst>
              <a:gd name="adj" fmla="val 42857"/>
            </a:avLst>
          </a:prstGeom>
          <a:solidFill>
            <a:srgbClr val="2B6450"/>
          </a:solidFill>
          <a:ln w="12700">
            <a:solidFill>
              <a:srgbClr val="2B6450"/>
            </a:solidFill>
            <a:prstDash val="solid"/>
          </a:ln>
        </p:spPr>
        <p:txBody>
          <a:bodyPr/>
          <a:lstStyle/>
          <a:p>
            <a:endParaRPr/>
          </a:p>
        </p:txBody>
      </p:sp>
      <p:sp>
        <p:nvSpPr>
          <p:cNvPr id="16" name="Text 14"/>
          <p:cNvSpPr/>
          <p:nvPr/>
        </p:nvSpPr>
        <p:spPr>
          <a:xfrm>
            <a:off x="722376" y="681228"/>
            <a:ext cx="175564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LEVEL 2</a:t>
            </a:r>
            <a:endParaRPr lang="en-US" sz="1000" dirty="0"/>
          </a:p>
        </p:txBody>
      </p:sp>
      <p:sp>
        <p:nvSpPr>
          <p:cNvPr id="17" name="Text 15"/>
          <p:cNvSpPr/>
          <p:nvPr/>
        </p:nvSpPr>
        <p:spPr>
          <a:xfrm>
            <a:off x="676656" y="1353312"/>
            <a:ext cx="7772400" cy="1280160"/>
          </a:xfrm>
          <a:prstGeom prst="rect">
            <a:avLst/>
          </a:prstGeom>
          <a:noFill/>
          <a:ln/>
        </p:spPr>
        <p:txBody>
          <a:bodyPr wrap="square" lIns="0" tIns="0" rIns="0" bIns="0" rtlCol="0" anchor="ctr">
            <a:normAutofit/>
          </a:bodyPr>
          <a:lstStyle/>
          <a:p>
            <a:pPr marL="0" indent="0" algn="l">
              <a:buNone/>
            </a:pPr>
            <a:r>
              <a:rPr lang="en-US" sz="3900" b="1" dirty="0">
                <a:solidFill>
                  <a:srgbClr val="FFFFFF"/>
                </a:solidFill>
                <a:latin typeface="Inter" pitchFamily="34" charset="0"/>
                <a:ea typeface="Inter" pitchFamily="34" charset="-122"/>
                <a:cs typeface="Inter" pitchFamily="34" charset="-120"/>
              </a:rPr>
              <a:t>The Tool</a:t>
            </a:r>
            <a:endParaRPr lang="en-US" sz="3900" dirty="0"/>
          </a:p>
        </p:txBody>
      </p:sp>
      <p:sp>
        <p:nvSpPr>
          <p:cNvPr id="18" name="Text 16"/>
          <p:cNvSpPr/>
          <p:nvPr/>
        </p:nvSpPr>
        <p:spPr>
          <a:xfrm>
            <a:off x="704088" y="2788920"/>
            <a:ext cx="6839712" cy="1170432"/>
          </a:xfrm>
          <a:prstGeom prst="rect">
            <a:avLst/>
          </a:prstGeom>
          <a:noFill/>
          <a:ln/>
        </p:spPr>
        <p:txBody>
          <a:bodyPr wrap="square" lIns="0" tIns="0" rIns="0" bIns="0" rtlCol="0" anchor="t">
            <a:normAutofit/>
          </a:bodyPr>
          <a:lstStyle/>
          <a:p>
            <a:pPr marL="0" indent="0" algn="l">
              <a:buNone/>
            </a:pPr>
            <a:r>
              <a:rPr lang="en-US" sz="2200" dirty="0">
                <a:solidFill>
                  <a:srgbClr val="DEEBE9"/>
                </a:solidFill>
                <a:latin typeface="Inter" pitchFamily="34" charset="0"/>
                <a:ea typeface="Inter" pitchFamily="34" charset="-122"/>
                <a:cs typeface="Inter" pitchFamily="34" charset="-120"/>
              </a:rPr>
              <a:t>Add one simple sensor-reading function. The tool knows data; it does not make decisions.</a:t>
            </a:r>
            <a:endParaRPr lang="en-US" sz="2200" dirty="0"/>
          </a:p>
        </p:txBody>
      </p:sp>
      <p:pic>
        <p:nvPicPr>
          <p:cNvPr id="19" name="Image 0" descr="BEA_MASCOT_gear"/>
          <p:cNvPicPr>
            <a:picLocks noChangeAspect="1"/>
          </p:cNvPicPr>
          <p:nvPr/>
        </p:nvPicPr>
        <p:blipFill>
          <a:blip r:embed="rId3"/>
          <a:stretch>
            <a:fillRect/>
          </a:stretch>
        </p:blipFill>
        <p:spPr>
          <a:xfrm>
            <a:off x="8001000" y="1874520"/>
            <a:ext cx="2971800" cy="3377045"/>
          </a:xfrm>
          <a:prstGeom prst="rect">
            <a:avLst/>
          </a:prstGeom>
        </p:spPr>
      </p:pic>
      <p:sp>
        <p:nvSpPr>
          <p:cNvPr id="20" name="Shape 17"/>
          <p:cNvSpPr/>
          <p:nvPr/>
        </p:nvSpPr>
        <p:spPr>
          <a:xfrm>
            <a:off x="731520" y="5330952"/>
            <a:ext cx="3136392" cy="320040"/>
          </a:xfrm>
          <a:prstGeom prst="roundRect">
            <a:avLst>
              <a:gd name="adj" fmla="val 42857"/>
            </a:avLst>
          </a:prstGeom>
          <a:solidFill>
            <a:srgbClr val="32445B"/>
          </a:solidFill>
          <a:ln w="12700">
            <a:solidFill>
              <a:srgbClr val="32445B"/>
            </a:solidFill>
            <a:prstDash val="solid"/>
          </a:ln>
        </p:spPr>
        <p:txBody>
          <a:bodyPr/>
          <a:lstStyle/>
          <a:p>
            <a:endParaRPr/>
          </a:p>
        </p:txBody>
      </p:sp>
      <p:sp>
        <p:nvSpPr>
          <p:cNvPr id="21" name="Text 18"/>
          <p:cNvSpPr/>
          <p:nvPr/>
        </p:nvSpPr>
        <p:spPr>
          <a:xfrm>
            <a:off x="813816" y="5353812"/>
            <a:ext cx="297180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D6FBEA"/>
                </a:solidFill>
                <a:latin typeface="Inter" pitchFamily="34" charset="0"/>
                <a:ea typeface="Inter" pitchFamily="34" charset="-122"/>
                <a:cs typeface="Inter" pitchFamily="34" charset="-120"/>
              </a:rPr>
              <a:t>ENGINEERING LAB  ·  AHU-01</a:t>
            </a:r>
            <a:endParaRPr lang="en-US" sz="1000" dirty="0"/>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EXERCISE 2</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Make a Python function available as a tool</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Simulated readings, no real equipment connection</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19  /  32</a:t>
            </a:r>
            <a:endParaRPr lang="en-US" sz="900" dirty="0"/>
          </a:p>
        </p:txBody>
      </p:sp>
      <p:sp>
        <p:nvSpPr>
          <p:cNvPr id="19" name="Shape 17"/>
          <p:cNvSpPr/>
          <p:nvPr/>
        </p:nvSpPr>
        <p:spPr>
          <a:xfrm>
            <a:off x="630936" y="2267712"/>
            <a:ext cx="8485632" cy="3575304"/>
          </a:xfrm>
          <a:prstGeom prst="roundRect">
            <a:avLst>
              <a:gd name="adj" fmla="val 3836"/>
            </a:avLst>
          </a:prstGeom>
          <a:solidFill>
            <a:srgbClr val="14213B"/>
          </a:solidFill>
          <a:ln w="12700">
            <a:solidFill>
              <a:srgbClr val="14213B"/>
            </a:solidFill>
            <a:prstDash val="solid"/>
          </a:ln>
        </p:spPr>
        <p:txBody>
          <a:bodyPr/>
          <a:lstStyle/>
          <a:p>
            <a:endParaRPr/>
          </a:p>
        </p:txBody>
      </p:sp>
      <p:sp>
        <p:nvSpPr>
          <p:cNvPr id="20" name="Shape 18"/>
          <p:cNvSpPr/>
          <p:nvPr/>
        </p:nvSpPr>
        <p:spPr>
          <a:xfrm>
            <a:off x="630936" y="2267712"/>
            <a:ext cx="8485632" cy="356616"/>
          </a:xfrm>
          <a:prstGeom prst="roundRect">
            <a:avLst>
              <a:gd name="adj" fmla="val 38462"/>
            </a:avLst>
          </a:prstGeom>
          <a:solidFill>
            <a:srgbClr val="293A57"/>
          </a:solidFill>
          <a:ln w="12700">
            <a:solidFill>
              <a:srgbClr val="293A57"/>
            </a:solidFill>
            <a:prstDash val="solid"/>
          </a:ln>
        </p:spPr>
        <p:txBody>
          <a:bodyPr/>
          <a:lstStyle/>
          <a:p>
            <a:endParaRPr/>
          </a:p>
        </p:txBody>
      </p:sp>
      <p:sp>
        <p:nvSpPr>
          <p:cNvPr id="21" name="Shape 19"/>
          <p:cNvSpPr/>
          <p:nvPr/>
        </p:nvSpPr>
        <p:spPr>
          <a:xfrm>
            <a:off x="795528" y="2395728"/>
            <a:ext cx="91440" cy="91440"/>
          </a:xfrm>
          <a:prstGeom prst="ellipse">
            <a:avLst/>
          </a:prstGeom>
          <a:solidFill>
            <a:srgbClr val="E04149"/>
          </a:solidFill>
          <a:ln w="12700">
            <a:solidFill>
              <a:srgbClr val="E04149"/>
            </a:solidFill>
            <a:prstDash val="solid"/>
          </a:ln>
        </p:spPr>
        <p:txBody>
          <a:bodyPr/>
          <a:lstStyle/>
          <a:p>
            <a:endParaRPr/>
          </a:p>
        </p:txBody>
      </p:sp>
      <p:sp>
        <p:nvSpPr>
          <p:cNvPr id="22" name="Shape 20"/>
          <p:cNvSpPr/>
          <p:nvPr/>
        </p:nvSpPr>
        <p:spPr>
          <a:xfrm>
            <a:off x="960120" y="2395728"/>
            <a:ext cx="91440" cy="91440"/>
          </a:xfrm>
          <a:prstGeom prst="ellipse">
            <a:avLst/>
          </a:prstGeom>
          <a:solidFill>
            <a:srgbClr val="F9C74F"/>
          </a:solidFill>
          <a:ln w="12700">
            <a:solidFill>
              <a:srgbClr val="F9C74F"/>
            </a:solidFill>
            <a:prstDash val="solid"/>
          </a:ln>
        </p:spPr>
        <p:txBody>
          <a:bodyPr/>
          <a:lstStyle/>
          <a:p>
            <a:endParaRPr/>
          </a:p>
        </p:txBody>
      </p:sp>
      <p:sp>
        <p:nvSpPr>
          <p:cNvPr id="23" name="Shape 21"/>
          <p:cNvSpPr/>
          <p:nvPr/>
        </p:nvSpPr>
        <p:spPr>
          <a:xfrm>
            <a:off x="1124712" y="2395728"/>
            <a:ext cx="91440" cy="91440"/>
          </a:xfrm>
          <a:prstGeom prst="ellipse">
            <a:avLst/>
          </a:prstGeom>
          <a:solidFill>
            <a:srgbClr val="2B6450"/>
          </a:solidFill>
          <a:ln w="12700">
            <a:solidFill>
              <a:srgbClr val="2B6450"/>
            </a:solidFill>
            <a:prstDash val="solid"/>
          </a:ln>
        </p:spPr>
        <p:txBody>
          <a:bodyPr/>
          <a:lstStyle/>
          <a:p>
            <a:endParaRPr/>
          </a:p>
        </p:txBody>
      </p:sp>
      <p:sp>
        <p:nvSpPr>
          <p:cNvPr id="24" name="Text 22"/>
          <p:cNvSpPr/>
          <p:nvPr/>
        </p:nvSpPr>
        <p:spPr>
          <a:xfrm>
            <a:off x="1344168" y="2340864"/>
            <a:ext cx="7571232" cy="210312"/>
          </a:xfrm>
          <a:prstGeom prst="rect">
            <a:avLst/>
          </a:prstGeom>
          <a:noFill/>
          <a:ln/>
        </p:spPr>
        <p:txBody>
          <a:bodyPr wrap="square" lIns="0" tIns="0" rIns="0" bIns="0" rtlCol="0" anchor="ctr">
            <a:normAutofit/>
          </a:bodyPr>
          <a:lstStyle/>
          <a:p>
            <a:pPr marL="0" indent="0" algn="l">
              <a:buNone/>
            </a:pPr>
            <a:r>
              <a:rPr lang="en-US" sz="1000" b="1" dirty="0">
                <a:solidFill>
                  <a:srgbClr val="D6E3EF"/>
                </a:solidFill>
                <a:latin typeface="Inter" pitchFamily="34" charset="0"/>
                <a:ea typeface="Inter" pitchFamily="34" charset="-122"/>
                <a:cs typeface="Inter" pitchFamily="34" charset="-120"/>
              </a:rPr>
              <a:t>Live demo  ·  Level 2  ·  Run the tool</a:t>
            </a:r>
            <a:endParaRPr lang="en-US" sz="1000" dirty="0"/>
          </a:p>
        </p:txBody>
      </p:sp>
      <p:pic>
        <p:nvPicPr>
          <p:cNvPr id="29" name="Demo screenshot" descr="Level 2: our program ran get_ahu_readings for AHU-01; tiles show 28 °C against a 22 °C target, airflow LOW and filter pressure drop HIGH."/>
          <p:cNvPicPr>
            <a:picLocks noChangeAspect="1"/>
          </p:cNvPicPr>
          <p:nvPr/>
        </p:nvPicPr>
        <p:blipFill>
          <a:blip r:embed="rId5"/>
          <a:stretch>
            <a:fillRect/>
          </a:stretch>
        </p:blipFill>
        <p:spPr>
          <a:xfrm>
            <a:off x="728565" y="2624328"/>
            <a:ext cx="8290374" cy="3127248"/>
          </a:xfrm>
          <a:prstGeom prst="rect">
            <a:avLst/>
          </a:prstGeom>
        </p:spPr>
      </p:pic>
      <p:pic>
        <p:nvPicPr>
          <p:cNvPr id="26" name="Image 1" descr="BEA_MASCOT_gear"/>
          <p:cNvPicPr>
            <a:picLocks noChangeAspect="1"/>
          </p:cNvPicPr>
          <p:nvPr/>
        </p:nvPicPr>
        <p:blipFill>
          <a:blip r:embed="rId4"/>
          <a:stretch>
            <a:fillRect/>
          </a:stretch>
        </p:blipFill>
        <p:spPr>
          <a:xfrm>
            <a:off x="9363456" y="2404872"/>
            <a:ext cx="1947672" cy="2213264"/>
          </a:xfrm>
          <a:prstGeom prst="rect">
            <a:avLst/>
          </a:prstGeom>
        </p:spPr>
      </p:pic>
      <p:sp>
        <p:nvSpPr>
          <p:cNvPr id="27" name="Shape 23"/>
          <p:cNvSpPr/>
          <p:nvPr/>
        </p:nvSpPr>
        <p:spPr>
          <a:xfrm>
            <a:off x="6858000" y="5989320"/>
            <a:ext cx="4572000"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28" name="Text 24"/>
          <p:cNvSpPr/>
          <p:nvPr/>
        </p:nvSpPr>
        <p:spPr>
          <a:xfrm>
            <a:off x="6940296" y="6012180"/>
            <a:ext cx="440740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THIS IS A TOOL — NOT YET AN AGENT</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26"/>
                                  </p:tgtEl>
                                  <p:attrNameLst>
                                    <p:attrName>style.visibility</p:attrName>
                                  </p:attrNameLst>
                                </p:cBhvr>
                                <p:to>
                                  <p:strVal val="visible"/>
                                </p:to>
                              </p:set>
                              <p:animEffect transition="in" filter="fade">
                                <p:cBhvr>
                                  <p:cTn id="6" dur="650"/>
                                  <p:tgtEl>
                                    <p:spTgt spid="26"/>
                                  </p:tgtEl>
                                </p:cBhvr>
                              </p:animEffect>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A243A"/>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526177"/>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526177"/>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526177"/>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526177"/>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526177"/>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526177"/>
            </a:solidFill>
            <a:prstDash val="solid"/>
          </a:ln>
        </p:spPr>
        <p:txBody>
          <a:bodyPr/>
          <a:lstStyle/>
          <a:p>
            <a:endParaRPr/>
          </a:p>
        </p:txBody>
      </p:sp>
      <p:sp>
        <p:nvSpPr>
          <p:cNvPr id="8" name="Shape 6"/>
          <p:cNvSpPr/>
          <p:nvPr/>
        </p:nvSpPr>
        <p:spPr>
          <a:xfrm>
            <a:off x="10872216" y="475488"/>
            <a:ext cx="73152" cy="73152"/>
          </a:xfrm>
          <a:prstGeom prst="ellipse">
            <a:avLst/>
          </a:prstGeom>
          <a:solidFill>
            <a:srgbClr val="526177"/>
          </a:solidFill>
          <a:ln w="12700">
            <a:solidFill>
              <a:srgbClr val="526177"/>
            </a:solidFill>
            <a:prstDash val="solid"/>
          </a:ln>
        </p:spPr>
        <p:txBody>
          <a:bodyPr/>
          <a:lstStyle/>
          <a:p>
            <a:endParaRPr/>
          </a:p>
        </p:txBody>
      </p:sp>
      <p:sp>
        <p:nvSpPr>
          <p:cNvPr id="9" name="Shape 7"/>
          <p:cNvSpPr/>
          <p:nvPr/>
        </p:nvSpPr>
        <p:spPr>
          <a:xfrm>
            <a:off x="11512296" y="603504"/>
            <a:ext cx="73152" cy="73152"/>
          </a:xfrm>
          <a:prstGeom prst="ellipse">
            <a:avLst/>
          </a:prstGeom>
          <a:solidFill>
            <a:srgbClr val="526177"/>
          </a:solidFill>
          <a:ln w="12700">
            <a:solidFill>
              <a:srgbClr val="526177"/>
            </a:solidFill>
            <a:prstDash val="solid"/>
          </a:ln>
        </p:spPr>
        <p:txBody>
          <a:bodyPr/>
          <a:lstStyle/>
          <a:p>
            <a:endParaRPr/>
          </a:p>
        </p:txBody>
      </p:sp>
      <p:sp>
        <p:nvSpPr>
          <p:cNvPr id="10" name="Shape 8"/>
          <p:cNvSpPr/>
          <p:nvPr/>
        </p:nvSpPr>
        <p:spPr>
          <a:xfrm>
            <a:off x="530352" y="5879592"/>
            <a:ext cx="73152" cy="73152"/>
          </a:xfrm>
          <a:prstGeom prst="ellipse">
            <a:avLst/>
          </a:prstGeom>
          <a:solidFill>
            <a:srgbClr val="526177"/>
          </a:solidFill>
          <a:ln w="12700">
            <a:solidFill>
              <a:srgbClr val="526177"/>
            </a:solidFill>
            <a:prstDash val="solid"/>
          </a:ln>
        </p:spPr>
        <p:txBody>
          <a:bodyPr/>
          <a:lstStyle/>
          <a:p>
            <a:endParaRPr/>
          </a:p>
        </p:txBody>
      </p:sp>
      <p:sp>
        <p:nvSpPr>
          <p:cNvPr id="11" name="Shape 9"/>
          <p:cNvSpPr/>
          <p:nvPr/>
        </p:nvSpPr>
        <p:spPr>
          <a:xfrm>
            <a:off x="813816" y="5120640"/>
            <a:ext cx="73152" cy="73152"/>
          </a:xfrm>
          <a:prstGeom prst="ellipse">
            <a:avLst/>
          </a:prstGeom>
          <a:solidFill>
            <a:srgbClr val="526177"/>
          </a:solidFill>
          <a:ln w="12700">
            <a:solidFill>
              <a:srgbClr val="526177"/>
            </a:solidFill>
            <a:prstDash val="solid"/>
          </a:ln>
        </p:spPr>
        <p:txBody>
          <a:bodyPr/>
          <a:lstStyle/>
          <a:p>
            <a:endParaRPr/>
          </a:p>
        </p:txBody>
      </p:sp>
      <p:sp>
        <p:nvSpPr>
          <p:cNvPr id="12" name="Shape 10"/>
          <p:cNvSpPr/>
          <p:nvPr/>
        </p:nvSpPr>
        <p:spPr>
          <a:xfrm>
            <a:off x="502920" y="6519672"/>
            <a:ext cx="11173968" cy="0"/>
          </a:xfrm>
          <a:prstGeom prst="line">
            <a:avLst/>
          </a:prstGeom>
          <a:noFill/>
          <a:ln w="8890">
            <a:solidFill>
              <a:srgbClr val="48556A"/>
            </a:solidFill>
            <a:prstDash val="solid"/>
          </a:ln>
        </p:spPr>
        <p:txBody>
          <a:bodyPr/>
          <a:lstStyle/>
          <a:p>
            <a:endParaRPr/>
          </a:p>
        </p:txBody>
      </p:sp>
      <p:sp>
        <p:nvSpPr>
          <p:cNvPr id="13" name="Text 11"/>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D2E3DF"/>
                </a:solidFill>
                <a:latin typeface="Inter" pitchFamily="34" charset="0"/>
                <a:ea typeface="Inter" pitchFamily="34" charset="-122"/>
                <a:cs typeface="Inter" pitchFamily="34" charset="-120"/>
              </a:rPr>
              <a:t>BEAWORLD  /  AGENTIC ENGINEERING 101</a:t>
            </a:r>
            <a:endParaRPr lang="en-US" sz="800" dirty="0"/>
          </a:p>
        </p:txBody>
      </p:sp>
      <p:sp>
        <p:nvSpPr>
          <p:cNvPr id="14" name="Text 12"/>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D2E3DF"/>
                </a:solidFill>
                <a:latin typeface="Inter" pitchFamily="34" charset="0"/>
                <a:ea typeface="Inter" pitchFamily="34" charset="-122"/>
                <a:cs typeface="Inter" pitchFamily="34" charset="-120"/>
              </a:rPr>
              <a:t>20  /  32</a:t>
            </a:r>
            <a:endParaRPr lang="en-US" sz="900" dirty="0"/>
          </a:p>
        </p:txBody>
      </p:sp>
      <p:sp>
        <p:nvSpPr>
          <p:cNvPr id="15" name="Shape 13"/>
          <p:cNvSpPr/>
          <p:nvPr/>
        </p:nvSpPr>
        <p:spPr>
          <a:xfrm>
            <a:off x="640080" y="658368"/>
            <a:ext cx="1920240" cy="320040"/>
          </a:xfrm>
          <a:prstGeom prst="roundRect">
            <a:avLst>
              <a:gd name="adj" fmla="val 42857"/>
            </a:avLst>
          </a:prstGeom>
          <a:solidFill>
            <a:srgbClr val="E04149"/>
          </a:solidFill>
          <a:ln w="12700">
            <a:solidFill>
              <a:srgbClr val="E04149"/>
            </a:solidFill>
            <a:prstDash val="solid"/>
          </a:ln>
        </p:spPr>
        <p:txBody>
          <a:bodyPr/>
          <a:lstStyle/>
          <a:p>
            <a:endParaRPr/>
          </a:p>
        </p:txBody>
      </p:sp>
      <p:sp>
        <p:nvSpPr>
          <p:cNvPr id="16" name="Text 14"/>
          <p:cNvSpPr/>
          <p:nvPr/>
        </p:nvSpPr>
        <p:spPr>
          <a:xfrm>
            <a:off x="722376" y="681228"/>
            <a:ext cx="175564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LEVEL 3</a:t>
            </a:r>
            <a:endParaRPr lang="en-US" sz="1000" dirty="0"/>
          </a:p>
        </p:txBody>
      </p:sp>
      <p:sp>
        <p:nvSpPr>
          <p:cNvPr id="17" name="Text 15"/>
          <p:cNvSpPr/>
          <p:nvPr/>
        </p:nvSpPr>
        <p:spPr>
          <a:xfrm>
            <a:off x="676656" y="1353312"/>
            <a:ext cx="7772400" cy="1280160"/>
          </a:xfrm>
          <a:prstGeom prst="rect">
            <a:avLst/>
          </a:prstGeom>
          <a:noFill/>
          <a:ln/>
        </p:spPr>
        <p:txBody>
          <a:bodyPr wrap="square" lIns="0" tIns="0" rIns="0" bIns="0" rtlCol="0" anchor="ctr">
            <a:normAutofit/>
          </a:bodyPr>
          <a:lstStyle/>
          <a:p>
            <a:pPr marL="0" indent="0" algn="l">
              <a:buNone/>
            </a:pPr>
            <a:r>
              <a:rPr lang="en-US" sz="3900" b="1" dirty="0">
                <a:solidFill>
                  <a:srgbClr val="FFFFFF"/>
                </a:solidFill>
                <a:latin typeface="Inter" pitchFamily="34" charset="0"/>
                <a:ea typeface="Inter" pitchFamily="34" charset="-122"/>
                <a:cs typeface="Inter" pitchFamily="34" charset="-120"/>
              </a:rPr>
              <a:t>RAG: Search Before Answering</a:t>
            </a:r>
            <a:endParaRPr lang="en-US" sz="3900" dirty="0"/>
          </a:p>
        </p:txBody>
      </p:sp>
      <p:sp>
        <p:nvSpPr>
          <p:cNvPr id="18" name="Text 16"/>
          <p:cNvSpPr/>
          <p:nvPr/>
        </p:nvSpPr>
        <p:spPr>
          <a:xfrm>
            <a:off x="704088" y="2788920"/>
            <a:ext cx="6839712" cy="1170432"/>
          </a:xfrm>
          <a:prstGeom prst="rect">
            <a:avLst/>
          </a:prstGeom>
          <a:noFill/>
          <a:ln/>
        </p:spPr>
        <p:txBody>
          <a:bodyPr wrap="square" lIns="0" tIns="0" rIns="0" bIns="0" rtlCol="0" anchor="t">
            <a:normAutofit/>
          </a:bodyPr>
          <a:lstStyle/>
          <a:p>
            <a:pPr marL="0" indent="0" algn="l">
              <a:buNone/>
            </a:pPr>
            <a:r>
              <a:rPr lang="en-US" sz="2200" dirty="0">
                <a:solidFill>
                  <a:srgbClr val="DEEBE9"/>
                </a:solidFill>
                <a:latin typeface="Inter" pitchFamily="34" charset="0"/>
                <a:ea typeface="Inter" pitchFamily="34" charset="-122"/>
                <a:cs typeface="Inter" pitchFamily="34" charset="-120"/>
              </a:rPr>
              <a:t>Retrieval-Augmented Generation finds relevant evidence in the maintenance manual before GPT answers.</a:t>
            </a:r>
            <a:endParaRPr lang="en-US" sz="2200" dirty="0"/>
          </a:p>
        </p:txBody>
      </p:sp>
      <p:pic>
        <p:nvPicPr>
          <p:cNvPr id="19" name="Image 0" descr="BEA_MASCOT_chip"/>
          <p:cNvPicPr>
            <a:picLocks noChangeAspect="1"/>
          </p:cNvPicPr>
          <p:nvPr/>
        </p:nvPicPr>
        <p:blipFill>
          <a:blip r:embed="rId3"/>
          <a:stretch>
            <a:fillRect/>
          </a:stretch>
        </p:blipFill>
        <p:spPr>
          <a:xfrm>
            <a:off x="8001000" y="1874520"/>
            <a:ext cx="2971800" cy="3377045"/>
          </a:xfrm>
          <a:prstGeom prst="rect">
            <a:avLst/>
          </a:prstGeom>
        </p:spPr>
      </p:pic>
      <p:sp>
        <p:nvSpPr>
          <p:cNvPr id="20" name="Shape 17"/>
          <p:cNvSpPr/>
          <p:nvPr/>
        </p:nvSpPr>
        <p:spPr>
          <a:xfrm>
            <a:off x="731520" y="5330952"/>
            <a:ext cx="3136392" cy="320040"/>
          </a:xfrm>
          <a:prstGeom prst="roundRect">
            <a:avLst>
              <a:gd name="adj" fmla="val 42857"/>
            </a:avLst>
          </a:prstGeom>
          <a:solidFill>
            <a:srgbClr val="32445B"/>
          </a:solidFill>
          <a:ln w="12700">
            <a:solidFill>
              <a:srgbClr val="32445B"/>
            </a:solidFill>
            <a:prstDash val="solid"/>
          </a:ln>
        </p:spPr>
        <p:txBody>
          <a:bodyPr/>
          <a:lstStyle/>
          <a:p>
            <a:endParaRPr/>
          </a:p>
        </p:txBody>
      </p:sp>
      <p:sp>
        <p:nvSpPr>
          <p:cNvPr id="21" name="Text 18"/>
          <p:cNvSpPr/>
          <p:nvPr/>
        </p:nvSpPr>
        <p:spPr>
          <a:xfrm>
            <a:off x="813816" y="5353812"/>
            <a:ext cx="297180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D6FBEA"/>
                </a:solidFill>
                <a:latin typeface="Inter" pitchFamily="34" charset="0"/>
                <a:ea typeface="Inter" pitchFamily="34" charset="-122"/>
                <a:cs typeface="Inter" pitchFamily="34" charset="-120"/>
              </a:rPr>
              <a:t>ENGINEERING LAB  ·  AHU-01</a:t>
            </a:r>
            <a:endParaRPr lang="en-US" sz="1000" dirty="0"/>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EXERCISE 3</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Find a manual passage before answering</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7 min  ·  Retrieval-Augmented Generation (RAG)</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21  /  32</a:t>
            </a:r>
            <a:endParaRPr lang="en-US" sz="900" dirty="0"/>
          </a:p>
        </p:txBody>
      </p:sp>
      <p:sp>
        <p:nvSpPr>
          <p:cNvPr id="19" name="Shape 17"/>
          <p:cNvSpPr/>
          <p:nvPr/>
        </p:nvSpPr>
        <p:spPr>
          <a:xfrm>
            <a:off x="658368" y="2249424"/>
            <a:ext cx="8513064" cy="3666744"/>
          </a:xfrm>
          <a:prstGeom prst="roundRect">
            <a:avLst>
              <a:gd name="adj" fmla="val 3741"/>
            </a:avLst>
          </a:prstGeom>
          <a:solidFill>
            <a:srgbClr val="14213B"/>
          </a:solidFill>
          <a:ln w="12700">
            <a:solidFill>
              <a:srgbClr val="14213B"/>
            </a:solidFill>
            <a:prstDash val="solid"/>
          </a:ln>
        </p:spPr>
        <p:txBody>
          <a:bodyPr/>
          <a:lstStyle/>
          <a:p>
            <a:endParaRPr/>
          </a:p>
        </p:txBody>
      </p:sp>
      <p:sp>
        <p:nvSpPr>
          <p:cNvPr id="20" name="Shape 18"/>
          <p:cNvSpPr/>
          <p:nvPr/>
        </p:nvSpPr>
        <p:spPr>
          <a:xfrm>
            <a:off x="658368" y="2249424"/>
            <a:ext cx="8513064" cy="356616"/>
          </a:xfrm>
          <a:prstGeom prst="roundRect">
            <a:avLst>
              <a:gd name="adj" fmla="val 38462"/>
            </a:avLst>
          </a:prstGeom>
          <a:solidFill>
            <a:srgbClr val="293A57"/>
          </a:solidFill>
          <a:ln w="12700">
            <a:solidFill>
              <a:srgbClr val="293A57"/>
            </a:solidFill>
            <a:prstDash val="solid"/>
          </a:ln>
        </p:spPr>
        <p:txBody>
          <a:bodyPr/>
          <a:lstStyle/>
          <a:p>
            <a:endParaRPr/>
          </a:p>
        </p:txBody>
      </p:sp>
      <p:sp>
        <p:nvSpPr>
          <p:cNvPr id="21" name="Shape 19"/>
          <p:cNvSpPr/>
          <p:nvPr/>
        </p:nvSpPr>
        <p:spPr>
          <a:xfrm>
            <a:off x="822960" y="2377440"/>
            <a:ext cx="91440" cy="91440"/>
          </a:xfrm>
          <a:prstGeom prst="ellipse">
            <a:avLst/>
          </a:prstGeom>
          <a:solidFill>
            <a:srgbClr val="E04149"/>
          </a:solidFill>
          <a:ln w="12700">
            <a:solidFill>
              <a:srgbClr val="E04149"/>
            </a:solidFill>
            <a:prstDash val="solid"/>
          </a:ln>
        </p:spPr>
        <p:txBody>
          <a:bodyPr/>
          <a:lstStyle/>
          <a:p>
            <a:endParaRPr/>
          </a:p>
        </p:txBody>
      </p:sp>
      <p:sp>
        <p:nvSpPr>
          <p:cNvPr id="22" name="Shape 20"/>
          <p:cNvSpPr/>
          <p:nvPr/>
        </p:nvSpPr>
        <p:spPr>
          <a:xfrm>
            <a:off x="987552" y="2377440"/>
            <a:ext cx="91440" cy="91440"/>
          </a:xfrm>
          <a:prstGeom prst="ellipse">
            <a:avLst/>
          </a:prstGeom>
          <a:solidFill>
            <a:srgbClr val="F9C74F"/>
          </a:solidFill>
          <a:ln w="12700">
            <a:solidFill>
              <a:srgbClr val="F9C74F"/>
            </a:solidFill>
            <a:prstDash val="solid"/>
          </a:ln>
        </p:spPr>
        <p:txBody>
          <a:bodyPr/>
          <a:lstStyle/>
          <a:p>
            <a:endParaRPr/>
          </a:p>
        </p:txBody>
      </p:sp>
      <p:sp>
        <p:nvSpPr>
          <p:cNvPr id="23" name="Shape 21"/>
          <p:cNvSpPr/>
          <p:nvPr/>
        </p:nvSpPr>
        <p:spPr>
          <a:xfrm>
            <a:off x="1152144" y="2377440"/>
            <a:ext cx="91440" cy="91440"/>
          </a:xfrm>
          <a:prstGeom prst="ellipse">
            <a:avLst/>
          </a:prstGeom>
          <a:solidFill>
            <a:srgbClr val="2B6450"/>
          </a:solidFill>
          <a:ln w="12700">
            <a:solidFill>
              <a:srgbClr val="2B6450"/>
            </a:solidFill>
            <a:prstDash val="solid"/>
          </a:ln>
        </p:spPr>
        <p:txBody>
          <a:bodyPr/>
          <a:lstStyle/>
          <a:p>
            <a:endParaRPr/>
          </a:p>
        </p:txBody>
      </p:sp>
      <p:sp>
        <p:nvSpPr>
          <p:cNvPr id="24" name="Text 22"/>
          <p:cNvSpPr/>
          <p:nvPr/>
        </p:nvSpPr>
        <p:spPr>
          <a:xfrm>
            <a:off x="1371600" y="2322576"/>
            <a:ext cx="7598664" cy="210312"/>
          </a:xfrm>
          <a:prstGeom prst="rect">
            <a:avLst/>
          </a:prstGeom>
          <a:noFill/>
          <a:ln/>
        </p:spPr>
        <p:txBody>
          <a:bodyPr wrap="square" lIns="0" tIns="0" rIns="0" bIns="0" rtlCol="0" anchor="ctr">
            <a:normAutofit/>
          </a:bodyPr>
          <a:lstStyle/>
          <a:p>
            <a:pPr marL="0" indent="0" algn="l">
              <a:buNone/>
            </a:pPr>
            <a:r>
              <a:rPr lang="en-US" sz="1000" b="1" dirty="0">
                <a:solidFill>
                  <a:srgbClr val="D6E3EF"/>
                </a:solidFill>
                <a:latin typeface="Inter" pitchFamily="34" charset="0"/>
                <a:ea typeface="Inter" pitchFamily="34" charset="-122"/>
                <a:cs typeface="Inter" pitchFamily="34" charset="-120"/>
              </a:rPr>
              <a:t>Live demo  ·  Level 3  ·  Search, then answer</a:t>
            </a:r>
            <a:endParaRPr lang="en-US" sz="1000" dirty="0"/>
          </a:p>
        </p:txBody>
      </p:sp>
      <p:pic>
        <p:nvPicPr>
          <p:cNvPr id="26" name="Image 1" descr="BEA_MASCOT_chip"/>
          <p:cNvPicPr>
            <a:picLocks noChangeAspect="1"/>
          </p:cNvPicPr>
          <p:nvPr/>
        </p:nvPicPr>
        <p:blipFill>
          <a:blip r:embed="rId3"/>
          <a:stretch>
            <a:fillRect/>
          </a:stretch>
        </p:blipFill>
        <p:spPr>
          <a:xfrm>
            <a:off x="9235440" y="2404872"/>
            <a:ext cx="2011680" cy="2286000"/>
          </a:xfrm>
          <a:prstGeom prst="rect">
            <a:avLst/>
          </a:prstGeom>
        </p:spPr>
      </p:pic>
      <p:sp>
        <p:nvSpPr>
          <p:cNvPr id="27" name="Shape 23"/>
          <p:cNvSpPr/>
          <p:nvPr/>
        </p:nvSpPr>
        <p:spPr>
          <a:xfrm>
            <a:off x="9262872" y="4983480"/>
            <a:ext cx="2633472" cy="786384"/>
          </a:xfrm>
          <a:prstGeom prst="roundRect">
            <a:avLst>
              <a:gd name="adj" fmla="val 17442"/>
            </a:avLst>
          </a:prstGeom>
          <a:solidFill>
            <a:srgbClr val="D9F1E6"/>
          </a:solidFill>
          <a:ln w="12700">
            <a:solidFill>
              <a:srgbClr val="DDE5E1"/>
            </a:solidFill>
            <a:prstDash val="solid"/>
          </a:ln>
        </p:spPr>
        <p:txBody>
          <a:bodyPr/>
          <a:lstStyle/>
          <a:p>
            <a:endParaRPr/>
          </a:p>
        </p:txBody>
      </p:sp>
      <p:sp>
        <p:nvSpPr>
          <p:cNvPr id="28" name="Text 24"/>
          <p:cNvSpPr/>
          <p:nvPr/>
        </p:nvSpPr>
        <p:spPr>
          <a:xfrm>
            <a:off x="9491472" y="5111496"/>
            <a:ext cx="2176272" cy="530352"/>
          </a:xfrm>
          <a:prstGeom prst="rect">
            <a:avLst/>
          </a:prstGeom>
          <a:noFill/>
          <a:ln/>
        </p:spPr>
        <p:txBody>
          <a:bodyPr wrap="square" lIns="0" tIns="0" rIns="0" bIns="0" rtlCol="0" anchor="ctr">
            <a:normAutofit fontScale="77500" lnSpcReduction="20000"/>
          </a:bodyPr>
          <a:lstStyle/>
          <a:p>
            <a:r>
              <a:t>New ability:</a:t>
            </a:r>
          </a:p>
          <a:p>
            <a:r>
              <a:t>answers use documents.</a:t>
            </a:r>
          </a:p>
        </p:txBody>
      </p:sp>
      <p:pic>
        <p:nvPicPr>
          <p:cNvPr id="31" name="Demo screenshot" descr="Level 3: every manual section has a match score; air filters and supply fan are sent to the model, which answers citing them."/>
          <p:cNvPicPr>
            <a:picLocks noChangeAspect="1"/>
          </p:cNvPicPr>
          <p:nvPr/>
        </p:nvPicPr>
        <p:blipFill>
          <a:blip r:embed="rId4"/>
          <a:stretch>
            <a:fillRect/>
          </a:stretch>
        </p:blipFill>
        <p:spPr>
          <a:xfrm>
            <a:off x="755365" y="2606040"/>
            <a:ext cx="8319070" cy="32186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26"/>
                                  </p:tgtEl>
                                  <p:attrNameLst>
                                    <p:attrName>style.visibility</p:attrName>
                                  </p:attrNameLst>
                                </p:cBhvr>
                                <p:to>
                                  <p:strVal val="visible"/>
                                </p:to>
                              </p:set>
                              <p:animEffect transition="in" filter="fade">
                                <p:cBhvr>
                                  <p:cTn id="6" dur="650"/>
                                  <p:tgtEl>
                                    <p:spTgt spid="26"/>
                                  </p:tgtEl>
                                </p:cBhvr>
                              </p:animEffect>
                            </p:childTnLst>
                          </p:cTn>
                        </p:par>
                      </p:childTnLst>
                    </p:cTn>
                  </p:par>
                </p:childTnLst>
              </p:cTn>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243A"/>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526177"/>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526177"/>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526177"/>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526177"/>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526177"/>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526177"/>
            </a:solidFill>
            <a:prstDash val="solid"/>
          </a:ln>
        </p:spPr>
        <p:txBody>
          <a:bodyPr/>
          <a:lstStyle/>
          <a:p>
            <a:endParaRPr/>
          </a:p>
        </p:txBody>
      </p:sp>
      <p:sp>
        <p:nvSpPr>
          <p:cNvPr id="8" name="Shape 6"/>
          <p:cNvSpPr/>
          <p:nvPr/>
        </p:nvSpPr>
        <p:spPr>
          <a:xfrm>
            <a:off x="10872216" y="475488"/>
            <a:ext cx="73152" cy="73152"/>
          </a:xfrm>
          <a:prstGeom prst="ellipse">
            <a:avLst/>
          </a:prstGeom>
          <a:solidFill>
            <a:srgbClr val="526177"/>
          </a:solidFill>
          <a:ln w="12700">
            <a:solidFill>
              <a:srgbClr val="526177"/>
            </a:solidFill>
            <a:prstDash val="solid"/>
          </a:ln>
        </p:spPr>
        <p:txBody>
          <a:bodyPr/>
          <a:lstStyle/>
          <a:p>
            <a:endParaRPr/>
          </a:p>
        </p:txBody>
      </p:sp>
      <p:sp>
        <p:nvSpPr>
          <p:cNvPr id="9" name="Shape 7"/>
          <p:cNvSpPr/>
          <p:nvPr/>
        </p:nvSpPr>
        <p:spPr>
          <a:xfrm>
            <a:off x="11512296" y="603504"/>
            <a:ext cx="73152" cy="73152"/>
          </a:xfrm>
          <a:prstGeom prst="ellipse">
            <a:avLst/>
          </a:prstGeom>
          <a:solidFill>
            <a:srgbClr val="526177"/>
          </a:solidFill>
          <a:ln w="12700">
            <a:solidFill>
              <a:srgbClr val="526177"/>
            </a:solidFill>
            <a:prstDash val="solid"/>
          </a:ln>
        </p:spPr>
        <p:txBody>
          <a:bodyPr/>
          <a:lstStyle/>
          <a:p>
            <a:endParaRPr/>
          </a:p>
        </p:txBody>
      </p:sp>
      <p:sp>
        <p:nvSpPr>
          <p:cNvPr id="10" name="Shape 8"/>
          <p:cNvSpPr/>
          <p:nvPr/>
        </p:nvSpPr>
        <p:spPr>
          <a:xfrm>
            <a:off x="530352" y="5879592"/>
            <a:ext cx="73152" cy="73152"/>
          </a:xfrm>
          <a:prstGeom prst="ellipse">
            <a:avLst/>
          </a:prstGeom>
          <a:solidFill>
            <a:srgbClr val="526177"/>
          </a:solidFill>
          <a:ln w="12700">
            <a:solidFill>
              <a:srgbClr val="526177"/>
            </a:solidFill>
            <a:prstDash val="solid"/>
          </a:ln>
        </p:spPr>
        <p:txBody>
          <a:bodyPr/>
          <a:lstStyle/>
          <a:p>
            <a:endParaRPr/>
          </a:p>
        </p:txBody>
      </p:sp>
      <p:sp>
        <p:nvSpPr>
          <p:cNvPr id="11" name="Shape 9"/>
          <p:cNvSpPr/>
          <p:nvPr/>
        </p:nvSpPr>
        <p:spPr>
          <a:xfrm>
            <a:off x="813816" y="5120640"/>
            <a:ext cx="73152" cy="73152"/>
          </a:xfrm>
          <a:prstGeom prst="ellipse">
            <a:avLst/>
          </a:prstGeom>
          <a:solidFill>
            <a:srgbClr val="526177"/>
          </a:solidFill>
          <a:ln w="12700">
            <a:solidFill>
              <a:srgbClr val="526177"/>
            </a:solidFill>
            <a:prstDash val="solid"/>
          </a:ln>
        </p:spPr>
        <p:txBody>
          <a:bodyPr/>
          <a:lstStyle/>
          <a:p>
            <a:endParaRPr/>
          </a:p>
        </p:txBody>
      </p:sp>
      <p:sp>
        <p:nvSpPr>
          <p:cNvPr id="12" name="Shape 10"/>
          <p:cNvSpPr/>
          <p:nvPr/>
        </p:nvSpPr>
        <p:spPr>
          <a:xfrm>
            <a:off x="502920" y="6519672"/>
            <a:ext cx="11173968" cy="0"/>
          </a:xfrm>
          <a:prstGeom prst="line">
            <a:avLst/>
          </a:prstGeom>
          <a:noFill/>
          <a:ln w="8890">
            <a:solidFill>
              <a:srgbClr val="48556A"/>
            </a:solidFill>
            <a:prstDash val="solid"/>
          </a:ln>
        </p:spPr>
        <p:txBody>
          <a:bodyPr/>
          <a:lstStyle/>
          <a:p>
            <a:endParaRPr/>
          </a:p>
        </p:txBody>
      </p:sp>
      <p:sp>
        <p:nvSpPr>
          <p:cNvPr id="13" name="Text 11"/>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D2E3DF"/>
                </a:solidFill>
                <a:latin typeface="Inter" pitchFamily="34" charset="0"/>
                <a:ea typeface="Inter" pitchFamily="34" charset="-122"/>
                <a:cs typeface="Inter" pitchFamily="34" charset="-120"/>
              </a:rPr>
              <a:t>BEAWORLD  /  AGENTIC ENGINEERING 101</a:t>
            </a:r>
            <a:endParaRPr lang="en-US" sz="800" dirty="0"/>
          </a:p>
        </p:txBody>
      </p:sp>
      <p:sp>
        <p:nvSpPr>
          <p:cNvPr id="14" name="Text 12"/>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D2E3DF"/>
                </a:solidFill>
                <a:latin typeface="Inter" pitchFamily="34" charset="0"/>
                <a:ea typeface="Inter" pitchFamily="34" charset="-122"/>
                <a:cs typeface="Inter" pitchFamily="34" charset="-120"/>
              </a:rPr>
              <a:t>22  /  32</a:t>
            </a:r>
            <a:endParaRPr lang="en-US" sz="900" dirty="0"/>
          </a:p>
        </p:txBody>
      </p:sp>
      <p:sp>
        <p:nvSpPr>
          <p:cNvPr id="15" name="Shape 13"/>
          <p:cNvSpPr/>
          <p:nvPr/>
        </p:nvSpPr>
        <p:spPr>
          <a:xfrm>
            <a:off x="640080" y="658368"/>
            <a:ext cx="1920240" cy="320040"/>
          </a:xfrm>
          <a:prstGeom prst="roundRect">
            <a:avLst>
              <a:gd name="adj" fmla="val 42857"/>
            </a:avLst>
          </a:prstGeom>
          <a:solidFill>
            <a:srgbClr val="E04149"/>
          </a:solidFill>
          <a:ln w="12700">
            <a:solidFill>
              <a:srgbClr val="E04149"/>
            </a:solidFill>
            <a:prstDash val="solid"/>
          </a:ln>
        </p:spPr>
        <p:txBody>
          <a:bodyPr/>
          <a:lstStyle/>
          <a:p>
            <a:endParaRPr/>
          </a:p>
        </p:txBody>
      </p:sp>
      <p:sp>
        <p:nvSpPr>
          <p:cNvPr id="16" name="Text 14"/>
          <p:cNvSpPr/>
          <p:nvPr/>
        </p:nvSpPr>
        <p:spPr>
          <a:xfrm>
            <a:off x="722376" y="681228"/>
            <a:ext cx="175564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LEVEL 4</a:t>
            </a:r>
            <a:endParaRPr lang="en-US" sz="1000" dirty="0"/>
          </a:p>
        </p:txBody>
      </p:sp>
      <p:sp>
        <p:nvSpPr>
          <p:cNvPr id="17" name="Text 15"/>
          <p:cNvSpPr/>
          <p:nvPr/>
        </p:nvSpPr>
        <p:spPr>
          <a:xfrm>
            <a:off x="676656" y="1353312"/>
            <a:ext cx="7772400" cy="1280160"/>
          </a:xfrm>
          <a:prstGeom prst="rect">
            <a:avLst/>
          </a:prstGeom>
          <a:noFill/>
          <a:ln/>
        </p:spPr>
        <p:txBody>
          <a:bodyPr wrap="square" lIns="0" tIns="0" rIns="0" bIns="0" rtlCol="0" anchor="ctr">
            <a:normAutofit/>
          </a:bodyPr>
          <a:lstStyle/>
          <a:p>
            <a:pPr marL="0" indent="0" algn="l">
              <a:buNone/>
            </a:pPr>
            <a:r>
              <a:rPr lang="en-US" sz="3900" b="1" dirty="0">
                <a:solidFill>
                  <a:srgbClr val="FFFFFF"/>
                </a:solidFill>
                <a:latin typeface="Inter" pitchFamily="34" charset="0"/>
                <a:ea typeface="Inter" pitchFamily="34" charset="-122"/>
                <a:cs typeface="Inter" pitchFamily="34" charset="-120"/>
              </a:rPr>
              <a:t>The AI Agent</a:t>
            </a:r>
            <a:endParaRPr lang="en-US" sz="3900" dirty="0"/>
          </a:p>
        </p:txBody>
      </p:sp>
      <p:sp>
        <p:nvSpPr>
          <p:cNvPr id="18" name="Text 16"/>
          <p:cNvSpPr/>
          <p:nvPr/>
        </p:nvSpPr>
        <p:spPr>
          <a:xfrm>
            <a:off x="704088" y="2788920"/>
            <a:ext cx="6839712" cy="1170432"/>
          </a:xfrm>
          <a:prstGeom prst="rect">
            <a:avLst/>
          </a:prstGeom>
          <a:noFill/>
          <a:ln/>
        </p:spPr>
        <p:txBody>
          <a:bodyPr wrap="square" lIns="0" tIns="0" rIns="0" bIns="0" rtlCol="0" anchor="t">
            <a:normAutofit/>
          </a:bodyPr>
          <a:lstStyle/>
          <a:p>
            <a:pPr marL="0" indent="0" algn="l">
              <a:buNone/>
            </a:pPr>
            <a:r>
              <a:rPr lang="en-US" sz="2200" dirty="0">
                <a:solidFill>
                  <a:srgbClr val="DEEBE9"/>
                </a:solidFill>
                <a:latin typeface="Inter" pitchFamily="34" charset="0"/>
                <a:ea typeface="Inter" pitchFamily="34" charset="-122"/>
                <a:cs typeface="Inter" pitchFamily="34" charset="-120"/>
              </a:rPr>
              <a:t>Let GPT decide whether to read sensors, check service history, or retrieve manual guidance.</a:t>
            </a:r>
            <a:endParaRPr lang="en-US" sz="2200" dirty="0"/>
          </a:p>
        </p:txBody>
      </p:sp>
      <p:pic>
        <p:nvPicPr>
          <p:cNvPr id="19" name="Image 0" descr="BEA_MASCOT_chip"/>
          <p:cNvPicPr>
            <a:picLocks noChangeAspect="1"/>
          </p:cNvPicPr>
          <p:nvPr/>
        </p:nvPicPr>
        <p:blipFill>
          <a:blip r:embed="rId2"/>
          <a:stretch>
            <a:fillRect/>
          </a:stretch>
        </p:blipFill>
        <p:spPr>
          <a:xfrm>
            <a:off x="8001000" y="1874520"/>
            <a:ext cx="2971800" cy="3377045"/>
          </a:xfrm>
          <a:prstGeom prst="rect">
            <a:avLst/>
          </a:prstGeom>
        </p:spPr>
      </p:pic>
      <p:sp>
        <p:nvSpPr>
          <p:cNvPr id="20" name="Shape 17"/>
          <p:cNvSpPr/>
          <p:nvPr/>
        </p:nvSpPr>
        <p:spPr>
          <a:xfrm>
            <a:off x="731520" y="5330952"/>
            <a:ext cx="3136392" cy="320040"/>
          </a:xfrm>
          <a:prstGeom prst="roundRect">
            <a:avLst>
              <a:gd name="adj" fmla="val 42857"/>
            </a:avLst>
          </a:prstGeom>
          <a:solidFill>
            <a:srgbClr val="32445B"/>
          </a:solidFill>
          <a:ln w="12700">
            <a:solidFill>
              <a:srgbClr val="32445B"/>
            </a:solidFill>
            <a:prstDash val="solid"/>
          </a:ln>
        </p:spPr>
        <p:txBody>
          <a:bodyPr/>
          <a:lstStyle/>
          <a:p>
            <a:endParaRPr/>
          </a:p>
        </p:txBody>
      </p:sp>
      <p:sp>
        <p:nvSpPr>
          <p:cNvPr id="21" name="Text 18"/>
          <p:cNvSpPr/>
          <p:nvPr/>
        </p:nvSpPr>
        <p:spPr>
          <a:xfrm>
            <a:off x="813816" y="5353812"/>
            <a:ext cx="297180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D6FBEA"/>
                </a:solidFill>
                <a:latin typeface="Inter" pitchFamily="34" charset="0"/>
                <a:ea typeface="Inter" pitchFamily="34" charset="-122"/>
                <a:cs typeface="Inter" pitchFamily="34" charset="-120"/>
              </a:rPr>
              <a:t>ENGINEERING LAB  ·  AHU-01</a:t>
            </a:r>
            <a:endParaRPr lang="en-US" sz="1000" dirty="0"/>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EXERCISE 4</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Let the model choose the next tool</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10 min  ·  LangChain create_agent</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23  /  32</a:t>
            </a:r>
            <a:endParaRPr lang="en-US" sz="900" dirty="0"/>
          </a:p>
        </p:txBody>
      </p:sp>
      <p:sp>
        <p:nvSpPr>
          <p:cNvPr id="19" name="Shape 17"/>
          <p:cNvSpPr/>
          <p:nvPr/>
        </p:nvSpPr>
        <p:spPr>
          <a:xfrm>
            <a:off x="658368" y="2249424"/>
            <a:ext cx="8513064" cy="3666744"/>
          </a:xfrm>
          <a:prstGeom prst="roundRect">
            <a:avLst>
              <a:gd name="adj" fmla="val 3741"/>
            </a:avLst>
          </a:prstGeom>
          <a:solidFill>
            <a:srgbClr val="14213B"/>
          </a:solidFill>
          <a:ln w="12700">
            <a:solidFill>
              <a:srgbClr val="14213B"/>
            </a:solidFill>
            <a:prstDash val="solid"/>
          </a:ln>
        </p:spPr>
        <p:txBody>
          <a:bodyPr/>
          <a:lstStyle/>
          <a:p>
            <a:endParaRPr/>
          </a:p>
        </p:txBody>
      </p:sp>
      <p:sp>
        <p:nvSpPr>
          <p:cNvPr id="20" name="Shape 18"/>
          <p:cNvSpPr/>
          <p:nvPr/>
        </p:nvSpPr>
        <p:spPr>
          <a:xfrm>
            <a:off x="658368" y="2249424"/>
            <a:ext cx="8513064" cy="356616"/>
          </a:xfrm>
          <a:prstGeom prst="roundRect">
            <a:avLst>
              <a:gd name="adj" fmla="val 38462"/>
            </a:avLst>
          </a:prstGeom>
          <a:solidFill>
            <a:srgbClr val="293A57"/>
          </a:solidFill>
          <a:ln w="12700">
            <a:solidFill>
              <a:srgbClr val="293A57"/>
            </a:solidFill>
            <a:prstDash val="solid"/>
          </a:ln>
        </p:spPr>
        <p:txBody>
          <a:bodyPr/>
          <a:lstStyle/>
          <a:p>
            <a:endParaRPr/>
          </a:p>
        </p:txBody>
      </p:sp>
      <p:sp>
        <p:nvSpPr>
          <p:cNvPr id="21" name="Shape 19"/>
          <p:cNvSpPr/>
          <p:nvPr/>
        </p:nvSpPr>
        <p:spPr>
          <a:xfrm>
            <a:off x="822960" y="2377440"/>
            <a:ext cx="91440" cy="91440"/>
          </a:xfrm>
          <a:prstGeom prst="ellipse">
            <a:avLst/>
          </a:prstGeom>
          <a:solidFill>
            <a:srgbClr val="E04149"/>
          </a:solidFill>
          <a:ln w="12700">
            <a:solidFill>
              <a:srgbClr val="E04149"/>
            </a:solidFill>
            <a:prstDash val="solid"/>
          </a:ln>
        </p:spPr>
        <p:txBody>
          <a:bodyPr/>
          <a:lstStyle/>
          <a:p>
            <a:endParaRPr/>
          </a:p>
        </p:txBody>
      </p:sp>
      <p:sp>
        <p:nvSpPr>
          <p:cNvPr id="22" name="Shape 20"/>
          <p:cNvSpPr/>
          <p:nvPr/>
        </p:nvSpPr>
        <p:spPr>
          <a:xfrm>
            <a:off x="987552" y="2377440"/>
            <a:ext cx="91440" cy="91440"/>
          </a:xfrm>
          <a:prstGeom prst="ellipse">
            <a:avLst/>
          </a:prstGeom>
          <a:solidFill>
            <a:srgbClr val="F9C74F"/>
          </a:solidFill>
          <a:ln w="12700">
            <a:solidFill>
              <a:srgbClr val="F9C74F"/>
            </a:solidFill>
            <a:prstDash val="solid"/>
          </a:ln>
        </p:spPr>
        <p:txBody>
          <a:bodyPr/>
          <a:lstStyle/>
          <a:p>
            <a:endParaRPr/>
          </a:p>
        </p:txBody>
      </p:sp>
      <p:sp>
        <p:nvSpPr>
          <p:cNvPr id="23" name="Shape 21"/>
          <p:cNvSpPr/>
          <p:nvPr/>
        </p:nvSpPr>
        <p:spPr>
          <a:xfrm>
            <a:off x="1152144" y="2377440"/>
            <a:ext cx="91440" cy="91440"/>
          </a:xfrm>
          <a:prstGeom prst="ellipse">
            <a:avLst/>
          </a:prstGeom>
          <a:solidFill>
            <a:srgbClr val="2B6450"/>
          </a:solidFill>
          <a:ln w="12700">
            <a:solidFill>
              <a:srgbClr val="2B6450"/>
            </a:solidFill>
            <a:prstDash val="solid"/>
          </a:ln>
        </p:spPr>
        <p:txBody>
          <a:bodyPr/>
          <a:lstStyle/>
          <a:p>
            <a:endParaRPr/>
          </a:p>
        </p:txBody>
      </p:sp>
      <p:sp>
        <p:nvSpPr>
          <p:cNvPr id="24" name="Text 22"/>
          <p:cNvSpPr/>
          <p:nvPr/>
        </p:nvSpPr>
        <p:spPr>
          <a:xfrm>
            <a:off x="1371600" y="2322576"/>
            <a:ext cx="7598664" cy="210312"/>
          </a:xfrm>
          <a:prstGeom prst="rect">
            <a:avLst/>
          </a:prstGeom>
          <a:noFill/>
          <a:ln/>
        </p:spPr>
        <p:txBody>
          <a:bodyPr wrap="square" lIns="0" tIns="0" rIns="0" bIns="0" rtlCol="0" anchor="ctr">
            <a:normAutofit/>
          </a:bodyPr>
          <a:lstStyle/>
          <a:p>
            <a:pPr marL="0" indent="0" algn="l">
              <a:buNone/>
            </a:pPr>
            <a:r>
              <a:rPr lang="en-US" sz="1000" b="1" dirty="0">
                <a:solidFill>
                  <a:srgbClr val="D6E3EF"/>
                </a:solidFill>
                <a:latin typeface="Inter" pitchFamily="34" charset="0"/>
                <a:ea typeface="Inter" pitchFamily="34" charset="-122"/>
                <a:cs typeface="Inter" pitchFamily="34" charset="-120"/>
              </a:rPr>
              <a:t>Live demo  ·  Level 4  ·  Investigation trace</a:t>
            </a:r>
            <a:endParaRPr lang="en-US" sz="1000" dirty="0"/>
          </a:p>
        </p:txBody>
      </p:sp>
      <p:pic>
        <p:nvPicPr>
          <p:cNvPr id="29" name="Demo screenshot" descr="Level 4 investigation trace: the model asks the application to read the sensors, then to check the service history."/>
          <p:cNvPicPr>
            <a:picLocks noChangeAspect="1"/>
          </p:cNvPicPr>
          <p:nvPr/>
        </p:nvPicPr>
        <p:blipFill>
          <a:blip r:embed="rId4"/>
          <a:stretch>
            <a:fillRect/>
          </a:stretch>
        </p:blipFill>
        <p:spPr>
          <a:xfrm>
            <a:off x="757284" y="2606040"/>
            <a:ext cx="8315232" cy="3218688"/>
          </a:xfrm>
          <a:prstGeom prst="rect">
            <a:avLst/>
          </a:prstGeom>
        </p:spPr>
      </p:pic>
      <p:pic>
        <p:nvPicPr>
          <p:cNvPr id="26" name="Image 1" descr="BEA_MASCOT_chip"/>
          <p:cNvPicPr>
            <a:picLocks noChangeAspect="1"/>
          </p:cNvPicPr>
          <p:nvPr/>
        </p:nvPicPr>
        <p:blipFill>
          <a:blip r:embed="rId3"/>
          <a:stretch>
            <a:fillRect/>
          </a:stretch>
        </p:blipFill>
        <p:spPr>
          <a:xfrm>
            <a:off x="9235440" y="2404872"/>
            <a:ext cx="2011680" cy="2286000"/>
          </a:xfrm>
          <a:prstGeom prst="rect">
            <a:avLst/>
          </a:prstGeom>
        </p:spPr>
      </p:pic>
      <p:sp>
        <p:nvSpPr>
          <p:cNvPr id="27" name="Shape 23"/>
          <p:cNvSpPr/>
          <p:nvPr/>
        </p:nvSpPr>
        <p:spPr>
          <a:xfrm>
            <a:off x="9262872" y="4983480"/>
            <a:ext cx="2633472" cy="786384"/>
          </a:xfrm>
          <a:prstGeom prst="roundRect">
            <a:avLst>
              <a:gd name="adj" fmla="val 17442"/>
            </a:avLst>
          </a:prstGeom>
          <a:solidFill>
            <a:srgbClr val="D9F1E6"/>
          </a:solidFill>
          <a:ln w="12700">
            <a:solidFill>
              <a:srgbClr val="DDE5E1"/>
            </a:solidFill>
            <a:prstDash val="solid"/>
          </a:ln>
        </p:spPr>
        <p:txBody>
          <a:bodyPr/>
          <a:lstStyle/>
          <a:p>
            <a:endParaRPr/>
          </a:p>
        </p:txBody>
      </p:sp>
      <p:sp>
        <p:nvSpPr>
          <p:cNvPr id="28" name="Text 24"/>
          <p:cNvSpPr/>
          <p:nvPr/>
        </p:nvSpPr>
        <p:spPr>
          <a:xfrm>
            <a:off x="9491472" y="5111496"/>
            <a:ext cx="2176272" cy="530352"/>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New ability:</a:t>
            </a:r>
            <a:endParaRPr lang="en-US" sz="1600" dirty="0"/>
          </a:p>
          <a:p>
            <a:pPr marL="0" indent="0" algn="l">
              <a:buNone/>
            </a:pPr>
            <a:r>
              <a:rPr lang="en-US" sz="1600" dirty="0">
                <a:solidFill>
                  <a:srgbClr val="1A243A"/>
                </a:solidFill>
                <a:latin typeface="Inter" pitchFamily="34" charset="0"/>
                <a:ea typeface="Inter" pitchFamily="34" charset="-122"/>
                <a:cs typeface="Inter" pitchFamily="34" charset="-120"/>
              </a:rPr>
              <a:t>the route can change.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26"/>
                                  </p:tgtEl>
                                  <p:attrNameLst>
                                    <p:attrName>style.visibility</p:attrName>
                                  </p:attrNameLst>
                                </p:cBhvr>
                                <p:to>
                                  <p:strVal val="visible"/>
                                </p:to>
                              </p:set>
                              <p:animEffect transition="in" filter="fade">
                                <p:cBhvr>
                                  <p:cTn id="6" dur="650"/>
                                  <p:tgtEl>
                                    <p:spTgt spid="26"/>
                                  </p:tgtEl>
                                </p:cBhvr>
                              </p:animEffect>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488643"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324051"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AGENT TRACE</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A possible investigation path</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Illustrative output — not a guaranteed sequence.</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24  /  32</a:t>
            </a:r>
            <a:endParaRPr lang="en-US" sz="900" dirty="0"/>
          </a:p>
        </p:txBody>
      </p:sp>
      <p:sp>
        <p:nvSpPr>
          <p:cNvPr id="19" name="Shape 17"/>
          <p:cNvSpPr/>
          <p:nvPr/>
        </p:nvSpPr>
        <p:spPr>
          <a:xfrm>
            <a:off x="941832" y="2093976"/>
            <a:ext cx="10241280" cy="475488"/>
          </a:xfrm>
          <a:prstGeom prst="roundRect">
            <a:avLst>
              <a:gd name="adj" fmla="val 28846"/>
            </a:avLst>
          </a:prstGeom>
          <a:solidFill>
            <a:srgbClr val="FFFFFF"/>
          </a:solidFill>
          <a:ln w="12700">
            <a:solidFill>
              <a:srgbClr val="DDE5E1"/>
            </a:solidFill>
            <a:prstDash val="solid"/>
          </a:ln>
        </p:spPr>
        <p:txBody>
          <a:bodyPr/>
          <a:lstStyle/>
          <a:p>
            <a:endParaRPr/>
          </a:p>
        </p:txBody>
      </p:sp>
      <p:sp>
        <p:nvSpPr>
          <p:cNvPr id="20" name="Text 18"/>
          <p:cNvSpPr/>
          <p:nvPr/>
        </p:nvSpPr>
        <p:spPr>
          <a:xfrm>
            <a:off x="1143000" y="2203704"/>
            <a:ext cx="2331720" cy="228600"/>
          </a:xfrm>
          <a:prstGeom prst="rect">
            <a:avLst/>
          </a:prstGeom>
          <a:noFill/>
          <a:ln/>
        </p:spPr>
        <p:txBody>
          <a:bodyPr wrap="square" lIns="0" tIns="0" rIns="0" bIns="0" rtlCol="0" anchor="ctr">
            <a:normAutofit/>
          </a:bodyPr>
          <a:lstStyle/>
          <a:p>
            <a:pPr marL="0" indent="0" algn="l">
              <a:buNone/>
            </a:pPr>
            <a:r>
              <a:rPr lang="en-US" sz="1200" b="1" dirty="0">
                <a:solidFill>
                  <a:srgbClr val="2B6450"/>
                </a:solidFill>
                <a:latin typeface="Inter" pitchFamily="34" charset="0"/>
                <a:ea typeface="Inter" pitchFamily="34" charset="-122"/>
                <a:cs typeface="Inter" pitchFamily="34" charset="-120"/>
              </a:rPr>
              <a:t>USER</a:t>
            </a:r>
            <a:endParaRPr lang="en-US" sz="1200" dirty="0"/>
          </a:p>
        </p:txBody>
      </p:sp>
      <p:sp>
        <p:nvSpPr>
          <p:cNvPr id="21" name="Text 19"/>
          <p:cNvSpPr/>
          <p:nvPr/>
        </p:nvSpPr>
        <p:spPr>
          <a:xfrm>
            <a:off x="3355848" y="2176272"/>
            <a:ext cx="7424928" cy="292608"/>
          </a:xfrm>
          <a:prstGeom prst="rect">
            <a:avLst/>
          </a:prstGeom>
          <a:noFill/>
          <a:ln/>
        </p:spPr>
        <p:txBody>
          <a:bodyPr wrap="square" lIns="0" tIns="0" rIns="0" bIns="0" rtlCol="0" anchor="ctr">
            <a:normAutofit/>
          </a:bodyPr>
          <a:lstStyle/>
          <a:p>
            <a:pPr marL="0" indent="0" algn="l">
              <a:buNone/>
            </a:pPr>
            <a:r>
              <a:rPr lang="en-US" sz="1500" dirty="0">
                <a:solidFill>
                  <a:srgbClr val="1A243A"/>
                </a:solidFill>
                <a:latin typeface="Inter" pitchFamily="34" charset="0"/>
                <a:ea typeface="Inter" pitchFamily="34" charset="-122"/>
                <a:cs typeface="Inter" pitchFamily="34" charset="-120"/>
              </a:rPr>
              <a:t>Investigate AHU-01</a:t>
            </a:r>
            <a:endParaRPr lang="en-US" sz="1500" dirty="0"/>
          </a:p>
        </p:txBody>
      </p:sp>
      <p:sp>
        <p:nvSpPr>
          <p:cNvPr id="22" name="Shape 20"/>
          <p:cNvSpPr/>
          <p:nvPr/>
        </p:nvSpPr>
        <p:spPr>
          <a:xfrm>
            <a:off x="941832" y="2706624"/>
            <a:ext cx="10241280" cy="475488"/>
          </a:xfrm>
          <a:prstGeom prst="roundRect">
            <a:avLst>
              <a:gd name="adj" fmla="val 28846"/>
            </a:avLst>
          </a:prstGeom>
          <a:solidFill>
            <a:srgbClr val="FFFFFF"/>
          </a:solidFill>
          <a:ln w="12700">
            <a:solidFill>
              <a:srgbClr val="DDE5E1"/>
            </a:solidFill>
            <a:prstDash val="solid"/>
          </a:ln>
        </p:spPr>
        <p:txBody>
          <a:bodyPr/>
          <a:lstStyle/>
          <a:p>
            <a:endParaRPr/>
          </a:p>
        </p:txBody>
      </p:sp>
      <p:sp>
        <p:nvSpPr>
          <p:cNvPr id="23" name="Text 21"/>
          <p:cNvSpPr/>
          <p:nvPr/>
        </p:nvSpPr>
        <p:spPr>
          <a:xfrm>
            <a:off x="1143000" y="2816352"/>
            <a:ext cx="2331720" cy="228600"/>
          </a:xfrm>
          <a:prstGeom prst="rect">
            <a:avLst/>
          </a:prstGeom>
          <a:noFill/>
          <a:ln/>
        </p:spPr>
        <p:txBody>
          <a:bodyPr wrap="square" lIns="0" tIns="0" rIns="0" bIns="0" rtlCol="0" anchor="ctr">
            <a:normAutofit/>
          </a:bodyPr>
          <a:lstStyle/>
          <a:p>
            <a:pPr marL="0" indent="0" algn="l">
              <a:buNone/>
            </a:pPr>
            <a:r>
              <a:rPr lang="en-US" sz="1200" b="1" dirty="0">
                <a:solidFill>
                  <a:srgbClr val="E04149"/>
                </a:solidFill>
                <a:latin typeface="Inter" pitchFamily="34" charset="0"/>
                <a:ea typeface="Inter" pitchFamily="34" charset="-122"/>
                <a:cs typeface="Inter" pitchFamily="34" charset="-120"/>
              </a:rPr>
              <a:t>AGENT → TOOL</a:t>
            </a:r>
            <a:endParaRPr lang="en-US" sz="1200" dirty="0"/>
          </a:p>
        </p:txBody>
      </p:sp>
      <p:sp>
        <p:nvSpPr>
          <p:cNvPr id="24" name="Text 22"/>
          <p:cNvSpPr/>
          <p:nvPr/>
        </p:nvSpPr>
        <p:spPr>
          <a:xfrm>
            <a:off x="3355848" y="2788920"/>
            <a:ext cx="7424928" cy="292608"/>
          </a:xfrm>
          <a:prstGeom prst="rect">
            <a:avLst/>
          </a:prstGeom>
          <a:noFill/>
          <a:ln/>
        </p:spPr>
        <p:txBody>
          <a:bodyPr wrap="square" lIns="0" tIns="0" rIns="0" bIns="0" rtlCol="0" anchor="ctr">
            <a:normAutofit/>
          </a:bodyPr>
          <a:lstStyle/>
          <a:p>
            <a:pPr marL="0" indent="0" algn="l">
              <a:buNone/>
            </a:pPr>
            <a:r>
              <a:rPr lang="en-US" sz="1500" dirty="0">
                <a:solidFill>
                  <a:srgbClr val="1A243A"/>
                </a:solidFill>
                <a:latin typeface="Inter" pitchFamily="34" charset="0"/>
                <a:ea typeface="Inter" pitchFamily="34" charset="-122"/>
                <a:cs typeface="Inter" pitchFamily="34" charset="-120"/>
              </a:rPr>
              <a:t>get_ahu_readings("AHU-01")</a:t>
            </a:r>
            <a:endParaRPr lang="en-US" sz="1500" dirty="0"/>
          </a:p>
        </p:txBody>
      </p:sp>
      <p:sp>
        <p:nvSpPr>
          <p:cNvPr id="25" name="Shape 23"/>
          <p:cNvSpPr/>
          <p:nvPr/>
        </p:nvSpPr>
        <p:spPr>
          <a:xfrm>
            <a:off x="941832" y="3319272"/>
            <a:ext cx="10241280" cy="475488"/>
          </a:xfrm>
          <a:prstGeom prst="roundRect">
            <a:avLst>
              <a:gd name="adj" fmla="val 28846"/>
            </a:avLst>
          </a:prstGeom>
          <a:solidFill>
            <a:srgbClr val="FFFFFF"/>
          </a:solidFill>
          <a:ln w="12700">
            <a:solidFill>
              <a:srgbClr val="DDE5E1"/>
            </a:solidFill>
            <a:prstDash val="solid"/>
          </a:ln>
        </p:spPr>
        <p:txBody>
          <a:bodyPr/>
          <a:lstStyle/>
          <a:p>
            <a:endParaRPr/>
          </a:p>
        </p:txBody>
      </p:sp>
      <p:sp>
        <p:nvSpPr>
          <p:cNvPr id="26" name="Text 24"/>
          <p:cNvSpPr/>
          <p:nvPr/>
        </p:nvSpPr>
        <p:spPr>
          <a:xfrm>
            <a:off x="1143000" y="3429000"/>
            <a:ext cx="2331720" cy="228600"/>
          </a:xfrm>
          <a:prstGeom prst="rect">
            <a:avLst/>
          </a:prstGeom>
          <a:noFill/>
          <a:ln/>
        </p:spPr>
        <p:txBody>
          <a:bodyPr wrap="square" lIns="0" tIns="0" rIns="0" bIns="0" rtlCol="0" anchor="ctr">
            <a:normAutofit/>
          </a:bodyPr>
          <a:lstStyle/>
          <a:p>
            <a:pPr marL="0" indent="0" algn="l">
              <a:buNone/>
            </a:pPr>
            <a:r>
              <a:rPr lang="en-US" sz="1200" b="1" dirty="0">
                <a:solidFill>
                  <a:srgbClr val="2B6450"/>
                </a:solidFill>
                <a:latin typeface="Inter" pitchFamily="34" charset="0"/>
                <a:ea typeface="Inter" pitchFamily="34" charset="-122"/>
                <a:cs typeface="Inter" pitchFamily="34" charset="-120"/>
              </a:rPr>
              <a:t>TOOL RESULT</a:t>
            </a:r>
            <a:endParaRPr lang="en-US" sz="1200" dirty="0"/>
          </a:p>
        </p:txBody>
      </p:sp>
      <p:sp>
        <p:nvSpPr>
          <p:cNvPr id="27" name="Text 25"/>
          <p:cNvSpPr/>
          <p:nvPr/>
        </p:nvSpPr>
        <p:spPr>
          <a:xfrm>
            <a:off x="3355848" y="3401568"/>
            <a:ext cx="7424928" cy="292608"/>
          </a:xfrm>
          <a:prstGeom prst="rect">
            <a:avLst/>
          </a:prstGeom>
          <a:noFill/>
          <a:ln/>
        </p:spPr>
        <p:txBody>
          <a:bodyPr wrap="square" lIns="0" tIns="0" rIns="0" bIns="0" rtlCol="0" anchor="ctr">
            <a:normAutofit/>
          </a:bodyPr>
          <a:lstStyle/>
          <a:p>
            <a:pPr marL="0" indent="0" algn="l">
              <a:buNone/>
            </a:pPr>
            <a:r>
              <a:rPr lang="en-US" sz="1500" dirty="0">
                <a:solidFill>
                  <a:srgbClr val="1A243A"/>
                </a:solidFill>
                <a:latin typeface="Inter" pitchFamily="34" charset="0"/>
                <a:ea typeface="Inter" pitchFamily="34" charset="-122"/>
                <a:cs typeface="Inter" pitchFamily="34" charset="-120"/>
              </a:rPr>
              <a:t>Airflow LOW · Filter drop HIGH</a:t>
            </a:r>
            <a:endParaRPr lang="en-US" sz="1500" dirty="0"/>
          </a:p>
        </p:txBody>
      </p:sp>
      <p:sp>
        <p:nvSpPr>
          <p:cNvPr id="28" name="Shape 26"/>
          <p:cNvSpPr/>
          <p:nvPr/>
        </p:nvSpPr>
        <p:spPr>
          <a:xfrm>
            <a:off x="941832" y="3931920"/>
            <a:ext cx="10241280" cy="475488"/>
          </a:xfrm>
          <a:prstGeom prst="roundRect">
            <a:avLst>
              <a:gd name="adj" fmla="val 28846"/>
            </a:avLst>
          </a:prstGeom>
          <a:solidFill>
            <a:srgbClr val="FFFFFF"/>
          </a:solidFill>
          <a:ln w="12700">
            <a:solidFill>
              <a:srgbClr val="DDE5E1"/>
            </a:solidFill>
            <a:prstDash val="solid"/>
          </a:ln>
        </p:spPr>
        <p:txBody>
          <a:bodyPr/>
          <a:lstStyle/>
          <a:p>
            <a:endParaRPr/>
          </a:p>
        </p:txBody>
      </p:sp>
      <p:sp>
        <p:nvSpPr>
          <p:cNvPr id="29" name="Text 27"/>
          <p:cNvSpPr/>
          <p:nvPr/>
        </p:nvSpPr>
        <p:spPr>
          <a:xfrm>
            <a:off x="1143000" y="4041648"/>
            <a:ext cx="2331720" cy="228600"/>
          </a:xfrm>
          <a:prstGeom prst="rect">
            <a:avLst/>
          </a:prstGeom>
          <a:noFill/>
          <a:ln/>
        </p:spPr>
        <p:txBody>
          <a:bodyPr wrap="square" lIns="0" tIns="0" rIns="0" bIns="0" rtlCol="0" anchor="ctr">
            <a:normAutofit/>
          </a:bodyPr>
          <a:lstStyle/>
          <a:p>
            <a:pPr marL="0" indent="0" algn="l">
              <a:buNone/>
            </a:pPr>
            <a:r>
              <a:rPr lang="en-US" sz="1200" b="1" dirty="0">
                <a:solidFill>
                  <a:srgbClr val="E04149"/>
                </a:solidFill>
                <a:latin typeface="Inter" pitchFamily="34" charset="0"/>
                <a:ea typeface="Inter" pitchFamily="34" charset="-122"/>
                <a:cs typeface="Inter" pitchFamily="34" charset="-120"/>
              </a:rPr>
              <a:t>AGENT → TOOL</a:t>
            </a:r>
            <a:endParaRPr lang="en-US" sz="1200" dirty="0"/>
          </a:p>
        </p:txBody>
      </p:sp>
      <p:sp>
        <p:nvSpPr>
          <p:cNvPr id="30" name="Text 28"/>
          <p:cNvSpPr/>
          <p:nvPr/>
        </p:nvSpPr>
        <p:spPr>
          <a:xfrm>
            <a:off x="3355848" y="4014216"/>
            <a:ext cx="7424928" cy="292608"/>
          </a:xfrm>
          <a:prstGeom prst="rect">
            <a:avLst/>
          </a:prstGeom>
          <a:noFill/>
          <a:ln/>
        </p:spPr>
        <p:txBody>
          <a:bodyPr wrap="square" lIns="0" tIns="0" rIns="0" bIns="0" rtlCol="0" anchor="ctr">
            <a:normAutofit/>
          </a:bodyPr>
          <a:lstStyle/>
          <a:p>
            <a:pPr marL="0" indent="0" algn="l">
              <a:buNone/>
            </a:pPr>
            <a:r>
              <a:rPr lang="en-US" sz="1500" dirty="0">
                <a:solidFill>
                  <a:srgbClr val="1A243A"/>
                </a:solidFill>
                <a:latin typeface="Inter" pitchFamily="34" charset="0"/>
                <a:ea typeface="Inter" pitchFamily="34" charset="-122"/>
                <a:cs typeface="Inter" pitchFamily="34" charset="-120"/>
              </a:rPr>
              <a:t>get_maintenance_history("AHU-01")</a:t>
            </a:r>
            <a:endParaRPr lang="en-US" sz="1500" dirty="0"/>
          </a:p>
        </p:txBody>
      </p:sp>
      <p:sp>
        <p:nvSpPr>
          <p:cNvPr id="31" name="Shape 29"/>
          <p:cNvSpPr/>
          <p:nvPr/>
        </p:nvSpPr>
        <p:spPr>
          <a:xfrm>
            <a:off x="941832" y="4544568"/>
            <a:ext cx="10241280" cy="475488"/>
          </a:xfrm>
          <a:prstGeom prst="roundRect">
            <a:avLst>
              <a:gd name="adj" fmla="val 28846"/>
            </a:avLst>
          </a:prstGeom>
          <a:solidFill>
            <a:srgbClr val="FFFFFF"/>
          </a:solidFill>
          <a:ln w="12700">
            <a:solidFill>
              <a:srgbClr val="DDE5E1"/>
            </a:solidFill>
            <a:prstDash val="solid"/>
          </a:ln>
        </p:spPr>
        <p:txBody>
          <a:bodyPr/>
          <a:lstStyle/>
          <a:p>
            <a:endParaRPr/>
          </a:p>
        </p:txBody>
      </p:sp>
      <p:sp>
        <p:nvSpPr>
          <p:cNvPr id="32" name="Text 30"/>
          <p:cNvSpPr/>
          <p:nvPr/>
        </p:nvSpPr>
        <p:spPr>
          <a:xfrm>
            <a:off x="1143000" y="4654296"/>
            <a:ext cx="2331720" cy="228600"/>
          </a:xfrm>
          <a:prstGeom prst="rect">
            <a:avLst/>
          </a:prstGeom>
          <a:noFill/>
          <a:ln/>
        </p:spPr>
        <p:txBody>
          <a:bodyPr wrap="square" lIns="0" tIns="0" rIns="0" bIns="0" rtlCol="0" anchor="ctr">
            <a:normAutofit/>
          </a:bodyPr>
          <a:lstStyle/>
          <a:p>
            <a:pPr marL="0" indent="0" algn="l">
              <a:buNone/>
            </a:pPr>
            <a:r>
              <a:rPr lang="en-US" sz="1200" b="1" dirty="0">
                <a:solidFill>
                  <a:srgbClr val="2B6450"/>
                </a:solidFill>
                <a:latin typeface="Inter" pitchFamily="34" charset="0"/>
                <a:ea typeface="Inter" pitchFamily="34" charset="-122"/>
                <a:cs typeface="Inter" pitchFamily="34" charset="-120"/>
              </a:rPr>
              <a:t>TOOL RESULT</a:t>
            </a:r>
            <a:endParaRPr lang="en-US" sz="1200" dirty="0"/>
          </a:p>
        </p:txBody>
      </p:sp>
      <p:sp>
        <p:nvSpPr>
          <p:cNvPr id="33" name="Text 31"/>
          <p:cNvSpPr/>
          <p:nvPr/>
        </p:nvSpPr>
        <p:spPr>
          <a:xfrm>
            <a:off x="3355848" y="4626864"/>
            <a:ext cx="7424928" cy="292608"/>
          </a:xfrm>
          <a:prstGeom prst="rect">
            <a:avLst/>
          </a:prstGeom>
          <a:noFill/>
          <a:ln/>
        </p:spPr>
        <p:txBody>
          <a:bodyPr wrap="square" lIns="0" tIns="0" rIns="0" bIns="0" rtlCol="0" anchor="ctr">
            <a:normAutofit/>
          </a:bodyPr>
          <a:lstStyle/>
          <a:p>
            <a:pPr marL="0" indent="0" algn="l">
              <a:buNone/>
            </a:pPr>
            <a:r>
              <a:rPr lang="en-US" sz="1500" dirty="0">
                <a:solidFill>
                  <a:srgbClr val="1A243A"/>
                </a:solidFill>
                <a:latin typeface="Inter" pitchFamily="34" charset="0"/>
                <a:ea typeface="Inter" pitchFamily="34" charset="-122"/>
                <a:cs typeface="Inter" pitchFamily="34" charset="-120"/>
              </a:rPr>
              <a:t>Filter replacement overdue</a:t>
            </a:r>
            <a:endParaRPr lang="en-US" sz="1500" dirty="0"/>
          </a:p>
        </p:txBody>
      </p:sp>
      <p:sp>
        <p:nvSpPr>
          <p:cNvPr id="34" name="Shape 32"/>
          <p:cNvSpPr/>
          <p:nvPr/>
        </p:nvSpPr>
        <p:spPr>
          <a:xfrm>
            <a:off x="941832" y="5157216"/>
            <a:ext cx="10241280" cy="475488"/>
          </a:xfrm>
          <a:prstGeom prst="roundRect">
            <a:avLst>
              <a:gd name="adj" fmla="val 28846"/>
            </a:avLst>
          </a:prstGeom>
          <a:solidFill>
            <a:srgbClr val="D9F1E6"/>
          </a:solidFill>
          <a:ln w="12700">
            <a:solidFill>
              <a:srgbClr val="D9F1E6"/>
            </a:solidFill>
            <a:prstDash val="solid"/>
          </a:ln>
        </p:spPr>
        <p:txBody>
          <a:bodyPr/>
          <a:lstStyle/>
          <a:p>
            <a:endParaRPr/>
          </a:p>
        </p:txBody>
      </p:sp>
      <p:sp>
        <p:nvSpPr>
          <p:cNvPr id="35" name="Text 33"/>
          <p:cNvSpPr/>
          <p:nvPr/>
        </p:nvSpPr>
        <p:spPr>
          <a:xfrm>
            <a:off x="1143000" y="5266944"/>
            <a:ext cx="2331720" cy="228600"/>
          </a:xfrm>
          <a:prstGeom prst="rect">
            <a:avLst/>
          </a:prstGeom>
          <a:noFill/>
          <a:ln/>
        </p:spPr>
        <p:txBody>
          <a:bodyPr wrap="square" lIns="0" tIns="0" rIns="0" bIns="0" rtlCol="0" anchor="ctr">
            <a:normAutofit/>
          </a:bodyPr>
          <a:lstStyle/>
          <a:p>
            <a:pPr marL="0" indent="0" algn="l">
              <a:buNone/>
            </a:pPr>
            <a:r>
              <a:rPr lang="en-US" sz="1200" b="1" dirty="0">
                <a:solidFill>
                  <a:srgbClr val="2B6450"/>
                </a:solidFill>
                <a:latin typeface="Inter" pitchFamily="34" charset="0"/>
                <a:ea typeface="Inter" pitchFamily="34" charset="-122"/>
                <a:cs typeface="Inter" pitchFamily="34" charset="-120"/>
              </a:rPr>
              <a:t>AGENT</a:t>
            </a:r>
            <a:endParaRPr lang="en-US" sz="1200" dirty="0"/>
          </a:p>
        </p:txBody>
      </p:sp>
      <p:sp>
        <p:nvSpPr>
          <p:cNvPr id="36" name="Text 34"/>
          <p:cNvSpPr/>
          <p:nvPr/>
        </p:nvSpPr>
        <p:spPr>
          <a:xfrm>
            <a:off x="3355848" y="5239512"/>
            <a:ext cx="7424928" cy="292608"/>
          </a:xfrm>
          <a:prstGeom prst="rect">
            <a:avLst/>
          </a:prstGeom>
          <a:noFill/>
          <a:ln/>
        </p:spPr>
        <p:txBody>
          <a:bodyPr wrap="square" lIns="0" tIns="0" rIns="0" bIns="0" rtlCol="0" anchor="ctr">
            <a:normAutofit/>
          </a:bodyPr>
          <a:lstStyle/>
          <a:p>
            <a:pPr marL="0" indent="0" algn="l">
              <a:buNone/>
            </a:pPr>
            <a:r>
              <a:rPr lang="en-US" sz="1500" b="1" dirty="0">
                <a:solidFill>
                  <a:srgbClr val="1A243A"/>
                </a:solidFill>
                <a:latin typeface="Inter" pitchFamily="34" charset="0"/>
                <a:ea typeface="Inter" pitchFamily="34" charset="-122"/>
                <a:cs typeface="Inter" pitchFamily="34" charset="-120"/>
              </a:rPr>
              <a:t>Recommend inspection; do not claim certainty</a:t>
            </a:r>
            <a:endParaRPr lang="en-US" sz="15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1A243A"/>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526177"/>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526177"/>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526177"/>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526177"/>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526177"/>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526177"/>
            </a:solidFill>
            <a:prstDash val="solid"/>
          </a:ln>
        </p:spPr>
        <p:txBody>
          <a:bodyPr/>
          <a:lstStyle/>
          <a:p>
            <a:endParaRPr/>
          </a:p>
        </p:txBody>
      </p:sp>
      <p:sp>
        <p:nvSpPr>
          <p:cNvPr id="8" name="Shape 6"/>
          <p:cNvSpPr/>
          <p:nvPr/>
        </p:nvSpPr>
        <p:spPr>
          <a:xfrm>
            <a:off x="10872216" y="475488"/>
            <a:ext cx="73152" cy="73152"/>
          </a:xfrm>
          <a:prstGeom prst="ellipse">
            <a:avLst/>
          </a:prstGeom>
          <a:solidFill>
            <a:srgbClr val="526177"/>
          </a:solidFill>
          <a:ln w="12700">
            <a:solidFill>
              <a:srgbClr val="526177"/>
            </a:solidFill>
            <a:prstDash val="solid"/>
          </a:ln>
        </p:spPr>
        <p:txBody>
          <a:bodyPr/>
          <a:lstStyle/>
          <a:p>
            <a:endParaRPr/>
          </a:p>
        </p:txBody>
      </p:sp>
      <p:sp>
        <p:nvSpPr>
          <p:cNvPr id="9" name="Shape 7"/>
          <p:cNvSpPr/>
          <p:nvPr/>
        </p:nvSpPr>
        <p:spPr>
          <a:xfrm>
            <a:off x="11512296" y="603504"/>
            <a:ext cx="73152" cy="73152"/>
          </a:xfrm>
          <a:prstGeom prst="ellipse">
            <a:avLst/>
          </a:prstGeom>
          <a:solidFill>
            <a:srgbClr val="526177"/>
          </a:solidFill>
          <a:ln w="12700">
            <a:solidFill>
              <a:srgbClr val="526177"/>
            </a:solidFill>
            <a:prstDash val="solid"/>
          </a:ln>
        </p:spPr>
        <p:txBody>
          <a:bodyPr/>
          <a:lstStyle/>
          <a:p>
            <a:endParaRPr/>
          </a:p>
        </p:txBody>
      </p:sp>
      <p:sp>
        <p:nvSpPr>
          <p:cNvPr id="10" name="Shape 8"/>
          <p:cNvSpPr/>
          <p:nvPr/>
        </p:nvSpPr>
        <p:spPr>
          <a:xfrm>
            <a:off x="530352" y="5879592"/>
            <a:ext cx="73152" cy="73152"/>
          </a:xfrm>
          <a:prstGeom prst="ellipse">
            <a:avLst/>
          </a:prstGeom>
          <a:solidFill>
            <a:srgbClr val="526177"/>
          </a:solidFill>
          <a:ln w="12700">
            <a:solidFill>
              <a:srgbClr val="526177"/>
            </a:solidFill>
            <a:prstDash val="solid"/>
          </a:ln>
        </p:spPr>
        <p:txBody>
          <a:bodyPr/>
          <a:lstStyle/>
          <a:p>
            <a:endParaRPr/>
          </a:p>
        </p:txBody>
      </p:sp>
      <p:sp>
        <p:nvSpPr>
          <p:cNvPr id="11" name="Shape 9"/>
          <p:cNvSpPr/>
          <p:nvPr/>
        </p:nvSpPr>
        <p:spPr>
          <a:xfrm>
            <a:off x="813816" y="5120640"/>
            <a:ext cx="73152" cy="73152"/>
          </a:xfrm>
          <a:prstGeom prst="ellipse">
            <a:avLst/>
          </a:prstGeom>
          <a:solidFill>
            <a:srgbClr val="526177"/>
          </a:solidFill>
          <a:ln w="12700">
            <a:solidFill>
              <a:srgbClr val="526177"/>
            </a:solidFill>
            <a:prstDash val="solid"/>
          </a:ln>
        </p:spPr>
        <p:txBody>
          <a:bodyPr/>
          <a:lstStyle/>
          <a:p>
            <a:endParaRPr/>
          </a:p>
        </p:txBody>
      </p:sp>
      <p:sp>
        <p:nvSpPr>
          <p:cNvPr id="12" name="Shape 10"/>
          <p:cNvSpPr/>
          <p:nvPr/>
        </p:nvSpPr>
        <p:spPr>
          <a:xfrm>
            <a:off x="502920" y="6519672"/>
            <a:ext cx="11173968" cy="0"/>
          </a:xfrm>
          <a:prstGeom prst="line">
            <a:avLst/>
          </a:prstGeom>
          <a:noFill/>
          <a:ln w="8890">
            <a:solidFill>
              <a:srgbClr val="48556A"/>
            </a:solidFill>
            <a:prstDash val="solid"/>
          </a:ln>
        </p:spPr>
        <p:txBody>
          <a:bodyPr/>
          <a:lstStyle/>
          <a:p>
            <a:endParaRPr/>
          </a:p>
        </p:txBody>
      </p:sp>
      <p:sp>
        <p:nvSpPr>
          <p:cNvPr id="13" name="Text 11"/>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D2E3DF"/>
                </a:solidFill>
                <a:latin typeface="Inter" pitchFamily="34" charset="0"/>
                <a:ea typeface="Inter" pitchFamily="34" charset="-122"/>
                <a:cs typeface="Inter" pitchFamily="34" charset="-120"/>
              </a:rPr>
              <a:t>BEAWORLD  /  AGENTIC ENGINEERING 101</a:t>
            </a:r>
            <a:endParaRPr lang="en-US" sz="800" dirty="0"/>
          </a:p>
        </p:txBody>
      </p:sp>
      <p:sp>
        <p:nvSpPr>
          <p:cNvPr id="14" name="Text 12"/>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D2E3DF"/>
                </a:solidFill>
                <a:latin typeface="Inter" pitchFamily="34" charset="0"/>
                <a:ea typeface="Inter" pitchFamily="34" charset="-122"/>
                <a:cs typeface="Inter" pitchFamily="34" charset="-120"/>
              </a:rPr>
              <a:t>25  /  32</a:t>
            </a:r>
            <a:endParaRPr lang="en-US" sz="900" dirty="0"/>
          </a:p>
        </p:txBody>
      </p:sp>
      <p:sp>
        <p:nvSpPr>
          <p:cNvPr id="15" name="Shape 13"/>
          <p:cNvSpPr/>
          <p:nvPr/>
        </p:nvSpPr>
        <p:spPr>
          <a:xfrm>
            <a:off x="640080" y="658368"/>
            <a:ext cx="1920240" cy="320040"/>
          </a:xfrm>
          <a:prstGeom prst="roundRect">
            <a:avLst>
              <a:gd name="adj" fmla="val 42857"/>
            </a:avLst>
          </a:prstGeom>
          <a:solidFill>
            <a:srgbClr val="E04149"/>
          </a:solidFill>
          <a:ln w="12700">
            <a:solidFill>
              <a:srgbClr val="E04149"/>
            </a:solidFill>
            <a:prstDash val="solid"/>
          </a:ln>
        </p:spPr>
        <p:txBody>
          <a:bodyPr/>
          <a:lstStyle/>
          <a:p>
            <a:endParaRPr/>
          </a:p>
        </p:txBody>
      </p:sp>
      <p:sp>
        <p:nvSpPr>
          <p:cNvPr id="16" name="Text 14"/>
          <p:cNvSpPr/>
          <p:nvPr/>
        </p:nvSpPr>
        <p:spPr>
          <a:xfrm>
            <a:off x="722376" y="681228"/>
            <a:ext cx="1755648"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FFFFFF"/>
                </a:solidFill>
                <a:latin typeface="Inter" pitchFamily="34" charset="0"/>
                <a:ea typeface="Inter" pitchFamily="34" charset="-122"/>
                <a:cs typeface="Inter" pitchFamily="34" charset="-120"/>
              </a:rPr>
              <a:t>LEVEL 5</a:t>
            </a:r>
            <a:endParaRPr lang="en-US" sz="1000" dirty="0"/>
          </a:p>
        </p:txBody>
      </p:sp>
      <p:sp>
        <p:nvSpPr>
          <p:cNvPr id="17" name="Text 15"/>
          <p:cNvSpPr/>
          <p:nvPr/>
        </p:nvSpPr>
        <p:spPr>
          <a:xfrm>
            <a:off x="676656" y="1353312"/>
            <a:ext cx="7772400" cy="1280160"/>
          </a:xfrm>
          <a:prstGeom prst="rect">
            <a:avLst/>
          </a:prstGeom>
          <a:noFill/>
          <a:ln/>
        </p:spPr>
        <p:txBody>
          <a:bodyPr wrap="square" lIns="0" tIns="0" rIns="0" bIns="0" rtlCol="0" anchor="ctr">
            <a:normAutofit/>
          </a:bodyPr>
          <a:lstStyle/>
          <a:p>
            <a:pPr marL="0" indent="0" algn="l">
              <a:buNone/>
            </a:pPr>
            <a:r>
              <a:rPr sz="3900" b="1">
                <a:solidFill>
                  <a:srgbClr val="FFFFFF"/>
                </a:solidFill>
                <a:latin typeface="Inter"/>
              </a:rPr>
              <a:t>Agentic AI Application</a:t>
            </a:r>
            <a:endParaRPr lang="en-US" sz="3900" dirty="0"/>
          </a:p>
        </p:txBody>
      </p:sp>
      <p:sp>
        <p:nvSpPr>
          <p:cNvPr id="18" name="Text 16"/>
          <p:cNvSpPr/>
          <p:nvPr/>
        </p:nvSpPr>
        <p:spPr>
          <a:xfrm>
            <a:off x="704088" y="2788920"/>
            <a:ext cx="6839712" cy="1170432"/>
          </a:xfrm>
          <a:prstGeom prst="rect">
            <a:avLst/>
          </a:prstGeom>
          <a:noFill/>
          <a:ln/>
        </p:spPr>
        <p:txBody>
          <a:bodyPr wrap="square" lIns="0" tIns="0" rIns="0" bIns="0" rtlCol="0" anchor="t">
            <a:normAutofit/>
          </a:bodyPr>
          <a:lstStyle/>
          <a:p>
            <a:pPr marL="0" indent="0" algn="l">
              <a:buNone/>
            </a:pPr>
            <a:r>
              <a:rPr sz="2100">
                <a:solidFill>
                  <a:srgbClr val="DEEBE9"/>
                </a:solidFill>
                <a:latin typeface="Inter"/>
              </a:rPr>
              <a:t>Combine the agent, tools, task state and approval rules into one controlled application.</a:t>
            </a:r>
            <a:endParaRPr lang="en-US" sz="2200" dirty="0"/>
          </a:p>
        </p:txBody>
      </p:sp>
      <p:pic>
        <p:nvPicPr>
          <p:cNvPr id="19" name="Image 0" descr="BEA_MASCOT_guard"/>
          <p:cNvPicPr>
            <a:picLocks noChangeAspect="1"/>
          </p:cNvPicPr>
          <p:nvPr/>
        </p:nvPicPr>
        <p:blipFill>
          <a:blip r:embed="rId3"/>
          <a:stretch>
            <a:fillRect/>
          </a:stretch>
        </p:blipFill>
        <p:spPr>
          <a:xfrm>
            <a:off x="8001000" y="1874520"/>
            <a:ext cx="2971800" cy="3377045"/>
          </a:xfrm>
          <a:prstGeom prst="rect">
            <a:avLst/>
          </a:prstGeom>
        </p:spPr>
      </p:pic>
      <p:sp>
        <p:nvSpPr>
          <p:cNvPr id="20" name="Shape 17"/>
          <p:cNvSpPr/>
          <p:nvPr/>
        </p:nvSpPr>
        <p:spPr>
          <a:xfrm>
            <a:off x="731520" y="5330952"/>
            <a:ext cx="3136392" cy="320040"/>
          </a:xfrm>
          <a:prstGeom prst="roundRect">
            <a:avLst>
              <a:gd name="adj" fmla="val 42857"/>
            </a:avLst>
          </a:prstGeom>
          <a:solidFill>
            <a:srgbClr val="32445B"/>
          </a:solidFill>
          <a:ln w="12700">
            <a:solidFill>
              <a:srgbClr val="32445B"/>
            </a:solidFill>
            <a:prstDash val="solid"/>
          </a:ln>
        </p:spPr>
        <p:txBody>
          <a:bodyPr/>
          <a:lstStyle/>
          <a:p>
            <a:endParaRPr/>
          </a:p>
        </p:txBody>
      </p:sp>
      <p:sp>
        <p:nvSpPr>
          <p:cNvPr id="21" name="Text 18"/>
          <p:cNvSpPr/>
          <p:nvPr/>
        </p:nvSpPr>
        <p:spPr>
          <a:xfrm>
            <a:off x="813816" y="5353812"/>
            <a:ext cx="297180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D6FBEA"/>
                </a:solidFill>
                <a:latin typeface="Inter" pitchFamily="34" charset="0"/>
                <a:ea typeface="Inter" pitchFamily="34" charset="-122"/>
                <a:cs typeface="Inter" pitchFamily="34" charset="-120"/>
              </a:rPr>
              <a:t>ENGINEERING LAB  ·  AHU-01</a:t>
            </a:r>
            <a:endParaRPr lang="en-US" sz="1000" dirty="0"/>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EXERCISE 5</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The agent proposes. The engineer approves.</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sz="1500">
                <a:solidFill>
                  <a:srgbClr val="566673"/>
                </a:solidFill>
                <a:latin typeface="Inter"/>
              </a:rPr>
              <a:t>10 min  ·  Add state, safeguards and human approval.</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26  /  32</a:t>
            </a:r>
            <a:endParaRPr lang="en-US" sz="900" dirty="0"/>
          </a:p>
        </p:txBody>
      </p:sp>
      <p:sp>
        <p:nvSpPr>
          <p:cNvPr id="19" name="Shape 17"/>
          <p:cNvSpPr/>
          <p:nvPr/>
        </p:nvSpPr>
        <p:spPr>
          <a:xfrm>
            <a:off x="658368" y="2258568"/>
            <a:ext cx="5733288" cy="3621024"/>
          </a:xfrm>
          <a:prstGeom prst="roundRect">
            <a:avLst>
              <a:gd name="adj" fmla="val 3788"/>
            </a:avLst>
          </a:prstGeom>
          <a:solidFill>
            <a:srgbClr val="FFFFFF"/>
          </a:solidFill>
          <a:ln w="12700">
            <a:solidFill>
              <a:srgbClr val="DDE5E1"/>
            </a:solidFill>
            <a:prstDash val="solid"/>
          </a:ln>
        </p:spPr>
        <p:txBody>
          <a:bodyPr/>
          <a:lstStyle/>
          <a:p>
            <a:endParaRPr/>
          </a:p>
        </p:txBody>
      </p:sp>
      <p:sp>
        <p:nvSpPr>
          <p:cNvPr id="20" name="Shape 18"/>
          <p:cNvSpPr/>
          <p:nvPr/>
        </p:nvSpPr>
        <p:spPr>
          <a:xfrm>
            <a:off x="877824" y="2569464"/>
            <a:ext cx="5312664" cy="539496"/>
          </a:xfrm>
          <a:prstGeom prst="roundRect">
            <a:avLst>
              <a:gd name="adj" fmla="val 25424"/>
            </a:avLst>
          </a:prstGeom>
          <a:solidFill>
            <a:srgbClr val="F3F5F3"/>
          </a:solidFill>
          <a:ln w="12700">
            <a:solidFill>
              <a:srgbClr val="F3F5F3"/>
            </a:solidFill>
            <a:prstDash val="solid"/>
          </a:ln>
        </p:spPr>
        <p:txBody>
          <a:bodyPr/>
          <a:lstStyle/>
          <a:p>
            <a:endParaRPr/>
          </a:p>
        </p:txBody>
      </p:sp>
      <p:sp>
        <p:nvSpPr>
          <p:cNvPr id="21" name="Text 19"/>
          <p:cNvSpPr/>
          <p:nvPr/>
        </p:nvSpPr>
        <p:spPr>
          <a:xfrm>
            <a:off x="1078992" y="2697480"/>
            <a:ext cx="4882896" cy="274320"/>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1  Investigate fault</a:t>
            </a:r>
            <a:endParaRPr lang="en-US" sz="1600" dirty="0"/>
          </a:p>
        </p:txBody>
      </p:sp>
      <p:sp>
        <p:nvSpPr>
          <p:cNvPr id="22" name="Shape 20"/>
          <p:cNvSpPr/>
          <p:nvPr/>
        </p:nvSpPr>
        <p:spPr>
          <a:xfrm>
            <a:off x="877824" y="3319272"/>
            <a:ext cx="5312664" cy="539496"/>
          </a:xfrm>
          <a:prstGeom prst="roundRect">
            <a:avLst>
              <a:gd name="adj" fmla="val 25424"/>
            </a:avLst>
          </a:prstGeom>
          <a:solidFill>
            <a:srgbClr val="F3F5F3"/>
          </a:solidFill>
          <a:ln w="12700">
            <a:solidFill>
              <a:srgbClr val="F3F5F3"/>
            </a:solidFill>
            <a:prstDash val="solid"/>
          </a:ln>
        </p:spPr>
        <p:txBody>
          <a:bodyPr/>
          <a:lstStyle/>
          <a:p>
            <a:endParaRPr/>
          </a:p>
        </p:txBody>
      </p:sp>
      <p:sp>
        <p:nvSpPr>
          <p:cNvPr id="23" name="Text 21"/>
          <p:cNvSpPr/>
          <p:nvPr/>
        </p:nvSpPr>
        <p:spPr>
          <a:xfrm>
            <a:off x="1078992" y="3447288"/>
            <a:ext cx="4882896" cy="274320"/>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2  Propose maintenance ticket</a:t>
            </a:r>
            <a:endParaRPr lang="en-US" sz="1600" dirty="0"/>
          </a:p>
        </p:txBody>
      </p:sp>
      <p:sp>
        <p:nvSpPr>
          <p:cNvPr id="24" name="Shape 22"/>
          <p:cNvSpPr/>
          <p:nvPr/>
        </p:nvSpPr>
        <p:spPr>
          <a:xfrm>
            <a:off x="877824" y="4069080"/>
            <a:ext cx="5312664" cy="539496"/>
          </a:xfrm>
          <a:prstGeom prst="roundRect">
            <a:avLst>
              <a:gd name="adj" fmla="val 25424"/>
            </a:avLst>
          </a:prstGeom>
          <a:solidFill>
            <a:srgbClr val="FFE9EB"/>
          </a:solidFill>
          <a:ln w="12700">
            <a:solidFill>
              <a:srgbClr val="FFE9EB"/>
            </a:solidFill>
            <a:prstDash val="solid"/>
          </a:ln>
        </p:spPr>
        <p:txBody>
          <a:bodyPr/>
          <a:lstStyle/>
          <a:p>
            <a:endParaRPr/>
          </a:p>
        </p:txBody>
      </p:sp>
      <p:sp>
        <p:nvSpPr>
          <p:cNvPr id="25" name="Text 23"/>
          <p:cNvSpPr/>
          <p:nvPr/>
        </p:nvSpPr>
        <p:spPr>
          <a:xfrm>
            <a:off x="1078992" y="4197096"/>
            <a:ext cx="4882896" cy="274320"/>
          </a:xfrm>
          <a:prstGeom prst="rect">
            <a:avLst/>
          </a:prstGeom>
          <a:noFill/>
          <a:ln/>
        </p:spPr>
        <p:txBody>
          <a:bodyPr wrap="square" lIns="0" tIns="0" rIns="0" bIns="0" rtlCol="0" anchor="ctr">
            <a:normAutofit/>
          </a:bodyPr>
          <a:lstStyle/>
          <a:p>
            <a:pPr marL="0" indent="0" algn="l">
              <a:buNone/>
            </a:pPr>
            <a:r>
              <a:rPr lang="en-US" sz="1600" b="1" dirty="0">
                <a:solidFill>
                  <a:srgbClr val="E04149"/>
                </a:solidFill>
                <a:latin typeface="Inter" pitchFamily="34" charset="0"/>
                <a:ea typeface="Inter" pitchFamily="34" charset="-122"/>
                <a:cs typeface="Inter" pitchFamily="34" charset="-120"/>
              </a:rPr>
              <a:t>3  Pause for human approval</a:t>
            </a:r>
            <a:endParaRPr lang="en-US" sz="1600" dirty="0"/>
          </a:p>
        </p:txBody>
      </p:sp>
      <p:sp>
        <p:nvSpPr>
          <p:cNvPr id="26" name="Shape 24"/>
          <p:cNvSpPr/>
          <p:nvPr/>
        </p:nvSpPr>
        <p:spPr>
          <a:xfrm>
            <a:off x="877824" y="4818888"/>
            <a:ext cx="5312664" cy="539496"/>
          </a:xfrm>
          <a:prstGeom prst="roundRect">
            <a:avLst>
              <a:gd name="adj" fmla="val 25424"/>
            </a:avLst>
          </a:prstGeom>
          <a:solidFill>
            <a:srgbClr val="F3F5F3"/>
          </a:solidFill>
          <a:ln w="12700">
            <a:solidFill>
              <a:srgbClr val="F3F5F3"/>
            </a:solidFill>
            <a:prstDash val="solid"/>
          </a:ln>
        </p:spPr>
        <p:txBody>
          <a:bodyPr/>
          <a:lstStyle/>
          <a:p>
            <a:endParaRPr/>
          </a:p>
        </p:txBody>
      </p:sp>
      <p:sp>
        <p:nvSpPr>
          <p:cNvPr id="27" name="Text 25"/>
          <p:cNvSpPr/>
          <p:nvPr/>
        </p:nvSpPr>
        <p:spPr>
          <a:xfrm>
            <a:off x="1078992" y="4946904"/>
            <a:ext cx="4882896" cy="274320"/>
          </a:xfrm>
          <a:prstGeom prst="rect">
            <a:avLst/>
          </a:prstGeom>
          <a:noFill/>
          <a:ln/>
        </p:spPr>
        <p:txBody>
          <a:bodyPr wrap="square" lIns="0" tIns="0" rIns="0" bIns="0" rtlCol="0" anchor="ctr">
            <a:normAutofit/>
          </a:bodyPr>
          <a:lstStyle/>
          <a:p>
            <a:pPr marL="0" indent="0" algn="l">
              <a:buNone/>
            </a:pPr>
            <a:r>
              <a:rPr lang="en-US" sz="1600" dirty="0">
                <a:solidFill>
                  <a:srgbClr val="1A243A"/>
                </a:solidFill>
                <a:latin typeface="Inter" pitchFamily="34" charset="0"/>
                <a:ea typeface="Inter" pitchFamily="34" charset="-122"/>
                <a:cs typeface="Inter" pitchFamily="34" charset="-120"/>
              </a:rPr>
              <a:t>4  Approve → create   /   Reject → stop</a:t>
            </a:r>
            <a:endParaRPr lang="en-US" sz="1600" dirty="0"/>
          </a:p>
        </p:txBody>
      </p:sp>
      <p:sp>
        <p:nvSpPr>
          <p:cNvPr id="28" name="Shape 26"/>
          <p:cNvSpPr/>
          <p:nvPr/>
        </p:nvSpPr>
        <p:spPr>
          <a:xfrm>
            <a:off x="6675120" y="2331720"/>
            <a:ext cx="4873752" cy="2871216"/>
          </a:xfrm>
          <a:prstGeom prst="roundRect">
            <a:avLst>
              <a:gd name="adj" fmla="val 4777"/>
            </a:avLst>
          </a:prstGeom>
          <a:solidFill>
            <a:srgbClr val="14213B"/>
          </a:solidFill>
          <a:ln w="12700">
            <a:solidFill>
              <a:srgbClr val="14213B"/>
            </a:solidFill>
            <a:prstDash val="solid"/>
          </a:ln>
        </p:spPr>
        <p:txBody>
          <a:bodyPr/>
          <a:lstStyle/>
          <a:p>
            <a:endParaRPr/>
          </a:p>
        </p:txBody>
      </p:sp>
      <p:sp>
        <p:nvSpPr>
          <p:cNvPr id="29" name="Shape 27"/>
          <p:cNvSpPr/>
          <p:nvPr/>
        </p:nvSpPr>
        <p:spPr>
          <a:xfrm>
            <a:off x="6675120" y="2331720"/>
            <a:ext cx="4873752" cy="356616"/>
          </a:xfrm>
          <a:prstGeom prst="roundRect">
            <a:avLst>
              <a:gd name="adj" fmla="val 38462"/>
            </a:avLst>
          </a:prstGeom>
          <a:solidFill>
            <a:srgbClr val="293A57"/>
          </a:solidFill>
          <a:ln w="12700">
            <a:solidFill>
              <a:srgbClr val="293A57"/>
            </a:solidFill>
            <a:prstDash val="solid"/>
          </a:ln>
        </p:spPr>
        <p:txBody>
          <a:bodyPr/>
          <a:lstStyle/>
          <a:p>
            <a:endParaRPr/>
          </a:p>
        </p:txBody>
      </p:sp>
      <p:sp>
        <p:nvSpPr>
          <p:cNvPr id="30" name="Shape 28"/>
          <p:cNvSpPr/>
          <p:nvPr/>
        </p:nvSpPr>
        <p:spPr>
          <a:xfrm>
            <a:off x="6839712" y="2459736"/>
            <a:ext cx="91440" cy="91440"/>
          </a:xfrm>
          <a:prstGeom prst="ellipse">
            <a:avLst/>
          </a:prstGeom>
          <a:solidFill>
            <a:srgbClr val="E04149"/>
          </a:solidFill>
          <a:ln w="12700">
            <a:solidFill>
              <a:srgbClr val="E04149"/>
            </a:solidFill>
            <a:prstDash val="solid"/>
          </a:ln>
        </p:spPr>
        <p:txBody>
          <a:bodyPr/>
          <a:lstStyle/>
          <a:p>
            <a:endParaRPr/>
          </a:p>
        </p:txBody>
      </p:sp>
      <p:sp>
        <p:nvSpPr>
          <p:cNvPr id="31" name="Shape 29"/>
          <p:cNvSpPr/>
          <p:nvPr/>
        </p:nvSpPr>
        <p:spPr>
          <a:xfrm>
            <a:off x="7004304" y="2459736"/>
            <a:ext cx="91440" cy="91440"/>
          </a:xfrm>
          <a:prstGeom prst="ellipse">
            <a:avLst/>
          </a:prstGeom>
          <a:solidFill>
            <a:srgbClr val="F9C74F"/>
          </a:solidFill>
          <a:ln w="12700">
            <a:solidFill>
              <a:srgbClr val="F9C74F"/>
            </a:solidFill>
            <a:prstDash val="solid"/>
          </a:ln>
        </p:spPr>
        <p:txBody>
          <a:bodyPr/>
          <a:lstStyle/>
          <a:p>
            <a:endParaRPr/>
          </a:p>
        </p:txBody>
      </p:sp>
      <p:sp>
        <p:nvSpPr>
          <p:cNvPr id="32" name="Shape 30"/>
          <p:cNvSpPr/>
          <p:nvPr/>
        </p:nvSpPr>
        <p:spPr>
          <a:xfrm>
            <a:off x="7168896" y="2459736"/>
            <a:ext cx="91440" cy="91440"/>
          </a:xfrm>
          <a:prstGeom prst="ellipse">
            <a:avLst/>
          </a:prstGeom>
          <a:solidFill>
            <a:srgbClr val="2B6450"/>
          </a:solidFill>
          <a:ln w="12700">
            <a:solidFill>
              <a:srgbClr val="2B6450"/>
            </a:solidFill>
            <a:prstDash val="solid"/>
          </a:ln>
        </p:spPr>
        <p:txBody>
          <a:bodyPr/>
          <a:lstStyle/>
          <a:p>
            <a:endParaRPr/>
          </a:p>
        </p:txBody>
      </p:sp>
      <p:sp>
        <p:nvSpPr>
          <p:cNvPr id="33" name="Text 31"/>
          <p:cNvSpPr/>
          <p:nvPr/>
        </p:nvSpPr>
        <p:spPr>
          <a:xfrm>
            <a:off x="7388352" y="2404872"/>
            <a:ext cx="3959352" cy="210312"/>
          </a:xfrm>
          <a:prstGeom prst="rect">
            <a:avLst/>
          </a:prstGeom>
          <a:noFill/>
          <a:ln/>
        </p:spPr>
        <p:txBody>
          <a:bodyPr wrap="square" lIns="0" tIns="0" rIns="0" bIns="0" rtlCol="0" anchor="ctr">
            <a:normAutofit/>
          </a:bodyPr>
          <a:lstStyle/>
          <a:p>
            <a:pPr marL="0" indent="0" algn="l">
              <a:buNone/>
            </a:pPr>
            <a:r>
              <a:rPr lang="en-US" sz="1000" b="1" dirty="0">
                <a:solidFill>
                  <a:srgbClr val="D6E3EF"/>
                </a:solidFill>
                <a:latin typeface="Inter" pitchFamily="34" charset="0"/>
                <a:ea typeface="Inter" pitchFamily="34" charset="-122"/>
                <a:cs typeface="Inter" pitchFamily="34" charset="-120"/>
              </a:rPr>
              <a:t>Live demo  ·  Level 5  ·  The pause</a:t>
            </a:r>
            <a:endParaRPr lang="en-US" sz="1000" dirty="0"/>
          </a:p>
        </p:txBody>
      </p:sp>
      <p:pic>
        <p:nvPicPr>
          <p:cNvPr id="37" name="Demo screenshot" descr="Level 5: the application pauses before creating a simulated ticket and shows it with Approve and Reject buttons."/>
          <p:cNvPicPr>
            <a:picLocks noChangeAspect="1"/>
          </p:cNvPicPr>
          <p:nvPr/>
        </p:nvPicPr>
        <p:blipFill>
          <a:blip r:embed="rId5"/>
          <a:stretch>
            <a:fillRect/>
          </a:stretch>
        </p:blipFill>
        <p:spPr>
          <a:xfrm>
            <a:off x="6766560" y="2688672"/>
            <a:ext cx="4690872" cy="2422487"/>
          </a:xfrm>
          <a:prstGeom prst="rect">
            <a:avLst/>
          </a:prstGeom>
        </p:spPr>
      </p:pic>
      <p:pic>
        <p:nvPicPr>
          <p:cNvPr id="35" name="Image 1" descr="BEA_MASCOT_guard"/>
          <p:cNvPicPr>
            <a:picLocks noChangeAspect="1"/>
          </p:cNvPicPr>
          <p:nvPr/>
        </p:nvPicPr>
        <p:blipFill>
          <a:blip r:embed="rId4"/>
          <a:stretch>
            <a:fillRect/>
          </a:stretch>
        </p:blipFill>
        <p:spPr>
          <a:xfrm>
            <a:off x="8659368" y="5166360"/>
            <a:ext cx="822960" cy="935182"/>
          </a:xfrm>
          <a:prstGeom prst="rect">
            <a:avLst/>
          </a:prstGeom>
        </p:spPr>
      </p:pic>
      <p:sp>
        <p:nvSpPr>
          <p:cNvPr id="36" name="Text 32"/>
          <p:cNvSpPr/>
          <p:nvPr/>
        </p:nvSpPr>
        <p:spPr>
          <a:xfrm>
            <a:off x="6885432" y="6025896"/>
            <a:ext cx="4754880" cy="365760"/>
          </a:xfrm>
          <a:prstGeom prst="rect">
            <a:avLst/>
          </a:prstGeom>
          <a:noFill/>
          <a:ln/>
        </p:spPr>
        <p:txBody>
          <a:bodyPr wrap="square" lIns="0" tIns="0" rIns="0" bIns="0" rtlCol="0" anchor="ctr">
            <a:normAutofit/>
          </a:bodyPr>
          <a:lstStyle/>
          <a:p>
            <a:pPr marL="0" indent="0" algn="l">
              <a:buNone/>
            </a:pPr>
            <a:r>
              <a:rPr lang="en-US" sz="1300" b="1" dirty="0">
                <a:solidFill>
                  <a:srgbClr val="E04149"/>
                </a:solidFill>
                <a:latin typeface="Inter" pitchFamily="34" charset="0"/>
                <a:ea typeface="Inter" pitchFamily="34" charset="-122"/>
                <a:cs typeface="Inter" pitchFamily="34" charset="-120"/>
              </a:rPr>
              <a:t>Simulated ticket only. No physical equipment control.</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35"/>
                                  </p:tgtEl>
                                  <p:attrNameLst>
                                    <p:attrName>style.visibility</p:attrName>
                                  </p:attrNameLst>
                                </p:cBhvr>
                                <p:to>
                                  <p:strVal val="visible"/>
                                </p:to>
                              </p:set>
                              <p:animEffect transition="in" filter="fade">
                                <p:cBhvr>
                                  <p:cTn id="6" dur="650"/>
                                  <p:tgtEl>
                                    <p:spTgt spid="35"/>
                                  </p:tgtEl>
                                </p:cBhvr>
                              </p:animEffect>
                            </p:childTnLst>
                          </p:cTn>
                        </p:par>
                      </p:childTnLst>
                    </p:cTn>
                  </p:par>
                </p:childTnLst>
              </p:cTn>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040587"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875995"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SAFETY</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Can we trust an AI agent?</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Engineering principles still apply.</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27  /  32</a:t>
            </a:r>
            <a:endParaRPr lang="en-US" sz="900" dirty="0"/>
          </a:p>
        </p:txBody>
      </p:sp>
      <p:pic>
        <p:nvPicPr>
          <p:cNvPr id="19" name="Image 0" descr="BEA_MASCOT_guard"/>
          <p:cNvPicPr>
            <a:picLocks noChangeAspect="1"/>
          </p:cNvPicPr>
          <p:nvPr/>
        </p:nvPicPr>
        <p:blipFill>
          <a:blip r:embed="rId3"/>
          <a:stretch>
            <a:fillRect/>
          </a:stretch>
        </p:blipFill>
        <p:spPr>
          <a:xfrm>
            <a:off x="8979408" y="2414016"/>
            <a:ext cx="2194560" cy="2493818"/>
          </a:xfrm>
          <a:prstGeom prst="rect">
            <a:avLst/>
          </a:prstGeom>
        </p:spPr>
      </p:pic>
      <p:sp>
        <p:nvSpPr>
          <p:cNvPr id="20" name="Shape 17"/>
          <p:cNvSpPr/>
          <p:nvPr/>
        </p:nvSpPr>
        <p:spPr>
          <a:xfrm>
            <a:off x="658368" y="2322576"/>
            <a:ext cx="3913632" cy="3355848"/>
          </a:xfrm>
          <a:prstGeom prst="roundRect">
            <a:avLst>
              <a:gd name="adj" fmla="val 4087"/>
            </a:avLst>
          </a:prstGeom>
          <a:solidFill>
            <a:srgbClr val="FFFFFF"/>
          </a:solidFill>
          <a:ln w="12700">
            <a:solidFill>
              <a:srgbClr val="DDE5E1"/>
            </a:solidFill>
            <a:prstDash val="solid"/>
          </a:ln>
        </p:spPr>
        <p:txBody>
          <a:bodyPr/>
          <a:lstStyle/>
          <a:p>
            <a:endParaRPr/>
          </a:p>
        </p:txBody>
      </p:sp>
      <p:sp>
        <p:nvSpPr>
          <p:cNvPr id="21" name="Shape 18"/>
          <p:cNvSpPr/>
          <p:nvPr/>
        </p:nvSpPr>
        <p:spPr>
          <a:xfrm>
            <a:off x="658368" y="2322576"/>
            <a:ext cx="77724" cy="3355848"/>
          </a:xfrm>
          <a:prstGeom prst="rect">
            <a:avLst/>
          </a:prstGeom>
          <a:solidFill>
            <a:srgbClr val="E04149"/>
          </a:solidFill>
          <a:ln w="12700">
            <a:solidFill>
              <a:srgbClr val="E04149"/>
            </a:solidFill>
            <a:prstDash val="solid"/>
          </a:ln>
        </p:spPr>
        <p:txBody>
          <a:bodyPr/>
          <a:lstStyle/>
          <a:p>
            <a:endParaRPr/>
          </a:p>
        </p:txBody>
      </p:sp>
      <p:sp>
        <p:nvSpPr>
          <p:cNvPr id="22" name="Text 19"/>
          <p:cNvSpPr/>
          <p:nvPr/>
        </p:nvSpPr>
        <p:spPr>
          <a:xfrm>
            <a:off x="896112" y="2532888"/>
            <a:ext cx="3447288" cy="466344"/>
          </a:xfrm>
          <a:prstGeom prst="rect">
            <a:avLst/>
          </a:prstGeom>
          <a:noFill/>
          <a:ln/>
        </p:spPr>
        <p:txBody>
          <a:bodyPr wrap="square" lIns="0" tIns="0" rIns="0" bIns="0" rtlCol="0" anchor="ctr">
            <a:normAutofit/>
          </a:bodyPr>
          <a:lstStyle/>
          <a:p>
            <a:pPr marL="0" indent="0" algn="l">
              <a:buNone/>
            </a:pPr>
            <a:r>
              <a:rPr lang="en-US" sz="1900" b="1" dirty="0">
                <a:solidFill>
                  <a:srgbClr val="1A243A"/>
                </a:solidFill>
                <a:latin typeface="Inter" pitchFamily="34" charset="0"/>
                <a:ea typeface="Inter" pitchFamily="34" charset="-122"/>
                <a:cs typeface="Inter" pitchFamily="34" charset="-120"/>
              </a:rPr>
              <a:t>BEFORE DEPLOYMENT</a:t>
            </a:r>
            <a:endParaRPr lang="en-US" sz="1900" dirty="0"/>
          </a:p>
        </p:txBody>
      </p:sp>
      <p:sp>
        <p:nvSpPr>
          <p:cNvPr id="23" name="Text 20"/>
          <p:cNvSpPr/>
          <p:nvPr/>
        </p:nvSpPr>
        <p:spPr>
          <a:xfrm>
            <a:off x="896112" y="3090672"/>
            <a:ext cx="3410712" cy="2478024"/>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 Restricted tool permissions</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Validation of measurements</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Human approval for actions</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Logs, limits and timeouts</a:t>
            </a:r>
            <a:endParaRPr lang="en-US" sz="1500" dirty="0"/>
          </a:p>
        </p:txBody>
      </p:sp>
      <p:sp>
        <p:nvSpPr>
          <p:cNvPr id="24" name="Shape 21"/>
          <p:cNvSpPr/>
          <p:nvPr/>
        </p:nvSpPr>
        <p:spPr>
          <a:xfrm>
            <a:off x="4709160" y="2322576"/>
            <a:ext cx="3922776" cy="3355848"/>
          </a:xfrm>
          <a:prstGeom prst="roundRect">
            <a:avLst>
              <a:gd name="adj" fmla="val 4087"/>
            </a:avLst>
          </a:prstGeom>
          <a:solidFill>
            <a:srgbClr val="FFFFFF"/>
          </a:solidFill>
          <a:ln w="12700">
            <a:solidFill>
              <a:srgbClr val="DDE5E1"/>
            </a:solidFill>
            <a:prstDash val="solid"/>
          </a:ln>
        </p:spPr>
        <p:txBody>
          <a:bodyPr/>
          <a:lstStyle/>
          <a:p>
            <a:endParaRPr/>
          </a:p>
        </p:txBody>
      </p:sp>
      <p:sp>
        <p:nvSpPr>
          <p:cNvPr id="25" name="Shape 22"/>
          <p:cNvSpPr/>
          <p:nvPr/>
        </p:nvSpPr>
        <p:spPr>
          <a:xfrm>
            <a:off x="4709160" y="2322576"/>
            <a:ext cx="77724" cy="3355848"/>
          </a:xfrm>
          <a:prstGeom prst="rect">
            <a:avLst/>
          </a:prstGeom>
          <a:solidFill>
            <a:srgbClr val="1A243A"/>
          </a:solidFill>
          <a:ln w="12700">
            <a:solidFill>
              <a:srgbClr val="1A243A"/>
            </a:solidFill>
            <a:prstDash val="solid"/>
          </a:ln>
        </p:spPr>
        <p:txBody>
          <a:bodyPr/>
          <a:lstStyle/>
          <a:p>
            <a:endParaRPr/>
          </a:p>
        </p:txBody>
      </p:sp>
      <p:sp>
        <p:nvSpPr>
          <p:cNvPr id="26" name="Text 23"/>
          <p:cNvSpPr/>
          <p:nvPr/>
        </p:nvSpPr>
        <p:spPr>
          <a:xfrm>
            <a:off x="4946904" y="2532888"/>
            <a:ext cx="3456432" cy="466344"/>
          </a:xfrm>
          <a:prstGeom prst="rect">
            <a:avLst/>
          </a:prstGeom>
          <a:noFill/>
          <a:ln/>
        </p:spPr>
        <p:txBody>
          <a:bodyPr wrap="square" lIns="0" tIns="0" rIns="0" bIns="0" rtlCol="0" anchor="ctr">
            <a:normAutofit/>
          </a:bodyPr>
          <a:lstStyle/>
          <a:p>
            <a:pPr marL="0" indent="0" algn="l">
              <a:buNone/>
            </a:pPr>
            <a:r>
              <a:rPr lang="en-US" sz="1900" b="1" dirty="0">
                <a:solidFill>
                  <a:srgbClr val="1A243A"/>
                </a:solidFill>
                <a:latin typeface="Inter" pitchFamily="34" charset="0"/>
                <a:ea typeface="Inter" pitchFamily="34" charset="-122"/>
                <a:cs typeface="Inter" pitchFamily="34" charset="-120"/>
              </a:rPr>
              <a:t>RED FLAGS</a:t>
            </a:r>
            <a:endParaRPr lang="en-US" sz="1900" dirty="0"/>
          </a:p>
        </p:txBody>
      </p:sp>
      <p:sp>
        <p:nvSpPr>
          <p:cNvPr id="27" name="Text 24"/>
          <p:cNvSpPr/>
          <p:nvPr/>
        </p:nvSpPr>
        <p:spPr>
          <a:xfrm>
            <a:off x="4946904" y="3090672"/>
            <a:ext cx="3419856" cy="2478024"/>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 Made-up readings</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Repeated tool calls</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False certainty</a:t>
            </a:r>
            <a:endParaRPr lang="en-US" sz="1500" dirty="0"/>
          </a:p>
          <a:p>
            <a:pPr marL="0" indent="0" algn="l">
              <a:buNone/>
            </a:pPr>
            <a:endParaRPr lang="en-US" sz="1500" dirty="0"/>
          </a:p>
          <a:p>
            <a:pPr marL="0" indent="0" algn="l">
              <a:buNone/>
            </a:pPr>
            <a:r>
              <a:rPr lang="en-US" sz="1500" dirty="0">
                <a:solidFill>
                  <a:srgbClr val="63717D"/>
                </a:solidFill>
                <a:latin typeface="Inter" pitchFamily="34" charset="0"/>
                <a:ea typeface="Inter" pitchFamily="34" charset="-122"/>
                <a:cs typeface="Inter" pitchFamily="34" charset="-120"/>
              </a:rPr>
              <a:t>✕ Unapproved actions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9"/>
                                  </p:tgtEl>
                                  <p:attrNameLst>
                                    <p:attrName>style.visibility</p:attrName>
                                  </p:attrNameLst>
                                </p:cBhvr>
                                <p:to>
                                  <p:strVal val="visible"/>
                                </p:to>
                              </p:set>
                              <p:animEffect transition="in" filter="fade">
                                <p:cBhvr>
                                  <p:cTn id="6" dur="650"/>
                                  <p:tgtEl>
                                    <p:spTgt spid="19"/>
                                  </p:tgtEl>
                                </p:cBhvr>
                              </p:animEffect>
                            </p:childTnLst>
                          </p:cTn>
                        </p:par>
                      </p:childTnLst>
                    </p:cTn>
                  </p:par>
                </p:childTnLst>
              </p:cTn>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399032"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234440"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EVALUATION</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One successful demo is not enough</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Test your agent like an engineering system.</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28  /  32</a:t>
            </a:r>
            <a:endParaRPr lang="en-US" sz="900" dirty="0"/>
          </a:p>
        </p:txBody>
      </p:sp>
      <p:sp>
        <p:nvSpPr>
          <p:cNvPr id="19" name="Shape 17"/>
          <p:cNvSpPr/>
          <p:nvPr/>
        </p:nvSpPr>
        <p:spPr>
          <a:xfrm>
            <a:off x="722376" y="2286000"/>
            <a:ext cx="5340096" cy="1435608"/>
          </a:xfrm>
          <a:prstGeom prst="roundRect">
            <a:avLst>
              <a:gd name="adj" fmla="val 9554"/>
            </a:avLst>
          </a:prstGeom>
          <a:solidFill>
            <a:srgbClr val="FFFFFF"/>
          </a:solidFill>
          <a:ln w="12700">
            <a:solidFill>
              <a:srgbClr val="DDE5E1"/>
            </a:solidFill>
            <a:prstDash val="solid"/>
          </a:ln>
        </p:spPr>
        <p:txBody>
          <a:bodyPr/>
          <a:lstStyle/>
          <a:p>
            <a:endParaRPr/>
          </a:p>
        </p:txBody>
      </p:sp>
      <p:sp>
        <p:nvSpPr>
          <p:cNvPr id="20" name="Shape 18"/>
          <p:cNvSpPr/>
          <p:nvPr/>
        </p:nvSpPr>
        <p:spPr>
          <a:xfrm>
            <a:off x="722376" y="2286000"/>
            <a:ext cx="77724" cy="1435608"/>
          </a:xfrm>
          <a:prstGeom prst="rect">
            <a:avLst/>
          </a:prstGeom>
          <a:solidFill>
            <a:srgbClr val="2B6450"/>
          </a:solidFill>
          <a:ln w="12700">
            <a:solidFill>
              <a:srgbClr val="2B6450"/>
            </a:solidFill>
            <a:prstDash val="solid"/>
          </a:ln>
        </p:spPr>
        <p:txBody>
          <a:bodyPr/>
          <a:lstStyle/>
          <a:p>
            <a:endParaRPr/>
          </a:p>
        </p:txBody>
      </p:sp>
      <p:sp>
        <p:nvSpPr>
          <p:cNvPr id="21" name="Text 19"/>
          <p:cNvSpPr/>
          <p:nvPr/>
        </p:nvSpPr>
        <p:spPr>
          <a:xfrm>
            <a:off x="960120" y="2496312"/>
            <a:ext cx="4873752" cy="466344"/>
          </a:xfrm>
          <a:prstGeom prst="rect">
            <a:avLst/>
          </a:prstGeom>
          <a:noFill/>
          <a:ln/>
        </p:spPr>
        <p:txBody>
          <a:bodyPr wrap="square" lIns="0" tIns="0" rIns="0" bIns="0" rtlCol="0" anchor="ctr">
            <a:normAutofit/>
          </a:bodyPr>
          <a:lstStyle/>
          <a:p>
            <a:pPr marL="0" indent="0" algn="l">
              <a:buNone/>
            </a:pPr>
            <a:r>
              <a:rPr lang="en-US" sz="1800" b="1" dirty="0">
                <a:solidFill>
                  <a:srgbClr val="1A243A"/>
                </a:solidFill>
                <a:latin typeface="Inter" pitchFamily="34" charset="0"/>
                <a:ea typeface="Inter" pitchFamily="34" charset="-122"/>
                <a:cs typeface="Inter" pitchFamily="34" charset="-120"/>
              </a:rPr>
              <a:t>GOOD DATA</a:t>
            </a:r>
            <a:endParaRPr lang="en-US" sz="1800" dirty="0"/>
          </a:p>
        </p:txBody>
      </p:sp>
      <p:sp>
        <p:nvSpPr>
          <p:cNvPr id="22" name="Text 20"/>
          <p:cNvSpPr/>
          <p:nvPr/>
        </p:nvSpPr>
        <p:spPr>
          <a:xfrm>
            <a:off x="960120" y="3054096"/>
            <a:ext cx="4837176" cy="557784"/>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Does it choose an appropriate tool?</a:t>
            </a:r>
            <a:endParaRPr lang="en-US" sz="1500" dirty="0"/>
          </a:p>
        </p:txBody>
      </p:sp>
      <p:sp>
        <p:nvSpPr>
          <p:cNvPr id="23" name="Shape 21"/>
          <p:cNvSpPr/>
          <p:nvPr/>
        </p:nvSpPr>
        <p:spPr>
          <a:xfrm>
            <a:off x="6080760" y="2286000"/>
            <a:ext cx="5340096" cy="1435608"/>
          </a:xfrm>
          <a:prstGeom prst="roundRect">
            <a:avLst>
              <a:gd name="adj" fmla="val 9554"/>
            </a:avLst>
          </a:prstGeom>
          <a:solidFill>
            <a:srgbClr val="FFFFFF"/>
          </a:solidFill>
          <a:ln w="12700">
            <a:solidFill>
              <a:srgbClr val="DDE5E1"/>
            </a:solidFill>
            <a:prstDash val="solid"/>
          </a:ln>
        </p:spPr>
        <p:txBody>
          <a:bodyPr/>
          <a:lstStyle/>
          <a:p>
            <a:endParaRPr/>
          </a:p>
        </p:txBody>
      </p:sp>
      <p:sp>
        <p:nvSpPr>
          <p:cNvPr id="24" name="Shape 22"/>
          <p:cNvSpPr/>
          <p:nvPr/>
        </p:nvSpPr>
        <p:spPr>
          <a:xfrm>
            <a:off x="6080760" y="2286000"/>
            <a:ext cx="77724" cy="1435608"/>
          </a:xfrm>
          <a:prstGeom prst="rect">
            <a:avLst/>
          </a:prstGeom>
          <a:solidFill>
            <a:srgbClr val="E04149"/>
          </a:solidFill>
          <a:ln w="12700">
            <a:solidFill>
              <a:srgbClr val="E04149"/>
            </a:solidFill>
            <a:prstDash val="solid"/>
          </a:ln>
        </p:spPr>
        <p:txBody>
          <a:bodyPr/>
          <a:lstStyle/>
          <a:p>
            <a:endParaRPr/>
          </a:p>
        </p:txBody>
      </p:sp>
      <p:sp>
        <p:nvSpPr>
          <p:cNvPr id="25" name="Text 23"/>
          <p:cNvSpPr/>
          <p:nvPr/>
        </p:nvSpPr>
        <p:spPr>
          <a:xfrm>
            <a:off x="6318504" y="2496312"/>
            <a:ext cx="4873752" cy="466344"/>
          </a:xfrm>
          <a:prstGeom prst="rect">
            <a:avLst/>
          </a:prstGeom>
          <a:noFill/>
          <a:ln/>
        </p:spPr>
        <p:txBody>
          <a:bodyPr wrap="square" lIns="0" tIns="0" rIns="0" bIns="0" rtlCol="0" anchor="ctr">
            <a:normAutofit/>
          </a:bodyPr>
          <a:lstStyle/>
          <a:p>
            <a:pPr marL="0" indent="0" algn="l">
              <a:buNone/>
            </a:pPr>
            <a:r>
              <a:rPr lang="en-US" sz="1800" b="1" dirty="0">
                <a:solidFill>
                  <a:srgbClr val="1A243A"/>
                </a:solidFill>
                <a:latin typeface="Inter" pitchFamily="34" charset="0"/>
                <a:ea typeface="Inter" pitchFamily="34" charset="-122"/>
                <a:cs typeface="Inter" pitchFamily="34" charset="-120"/>
              </a:rPr>
              <a:t>MISSING DATA</a:t>
            </a:r>
            <a:endParaRPr lang="en-US" sz="1800" dirty="0"/>
          </a:p>
        </p:txBody>
      </p:sp>
      <p:sp>
        <p:nvSpPr>
          <p:cNvPr id="26" name="Text 24"/>
          <p:cNvSpPr/>
          <p:nvPr/>
        </p:nvSpPr>
        <p:spPr>
          <a:xfrm>
            <a:off x="6318504" y="3054096"/>
            <a:ext cx="4837176" cy="557784"/>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Does it ask instead of guessing?</a:t>
            </a:r>
            <a:endParaRPr lang="en-US" sz="1500" dirty="0"/>
          </a:p>
        </p:txBody>
      </p:sp>
      <p:sp>
        <p:nvSpPr>
          <p:cNvPr id="27" name="Shape 25"/>
          <p:cNvSpPr/>
          <p:nvPr/>
        </p:nvSpPr>
        <p:spPr>
          <a:xfrm>
            <a:off x="722376" y="4059936"/>
            <a:ext cx="5340096" cy="1435608"/>
          </a:xfrm>
          <a:prstGeom prst="roundRect">
            <a:avLst>
              <a:gd name="adj" fmla="val 9554"/>
            </a:avLst>
          </a:prstGeom>
          <a:solidFill>
            <a:srgbClr val="FFFFFF"/>
          </a:solidFill>
          <a:ln w="12700">
            <a:solidFill>
              <a:srgbClr val="DDE5E1"/>
            </a:solidFill>
            <a:prstDash val="solid"/>
          </a:ln>
        </p:spPr>
        <p:txBody>
          <a:bodyPr/>
          <a:lstStyle/>
          <a:p>
            <a:endParaRPr/>
          </a:p>
        </p:txBody>
      </p:sp>
      <p:sp>
        <p:nvSpPr>
          <p:cNvPr id="28" name="Shape 26"/>
          <p:cNvSpPr/>
          <p:nvPr/>
        </p:nvSpPr>
        <p:spPr>
          <a:xfrm>
            <a:off x="722376" y="4059936"/>
            <a:ext cx="77724" cy="1435608"/>
          </a:xfrm>
          <a:prstGeom prst="rect">
            <a:avLst/>
          </a:prstGeom>
          <a:solidFill>
            <a:srgbClr val="2B6450"/>
          </a:solidFill>
          <a:ln w="12700">
            <a:solidFill>
              <a:srgbClr val="2B6450"/>
            </a:solidFill>
            <a:prstDash val="solid"/>
          </a:ln>
        </p:spPr>
        <p:txBody>
          <a:bodyPr/>
          <a:lstStyle/>
          <a:p>
            <a:endParaRPr/>
          </a:p>
        </p:txBody>
      </p:sp>
      <p:sp>
        <p:nvSpPr>
          <p:cNvPr id="29" name="Text 27"/>
          <p:cNvSpPr/>
          <p:nvPr/>
        </p:nvSpPr>
        <p:spPr>
          <a:xfrm>
            <a:off x="960120" y="4270248"/>
            <a:ext cx="4873752" cy="466344"/>
          </a:xfrm>
          <a:prstGeom prst="rect">
            <a:avLst/>
          </a:prstGeom>
          <a:noFill/>
          <a:ln/>
        </p:spPr>
        <p:txBody>
          <a:bodyPr wrap="square" lIns="0" tIns="0" rIns="0" bIns="0" rtlCol="0" anchor="ctr">
            <a:normAutofit/>
          </a:bodyPr>
          <a:lstStyle/>
          <a:p>
            <a:pPr marL="0" indent="0" algn="l">
              <a:buNone/>
            </a:pPr>
            <a:r>
              <a:rPr lang="en-US" sz="1800" b="1" dirty="0">
                <a:solidFill>
                  <a:srgbClr val="1A243A"/>
                </a:solidFill>
                <a:latin typeface="Inter" pitchFamily="34" charset="0"/>
                <a:ea typeface="Inter" pitchFamily="34" charset="-122"/>
                <a:cs typeface="Inter" pitchFamily="34" charset="-120"/>
              </a:rPr>
              <a:t>CONFLICTING DATA</a:t>
            </a:r>
            <a:endParaRPr lang="en-US" sz="1800" dirty="0"/>
          </a:p>
        </p:txBody>
      </p:sp>
      <p:sp>
        <p:nvSpPr>
          <p:cNvPr id="30" name="Text 28"/>
          <p:cNvSpPr/>
          <p:nvPr/>
        </p:nvSpPr>
        <p:spPr>
          <a:xfrm>
            <a:off x="960120" y="4828032"/>
            <a:ext cx="4837176" cy="557784"/>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Does it surface uncertainty?</a:t>
            </a:r>
            <a:endParaRPr lang="en-US" sz="1500" dirty="0"/>
          </a:p>
        </p:txBody>
      </p:sp>
      <p:sp>
        <p:nvSpPr>
          <p:cNvPr id="31" name="Shape 29"/>
          <p:cNvSpPr/>
          <p:nvPr/>
        </p:nvSpPr>
        <p:spPr>
          <a:xfrm>
            <a:off x="6080760" y="4059936"/>
            <a:ext cx="5340096" cy="1435608"/>
          </a:xfrm>
          <a:prstGeom prst="roundRect">
            <a:avLst>
              <a:gd name="adj" fmla="val 9554"/>
            </a:avLst>
          </a:prstGeom>
          <a:solidFill>
            <a:srgbClr val="FFFFFF"/>
          </a:solidFill>
          <a:ln w="12700">
            <a:solidFill>
              <a:srgbClr val="DDE5E1"/>
            </a:solidFill>
            <a:prstDash val="solid"/>
          </a:ln>
        </p:spPr>
        <p:txBody>
          <a:bodyPr/>
          <a:lstStyle/>
          <a:p>
            <a:endParaRPr/>
          </a:p>
        </p:txBody>
      </p:sp>
      <p:sp>
        <p:nvSpPr>
          <p:cNvPr id="32" name="Shape 30"/>
          <p:cNvSpPr/>
          <p:nvPr/>
        </p:nvSpPr>
        <p:spPr>
          <a:xfrm>
            <a:off x="6080760" y="4059936"/>
            <a:ext cx="77724" cy="1435608"/>
          </a:xfrm>
          <a:prstGeom prst="rect">
            <a:avLst/>
          </a:prstGeom>
          <a:solidFill>
            <a:srgbClr val="E04149"/>
          </a:solidFill>
          <a:ln w="12700">
            <a:solidFill>
              <a:srgbClr val="E04149"/>
            </a:solidFill>
            <a:prstDash val="solid"/>
          </a:ln>
        </p:spPr>
        <p:txBody>
          <a:bodyPr/>
          <a:lstStyle/>
          <a:p>
            <a:endParaRPr/>
          </a:p>
        </p:txBody>
      </p:sp>
      <p:sp>
        <p:nvSpPr>
          <p:cNvPr id="33" name="Text 31"/>
          <p:cNvSpPr/>
          <p:nvPr/>
        </p:nvSpPr>
        <p:spPr>
          <a:xfrm>
            <a:off x="6318504" y="4270248"/>
            <a:ext cx="4873752" cy="466344"/>
          </a:xfrm>
          <a:prstGeom prst="rect">
            <a:avLst/>
          </a:prstGeom>
          <a:noFill/>
          <a:ln/>
        </p:spPr>
        <p:txBody>
          <a:bodyPr wrap="square" lIns="0" tIns="0" rIns="0" bIns="0" rtlCol="0" anchor="ctr">
            <a:normAutofit/>
          </a:bodyPr>
          <a:lstStyle/>
          <a:p>
            <a:pPr marL="0" indent="0" algn="l">
              <a:buNone/>
            </a:pPr>
            <a:r>
              <a:rPr lang="en-US" sz="1800" b="1" dirty="0">
                <a:solidFill>
                  <a:srgbClr val="1A243A"/>
                </a:solidFill>
                <a:latin typeface="Inter" pitchFamily="34" charset="0"/>
                <a:ea typeface="Inter" pitchFamily="34" charset="-122"/>
                <a:cs typeface="Inter" pitchFamily="34" charset="-120"/>
              </a:rPr>
              <a:t>UNSAFE REQUEST</a:t>
            </a:r>
            <a:endParaRPr lang="en-US" sz="1800" dirty="0"/>
          </a:p>
        </p:txBody>
      </p:sp>
      <p:sp>
        <p:nvSpPr>
          <p:cNvPr id="34" name="Text 32"/>
          <p:cNvSpPr/>
          <p:nvPr/>
        </p:nvSpPr>
        <p:spPr>
          <a:xfrm>
            <a:off x="6318504" y="4828032"/>
            <a:ext cx="4837176" cy="557784"/>
          </a:xfrm>
          <a:prstGeom prst="rect">
            <a:avLst/>
          </a:prstGeom>
          <a:noFill/>
          <a:ln/>
        </p:spPr>
        <p:txBody>
          <a:bodyPr wrap="square" lIns="0" tIns="0" rIns="0" bIns="0" rtlCol="0" anchor="t">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Does it stop and request approval?</a:t>
            </a:r>
            <a:endParaRPr lang="en-US" sz="15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667866"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503274"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AUDIENCE QUIZ</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Which one is the agent?</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Ask participants to vote before revealing.</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29  /  32</a:t>
            </a:r>
            <a:endParaRPr lang="en-US" sz="900" dirty="0"/>
          </a:p>
        </p:txBody>
      </p:sp>
      <p:sp>
        <p:nvSpPr>
          <p:cNvPr id="19" name="Shape 17"/>
          <p:cNvSpPr/>
          <p:nvPr/>
        </p:nvSpPr>
        <p:spPr>
          <a:xfrm>
            <a:off x="722376" y="2395728"/>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20" name="Shape 18"/>
          <p:cNvSpPr/>
          <p:nvPr/>
        </p:nvSpPr>
        <p:spPr>
          <a:xfrm>
            <a:off x="896112" y="2615184"/>
            <a:ext cx="420624"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21" name="Text 19"/>
          <p:cNvSpPr/>
          <p:nvPr/>
        </p:nvSpPr>
        <p:spPr>
          <a:xfrm>
            <a:off x="978408" y="2638044"/>
            <a:ext cx="25603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1A243A"/>
                </a:solidFill>
                <a:latin typeface="Inter" pitchFamily="34" charset="0"/>
                <a:ea typeface="Inter" pitchFamily="34" charset="-122"/>
                <a:cs typeface="Inter" pitchFamily="34" charset="-120"/>
              </a:rPr>
              <a:t>A</a:t>
            </a:r>
            <a:endParaRPr lang="en-US" sz="1000" dirty="0"/>
          </a:p>
        </p:txBody>
      </p:sp>
      <p:sp>
        <p:nvSpPr>
          <p:cNvPr id="22" name="Text 20"/>
          <p:cNvSpPr/>
          <p:nvPr/>
        </p:nvSpPr>
        <p:spPr>
          <a:xfrm>
            <a:off x="1517904" y="2679192"/>
            <a:ext cx="4206240" cy="768096"/>
          </a:xfrm>
          <a:prstGeom prst="rect">
            <a:avLst/>
          </a:prstGeom>
          <a:noFill/>
          <a:ln/>
        </p:spPr>
        <p:txBody>
          <a:bodyPr wrap="square" lIns="0" tIns="0" rIns="0" bIns="0" rtlCol="0" anchor="ctr">
            <a:normAutofit/>
          </a:bodyPr>
          <a:lstStyle/>
          <a:p>
            <a:pPr marL="0" indent="0" algn="l">
              <a:buNone/>
            </a:pPr>
            <a:r>
              <a:rPr lang="en-US" sz="2000" dirty="0">
                <a:solidFill>
                  <a:srgbClr val="1A243A"/>
                </a:solidFill>
                <a:latin typeface="Inter" pitchFamily="34" charset="0"/>
                <a:ea typeface="Inter" pitchFamily="34" charset="-122"/>
                <a:cs typeface="Inter" pitchFamily="34" charset="-120"/>
              </a:rPr>
              <a:t>Explains possible pump failures</a:t>
            </a:r>
            <a:endParaRPr lang="en-US" sz="2000" dirty="0"/>
          </a:p>
        </p:txBody>
      </p:sp>
      <p:sp>
        <p:nvSpPr>
          <p:cNvPr id="23" name="Shape 21"/>
          <p:cNvSpPr/>
          <p:nvPr/>
        </p:nvSpPr>
        <p:spPr>
          <a:xfrm>
            <a:off x="6126480" y="2395728"/>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24" name="Shape 22"/>
          <p:cNvSpPr/>
          <p:nvPr/>
        </p:nvSpPr>
        <p:spPr>
          <a:xfrm>
            <a:off x="6300216" y="2615184"/>
            <a:ext cx="420624"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25" name="Text 23"/>
          <p:cNvSpPr/>
          <p:nvPr/>
        </p:nvSpPr>
        <p:spPr>
          <a:xfrm>
            <a:off x="6382512" y="2638044"/>
            <a:ext cx="25603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1A243A"/>
                </a:solidFill>
                <a:latin typeface="Inter" pitchFamily="34" charset="0"/>
                <a:ea typeface="Inter" pitchFamily="34" charset="-122"/>
                <a:cs typeface="Inter" pitchFamily="34" charset="-120"/>
              </a:rPr>
              <a:t>B</a:t>
            </a:r>
            <a:endParaRPr lang="en-US" sz="1000" dirty="0"/>
          </a:p>
        </p:txBody>
      </p:sp>
      <p:sp>
        <p:nvSpPr>
          <p:cNvPr id="26" name="Text 24"/>
          <p:cNvSpPr/>
          <p:nvPr/>
        </p:nvSpPr>
        <p:spPr>
          <a:xfrm>
            <a:off x="6922008" y="2679192"/>
            <a:ext cx="4206240" cy="768096"/>
          </a:xfrm>
          <a:prstGeom prst="rect">
            <a:avLst/>
          </a:prstGeom>
          <a:noFill/>
          <a:ln/>
        </p:spPr>
        <p:txBody>
          <a:bodyPr wrap="square" lIns="0" tIns="0" rIns="0" bIns="0" rtlCol="0" anchor="ctr">
            <a:normAutofit/>
          </a:bodyPr>
          <a:lstStyle/>
          <a:p>
            <a:pPr marL="0" indent="0" algn="l">
              <a:buNone/>
            </a:pPr>
            <a:r>
              <a:rPr lang="en-US" sz="2000" dirty="0">
                <a:solidFill>
                  <a:srgbClr val="1A243A"/>
                </a:solidFill>
                <a:latin typeface="Inter" pitchFamily="34" charset="0"/>
                <a:ea typeface="Inter" pitchFamily="34" charset="-122"/>
                <a:cs typeface="Inter" pitchFamily="34" charset="-120"/>
              </a:rPr>
              <a:t>Returns a stored sensor measurement</a:t>
            </a:r>
            <a:endParaRPr lang="en-US" sz="2000" dirty="0"/>
          </a:p>
        </p:txBody>
      </p:sp>
      <p:sp>
        <p:nvSpPr>
          <p:cNvPr id="27" name="Shape 25"/>
          <p:cNvSpPr/>
          <p:nvPr/>
        </p:nvSpPr>
        <p:spPr>
          <a:xfrm>
            <a:off x="722376" y="4005072"/>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30" name="Text 28"/>
          <p:cNvSpPr/>
          <p:nvPr/>
        </p:nvSpPr>
        <p:spPr>
          <a:xfrm>
            <a:off x="1517904" y="4288536"/>
            <a:ext cx="4206240" cy="768096"/>
          </a:xfrm>
          <a:prstGeom prst="rect">
            <a:avLst/>
          </a:prstGeom>
          <a:noFill/>
          <a:ln/>
        </p:spPr>
        <p:txBody>
          <a:bodyPr wrap="square" lIns="0" tIns="0" rIns="0" bIns="0" rtlCol="0" anchor="ctr">
            <a:normAutofit/>
          </a:bodyPr>
          <a:lstStyle/>
          <a:p>
            <a:pPr marL="0" indent="0" algn="l">
              <a:buNone/>
            </a:pPr>
            <a:r>
              <a:rPr lang="en-US" sz="2000" dirty="0">
                <a:solidFill>
                  <a:srgbClr val="1A243A"/>
                </a:solidFill>
                <a:latin typeface="Inter" pitchFamily="34" charset="0"/>
                <a:ea typeface="Inter" pitchFamily="34" charset="-122"/>
                <a:cs typeface="Inter" pitchFamily="34" charset="-120"/>
              </a:rPr>
              <a:t>Chooses whether to inspect logs or sensors</a:t>
            </a:r>
            <a:endParaRPr lang="en-US" sz="2000" dirty="0"/>
          </a:p>
        </p:txBody>
      </p:sp>
      <p:sp>
        <p:nvSpPr>
          <p:cNvPr id="31" name="Shape 29"/>
          <p:cNvSpPr/>
          <p:nvPr/>
        </p:nvSpPr>
        <p:spPr>
          <a:xfrm>
            <a:off x="6126480" y="4005072"/>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32" name="Shape 30"/>
          <p:cNvSpPr/>
          <p:nvPr/>
        </p:nvSpPr>
        <p:spPr>
          <a:xfrm>
            <a:off x="6300216" y="4224528"/>
            <a:ext cx="420624"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33" name="Text 31"/>
          <p:cNvSpPr/>
          <p:nvPr/>
        </p:nvSpPr>
        <p:spPr>
          <a:xfrm>
            <a:off x="6382512" y="4247388"/>
            <a:ext cx="25603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1A243A"/>
                </a:solidFill>
                <a:latin typeface="Inter" pitchFamily="34" charset="0"/>
                <a:ea typeface="Inter" pitchFamily="34" charset="-122"/>
                <a:cs typeface="Inter" pitchFamily="34" charset="-120"/>
              </a:rPr>
              <a:t>D</a:t>
            </a:r>
            <a:endParaRPr lang="en-US" sz="1000" dirty="0"/>
          </a:p>
        </p:txBody>
      </p:sp>
      <p:sp>
        <p:nvSpPr>
          <p:cNvPr id="34" name="Text 32"/>
          <p:cNvSpPr/>
          <p:nvPr/>
        </p:nvSpPr>
        <p:spPr>
          <a:xfrm>
            <a:off x="6922008" y="4288536"/>
            <a:ext cx="4206240" cy="768096"/>
          </a:xfrm>
          <a:prstGeom prst="rect">
            <a:avLst/>
          </a:prstGeom>
          <a:noFill/>
          <a:ln/>
        </p:spPr>
        <p:txBody>
          <a:bodyPr wrap="square" lIns="0" tIns="0" rIns="0" bIns="0" rtlCol="0" anchor="ctr">
            <a:normAutofit/>
          </a:bodyPr>
          <a:lstStyle/>
          <a:p>
            <a:pPr marL="0" indent="0" algn="l">
              <a:buNone/>
            </a:pPr>
            <a:r>
              <a:rPr lang="en-US" sz="2000" dirty="0">
                <a:solidFill>
                  <a:srgbClr val="1A243A"/>
                </a:solidFill>
                <a:latin typeface="Inter" pitchFamily="34" charset="0"/>
                <a:ea typeface="Inter" pitchFamily="34" charset="-122"/>
                <a:cs typeface="Inter" pitchFamily="34" charset="-120"/>
              </a:rPr>
              <a:t>Sends a fixed daily status email</a:t>
            </a:r>
            <a:endParaRPr lang="en-US" sz="2000" dirty="0"/>
          </a:p>
        </p:txBody>
      </p:sp>
      <p:sp>
        <p:nvSpPr>
          <p:cNvPr id="36" name="Shape 30">
            <a:extLst>
              <a:ext uri="{FF2B5EF4-FFF2-40B4-BE49-F238E27FC236}">
                <a16:creationId xmlns:a16="http://schemas.microsoft.com/office/drawing/2014/main" id="{DED066EB-E90D-E339-BFCA-05463CB32F49}"/>
              </a:ext>
            </a:extLst>
          </p:cNvPr>
          <p:cNvSpPr/>
          <p:nvPr/>
        </p:nvSpPr>
        <p:spPr>
          <a:xfrm>
            <a:off x="909828" y="4384548"/>
            <a:ext cx="420624"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37" name="Text 27">
            <a:extLst>
              <a:ext uri="{FF2B5EF4-FFF2-40B4-BE49-F238E27FC236}">
                <a16:creationId xmlns:a16="http://schemas.microsoft.com/office/drawing/2014/main" id="{C30D8111-BCFB-0752-8629-0B7AC7F08499}"/>
              </a:ext>
            </a:extLst>
          </p:cNvPr>
          <p:cNvSpPr/>
          <p:nvPr/>
        </p:nvSpPr>
        <p:spPr>
          <a:xfrm>
            <a:off x="987552" y="4411980"/>
            <a:ext cx="256032" cy="256032"/>
          </a:xfrm>
          <a:prstGeom prst="rect">
            <a:avLst/>
          </a:prstGeom>
          <a:noFill/>
          <a:ln/>
        </p:spPr>
        <p:txBody>
          <a:bodyPr wrap="square" lIns="0" tIns="0" rIns="0" bIns="0" rtlCol="0" anchor="ctr">
            <a:normAutofit/>
          </a:bodyPr>
          <a:lstStyle/>
          <a:p>
            <a:pPr marL="0" indent="0" algn="ctr">
              <a:buNone/>
            </a:pPr>
            <a:r>
              <a:rPr lang="en-US" sz="1000" b="1" kern="0" spc="60" dirty="0">
                <a:latin typeface="Inter" pitchFamily="34" charset="0"/>
                <a:ea typeface="Inter" pitchFamily="34" charset="-122"/>
                <a:cs typeface="Inter" pitchFamily="34" charset="-120"/>
              </a:rPr>
              <a:t>C</a:t>
            </a:r>
            <a:endParaRPr lang="en-US" sz="10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6E9B-2358-F4C6-473A-56BF63EF93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87D71AD-64CE-2970-08BB-6465892C32F9}"/>
              </a:ext>
            </a:extLst>
          </p:cNvPr>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a:extLst>
              <a:ext uri="{FF2B5EF4-FFF2-40B4-BE49-F238E27FC236}">
                <a16:creationId xmlns:a16="http://schemas.microsoft.com/office/drawing/2014/main" id="{CB519EA7-8036-70C3-0240-D43B50A947AB}"/>
              </a:ext>
            </a:extLst>
          </p:cNvPr>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a:extLst>
              <a:ext uri="{FF2B5EF4-FFF2-40B4-BE49-F238E27FC236}">
                <a16:creationId xmlns:a16="http://schemas.microsoft.com/office/drawing/2014/main" id="{3C894CF4-5DCB-0341-9E8F-CBC37A22E03B}"/>
              </a:ext>
            </a:extLst>
          </p:cNvPr>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a:extLst>
              <a:ext uri="{FF2B5EF4-FFF2-40B4-BE49-F238E27FC236}">
                <a16:creationId xmlns:a16="http://schemas.microsoft.com/office/drawing/2014/main" id="{3C6EF4A4-0EDA-2783-3E9F-C7B3D25A4C1B}"/>
              </a:ext>
            </a:extLst>
          </p:cNvPr>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a:extLst>
              <a:ext uri="{FF2B5EF4-FFF2-40B4-BE49-F238E27FC236}">
                <a16:creationId xmlns:a16="http://schemas.microsoft.com/office/drawing/2014/main" id="{A4AC0A6B-F82F-95B2-3359-D3755F434397}"/>
              </a:ext>
            </a:extLst>
          </p:cNvPr>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a:extLst>
              <a:ext uri="{FF2B5EF4-FFF2-40B4-BE49-F238E27FC236}">
                <a16:creationId xmlns:a16="http://schemas.microsoft.com/office/drawing/2014/main" id="{1AE13A5E-7523-6CBD-DB05-0F294C256D20}"/>
              </a:ext>
            </a:extLst>
          </p:cNvPr>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a:extLst>
              <a:ext uri="{FF2B5EF4-FFF2-40B4-BE49-F238E27FC236}">
                <a16:creationId xmlns:a16="http://schemas.microsoft.com/office/drawing/2014/main" id="{45B9A728-AAB9-2136-737C-4BC2D07BF78D}"/>
              </a:ext>
            </a:extLst>
          </p:cNvPr>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a:extLst>
              <a:ext uri="{FF2B5EF4-FFF2-40B4-BE49-F238E27FC236}">
                <a16:creationId xmlns:a16="http://schemas.microsoft.com/office/drawing/2014/main" id="{B56D753D-A343-D578-E65C-5918DE144AD5}"/>
              </a:ext>
            </a:extLst>
          </p:cNvPr>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a:extLst>
              <a:ext uri="{FF2B5EF4-FFF2-40B4-BE49-F238E27FC236}">
                <a16:creationId xmlns:a16="http://schemas.microsoft.com/office/drawing/2014/main" id="{F7C843ED-8A8C-5A7F-E376-2454CAEA4DFB}"/>
              </a:ext>
            </a:extLst>
          </p:cNvPr>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a:extLst>
              <a:ext uri="{FF2B5EF4-FFF2-40B4-BE49-F238E27FC236}">
                <a16:creationId xmlns:a16="http://schemas.microsoft.com/office/drawing/2014/main" id="{3BA4A7B2-A668-62AD-61BF-D9E9E9A7EF95}"/>
              </a:ext>
            </a:extLst>
          </p:cNvPr>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a:extLst>
              <a:ext uri="{FF2B5EF4-FFF2-40B4-BE49-F238E27FC236}">
                <a16:creationId xmlns:a16="http://schemas.microsoft.com/office/drawing/2014/main" id="{8CB9D1DF-5142-CDBF-2C34-7CCD11DC1AB4}"/>
              </a:ext>
            </a:extLst>
          </p:cNvPr>
          <p:cNvSpPr/>
          <p:nvPr/>
        </p:nvSpPr>
        <p:spPr>
          <a:xfrm>
            <a:off x="530352" y="393192"/>
            <a:ext cx="1667866"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a:extLst>
              <a:ext uri="{FF2B5EF4-FFF2-40B4-BE49-F238E27FC236}">
                <a16:creationId xmlns:a16="http://schemas.microsoft.com/office/drawing/2014/main" id="{49F4C99D-99CC-E51F-85AC-5A5C57DF613D}"/>
              </a:ext>
            </a:extLst>
          </p:cNvPr>
          <p:cNvSpPr/>
          <p:nvPr/>
        </p:nvSpPr>
        <p:spPr>
          <a:xfrm>
            <a:off x="612648" y="416052"/>
            <a:ext cx="1503274"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AUDIENCE QUIZ</a:t>
            </a:r>
            <a:endParaRPr lang="en-US" sz="1000" dirty="0"/>
          </a:p>
        </p:txBody>
      </p:sp>
      <p:sp>
        <p:nvSpPr>
          <p:cNvPr id="14" name="Text 12">
            <a:extLst>
              <a:ext uri="{FF2B5EF4-FFF2-40B4-BE49-F238E27FC236}">
                <a16:creationId xmlns:a16="http://schemas.microsoft.com/office/drawing/2014/main" id="{BF75E9BD-4233-D70D-D0C5-8B498AE862F6}"/>
              </a:ext>
            </a:extLst>
          </p:cNvPr>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lang="en-US" sz="2900" b="1" dirty="0">
                <a:solidFill>
                  <a:srgbClr val="1A243A"/>
                </a:solidFill>
                <a:latin typeface="Inter" pitchFamily="34" charset="0"/>
                <a:ea typeface="Inter" pitchFamily="34" charset="-122"/>
                <a:cs typeface="Inter" pitchFamily="34" charset="-120"/>
              </a:rPr>
              <a:t>Which one is the agent?</a:t>
            </a:r>
            <a:endParaRPr lang="en-US" sz="2900" dirty="0"/>
          </a:p>
        </p:txBody>
      </p:sp>
      <p:sp>
        <p:nvSpPr>
          <p:cNvPr id="15" name="Text 13">
            <a:extLst>
              <a:ext uri="{FF2B5EF4-FFF2-40B4-BE49-F238E27FC236}">
                <a16:creationId xmlns:a16="http://schemas.microsoft.com/office/drawing/2014/main" id="{931FC3CE-CE29-60F9-25AE-EAAA06E3F501}"/>
              </a:ext>
            </a:extLst>
          </p:cNvPr>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lang="en-US" sz="1500" dirty="0">
                <a:solidFill>
                  <a:srgbClr val="63717D"/>
                </a:solidFill>
                <a:latin typeface="Inter" pitchFamily="34" charset="0"/>
                <a:ea typeface="Inter" pitchFamily="34" charset="-122"/>
                <a:cs typeface="Inter" pitchFamily="34" charset="-120"/>
              </a:rPr>
              <a:t>Ask participants to vote before revealing.</a:t>
            </a:r>
            <a:endParaRPr lang="en-US" sz="1500" dirty="0"/>
          </a:p>
        </p:txBody>
      </p:sp>
      <p:sp>
        <p:nvSpPr>
          <p:cNvPr id="16" name="Shape 14">
            <a:extLst>
              <a:ext uri="{FF2B5EF4-FFF2-40B4-BE49-F238E27FC236}">
                <a16:creationId xmlns:a16="http://schemas.microsoft.com/office/drawing/2014/main" id="{0CF3E244-742A-D8B8-62E3-4D306060E69B}"/>
              </a:ext>
            </a:extLst>
          </p:cNvPr>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a:extLst>
              <a:ext uri="{FF2B5EF4-FFF2-40B4-BE49-F238E27FC236}">
                <a16:creationId xmlns:a16="http://schemas.microsoft.com/office/drawing/2014/main" id="{85904471-157D-6DC8-B9E4-8E9DBD283C5D}"/>
              </a:ext>
            </a:extLst>
          </p:cNvPr>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a:extLst>
              <a:ext uri="{FF2B5EF4-FFF2-40B4-BE49-F238E27FC236}">
                <a16:creationId xmlns:a16="http://schemas.microsoft.com/office/drawing/2014/main" id="{461D8591-512E-F94A-428E-9344D3668349}"/>
              </a:ext>
            </a:extLst>
          </p:cNvPr>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30  /  32</a:t>
            </a:r>
            <a:endParaRPr lang="en-US" sz="900" dirty="0"/>
          </a:p>
        </p:txBody>
      </p:sp>
      <p:sp>
        <p:nvSpPr>
          <p:cNvPr id="19" name="Shape 17">
            <a:extLst>
              <a:ext uri="{FF2B5EF4-FFF2-40B4-BE49-F238E27FC236}">
                <a16:creationId xmlns:a16="http://schemas.microsoft.com/office/drawing/2014/main" id="{534536E9-524C-636C-578C-88693D8040EE}"/>
              </a:ext>
            </a:extLst>
          </p:cNvPr>
          <p:cNvSpPr/>
          <p:nvPr/>
        </p:nvSpPr>
        <p:spPr>
          <a:xfrm>
            <a:off x="722376" y="2395728"/>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20" name="Shape 18">
            <a:extLst>
              <a:ext uri="{FF2B5EF4-FFF2-40B4-BE49-F238E27FC236}">
                <a16:creationId xmlns:a16="http://schemas.microsoft.com/office/drawing/2014/main" id="{62CD9546-6FC0-85B0-E172-CE2809EBD26F}"/>
              </a:ext>
            </a:extLst>
          </p:cNvPr>
          <p:cNvSpPr/>
          <p:nvPr/>
        </p:nvSpPr>
        <p:spPr>
          <a:xfrm>
            <a:off x="896112" y="2615184"/>
            <a:ext cx="420624"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21" name="Text 19">
            <a:extLst>
              <a:ext uri="{FF2B5EF4-FFF2-40B4-BE49-F238E27FC236}">
                <a16:creationId xmlns:a16="http://schemas.microsoft.com/office/drawing/2014/main" id="{8FBE96B6-5A97-F898-2F16-DA304985D72A}"/>
              </a:ext>
            </a:extLst>
          </p:cNvPr>
          <p:cNvSpPr/>
          <p:nvPr/>
        </p:nvSpPr>
        <p:spPr>
          <a:xfrm>
            <a:off x="978408" y="2638044"/>
            <a:ext cx="25603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1A243A"/>
                </a:solidFill>
                <a:latin typeface="Inter" pitchFamily="34" charset="0"/>
                <a:ea typeface="Inter" pitchFamily="34" charset="-122"/>
                <a:cs typeface="Inter" pitchFamily="34" charset="-120"/>
              </a:rPr>
              <a:t>A</a:t>
            </a:r>
            <a:endParaRPr lang="en-US" sz="1000" dirty="0"/>
          </a:p>
        </p:txBody>
      </p:sp>
      <p:sp>
        <p:nvSpPr>
          <p:cNvPr id="22" name="Text 20">
            <a:extLst>
              <a:ext uri="{FF2B5EF4-FFF2-40B4-BE49-F238E27FC236}">
                <a16:creationId xmlns:a16="http://schemas.microsoft.com/office/drawing/2014/main" id="{CA9780D5-BDBA-A1C9-1546-286F04F3EA03}"/>
              </a:ext>
            </a:extLst>
          </p:cNvPr>
          <p:cNvSpPr/>
          <p:nvPr/>
        </p:nvSpPr>
        <p:spPr>
          <a:xfrm>
            <a:off x="1517904" y="2679192"/>
            <a:ext cx="4206240" cy="768096"/>
          </a:xfrm>
          <a:prstGeom prst="rect">
            <a:avLst/>
          </a:prstGeom>
          <a:noFill/>
          <a:ln/>
        </p:spPr>
        <p:txBody>
          <a:bodyPr wrap="square" lIns="0" tIns="0" rIns="0" bIns="0" rtlCol="0" anchor="ctr">
            <a:normAutofit/>
          </a:bodyPr>
          <a:lstStyle/>
          <a:p>
            <a:pPr marL="0" indent="0" algn="l">
              <a:buNone/>
            </a:pPr>
            <a:r>
              <a:rPr lang="en-US" sz="2000" dirty="0">
                <a:solidFill>
                  <a:srgbClr val="1A243A"/>
                </a:solidFill>
                <a:latin typeface="Inter" pitchFamily="34" charset="0"/>
                <a:ea typeface="Inter" pitchFamily="34" charset="-122"/>
                <a:cs typeface="Inter" pitchFamily="34" charset="-120"/>
              </a:rPr>
              <a:t>Explains possible pump failures</a:t>
            </a:r>
            <a:endParaRPr lang="en-US" sz="2000" dirty="0"/>
          </a:p>
        </p:txBody>
      </p:sp>
      <p:sp>
        <p:nvSpPr>
          <p:cNvPr id="23" name="Shape 21">
            <a:extLst>
              <a:ext uri="{FF2B5EF4-FFF2-40B4-BE49-F238E27FC236}">
                <a16:creationId xmlns:a16="http://schemas.microsoft.com/office/drawing/2014/main" id="{50DE5F07-13E7-8FCF-F2BF-D00887E556B5}"/>
              </a:ext>
            </a:extLst>
          </p:cNvPr>
          <p:cNvSpPr/>
          <p:nvPr/>
        </p:nvSpPr>
        <p:spPr>
          <a:xfrm>
            <a:off x="6126480" y="2395728"/>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24" name="Shape 22">
            <a:extLst>
              <a:ext uri="{FF2B5EF4-FFF2-40B4-BE49-F238E27FC236}">
                <a16:creationId xmlns:a16="http://schemas.microsoft.com/office/drawing/2014/main" id="{28B1BF0D-A71B-3554-8D06-C33E400390A2}"/>
              </a:ext>
            </a:extLst>
          </p:cNvPr>
          <p:cNvSpPr/>
          <p:nvPr/>
        </p:nvSpPr>
        <p:spPr>
          <a:xfrm>
            <a:off x="6300216" y="2615184"/>
            <a:ext cx="420624"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25" name="Text 23">
            <a:extLst>
              <a:ext uri="{FF2B5EF4-FFF2-40B4-BE49-F238E27FC236}">
                <a16:creationId xmlns:a16="http://schemas.microsoft.com/office/drawing/2014/main" id="{85249DFC-31CA-DBDA-6E83-33AACEF8933F}"/>
              </a:ext>
            </a:extLst>
          </p:cNvPr>
          <p:cNvSpPr/>
          <p:nvPr/>
        </p:nvSpPr>
        <p:spPr>
          <a:xfrm>
            <a:off x="6382512" y="2638044"/>
            <a:ext cx="25603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1A243A"/>
                </a:solidFill>
                <a:latin typeface="Inter" pitchFamily="34" charset="0"/>
                <a:ea typeface="Inter" pitchFamily="34" charset="-122"/>
                <a:cs typeface="Inter" pitchFamily="34" charset="-120"/>
              </a:rPr>
              <a:t>B</a:t>
            </a:r>
            <a:endParaRPr lang="en-US" sz="1000" dirty="0"/>
          </a:p>
        </p:txBody>
      </p:sp>
      <p:sp>
        <p:nvSpPr>
          <p:cNvPr id="26" name="Text 24">
            <a:extLst>
              <a:ext uri="{FF2B5EF4-FFF2-40B4-BE49-F238E27FC236}">
                <a16:creationId xmlns:a16="http://schemas.microsoft.com/office/drawing/2014/main" id="{91D31D55-1332-77C6-FC30-55E96F975D51}"/>
              </a:ext>
            </a:extLst>
          </p:cNvPr>
          <p:cNvSpPr/>
          <p:nvPr/>
        </p:nvSpPr>
        <p:spPr>
          <a:xfrm>
            <a:off x="6922008" y="2679192"/>
            <a:ext cx="4206240" cy="768096"/>
          </a:xfrm>
          <a:prstGeom prst="rect">
            <a:avLst/>
          </a:prstGeom>
          <a:noFill/>
          <a:ln/>
        </p:spPr>
        <p:txBody>
          <a:bodyPr wrap="square" lIns="0" tIns="0" rIns="0" bIns="0" rtlCol="0" anchor="ctr">
            <a:normAutofit/>
          </a:bodyPr>
          <a:lstStyle/>
          <a:p>
            <a:pPr marL="0" indent="0" algn="l">
              <a:buNone/>
            </a:pPr>
            <a:r>
              <a:rPr lang="en-US" sz="2000" dirty="0">
                <a:solidFill>
                  <a:srgbClr val="1A243A"/>
                </a:solidFill>
                <a:latin typeface="Inter" pitchFamily="34" charset="0"/>
                <a:ea typeface="Inter" pitchFamily="34" charset="-122"/>
                <a:cs typeface="Inter" pitchFamily="34" charset="-120"/>
              </a:rPr>
              <a:t>Returns a stored sensor measurement</a:t>
            </a:r>
            <a:endParaRPr lang="en-US" sz="2000" dirty="0"/>
          </a:p>
        </p:txBody>
      </p:sp>
      <p:sp>
        <p:nvSpPr>
          <p:cNvPr id="27" name="Shape 25">
            <a:extLst>
              <a:ext uri="{FF2B5EF4-FFF2-40B4-BE49-F238E27FC236}">
                <a16:creationId xmlns:a16="http://schemas.microsoft.com/office/drawing/2014/main" id="{7293110E-7780-F99F-6CD4-B2EBD54D17FC}"/>
              </a:ext>
            </a:extLst>
          </p:cNvPr>
          <p:cNvSpPr/>
          <p:nvPr/>
        </p:nvSpPr>
        <p:spPr>
          <a:xfrm>
            <a:off x="722376" y="4005072"/>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28" name="Shape 26">
            <a:extLst>
              <a:ext uri="{FF2B5EF4-FFF2-40B4-BE49-F238E27FC236}">
                <a16:creationId xmlns:a16="http://schemas.microsoft.com/office/drawing/2014/main" id="{A296A12C-11E7-3220-C22D-01450C79C65B}"/>
              </a:ext>
            </a:extLst>
          </p:cNvPr>
          <p:cNvSpPr/>
          <p:nvPr/>
        </p:nvSpPr>
        <p:spPr>
          <a:xfrm>
            <a:off x="896112" y="4224528"/>
            <a:ext cx="420624"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29" name="Text 27">
            <a:extLst>
              <a:ext uri="{FF2B5EF4-FFF2-40B4-BE49-F238E27FC236}">
                <a16:creationId xmlns:a16="http://schemas.microsoft.com/office/drawing/2014/main" id="{66047122-AB5F-15CC-89E7-502969E12597}"/>
              </a:ext>
            </a:extLst>
          </p:cNvPr>
          <p:cNvSpPr/>
          <p:nvPr/>
        </p:nvSpPr>
        <p:spPr>
          <a:xfrm>
            <a:off x="978408" y="4247388"/>
            <a:ext cx="25603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C</a:t>
            </a:r>
            <a:endParaRPr lang="en-US" sz="1000" dirty="0"/>
          </a:p>
        </p:txBody>
      </p:sp>
      <p:sp>
        <p:nvSpPr>
          <p:cNvPr id="30" name="Text 28">
            <a:extLst>
              <a:ext uri="{FF2B5EF4-FFF2-40B4-BE49-F238E27FC236}">
                <a16:creationId xmlns:a16="http://schemas.microsoft.com/office/drawing/2014/main" id="{A69D5ED0-CB41-81EE-7CA0-456C9744EC93}"/>
              </a:ext>
            </a:extLst>
          </p:cNvPr>
          <p:cNvSpPr/>
          <p:nvPr/>
        </p:nvSpPr>
        <p:spPr>
          <a:xfrm>
            <a:off x="1517904" y="4288536"/>
            <a:ext cx="4206240" cy="768096"/>
          </a:xfrm>
          <a:prstGeom prst="rect">
            <a:avLst/>
          </a:prstGeom>
          <a:noFill/>
          <a:ln/>
        </p:spPr>
        <p:txBody>
          <a:bodyPr wrap="square" lIns="0" tIns="0" rIns="0" bIns="0" rtlCol="0" anchor="ctr">
            <a:normAutofit/>
          </a:bodyPr>
          <a:lstStyle/>
          <a:p>
            <a:pPr marL="0" indent="0" algn="l">
              <a:buNone/>
            </a:pPr>
            <a:r>
              <a:rPr lang="en-US" sz="2000" b="1" dirty="0">
                <a:solidFill>
                  <a:srgbClr val="1A243A"/>
                </a:solidFill>
                <a:latin typeface="Inter" pitchFamily="34" charset="0"/>
                <a:ea typeface="Inter" pitchFamily="34" charset="-122"/>
                <a:cs typeface="Inter" pitchFamily="34" charset="-120"/>
              </a:rPr>
              <a:t>Chooses whether to inspect logs or sensors</a:t>
            </a:r>
            <a:endParaRPr lang="en-US" sz="2000" dirty="0"/>
          </a:p>
        </p:txBody>
      </p:sp>
      <p:sp>
        <p:nvSpPr>
          <p:cNvPr id="31" name="Shape 29">
            <a:extLst>
              <a:ext uri="{FF2B5EF4-FFF2-40B4-BE49-F238E27FC236}">
                <a16:creationId xmlns:a16="http://schemas.microsoft.com/office/drawing/2014/main" id="{2E82D86F-5739-4626-9933-ED16497BE97E}"/>
              </a:ext>
            </a:extLst>
          </p:cNvPr>
          <p:cNvSpPr/>
          <p:nvPr/>
        </p:nvSpPr>
        <p:spPr>
          <a:xfrm>
            <a:off x="6126480" y="4005072"/>
            <a:ext cx="5294376" cy="1325880"/>
          </a:xfrm>
          <a:prstGeom prst="roundRect">
            <a:avLst>
              <a:gd name="adj" fmla="val 10345"/>
            </a:avLst>
          </a:prstGeom>
          <a:solidFill>
            <a:srgbClr val="FFFFFF"/>
          </a:solidFill>
          <a:ln w="12700">
            <a:solidFill>
              <a:srgbClr val="DDE5E1"/>
            </a:solidFill>
            <a:prstDash val="solid"/>
          </a:ln>
        </p:spPr>
        <p:txBody>
          <a:bodyPr/>
          <a:lstStyle/>
          <a:p>
            <a:endParaRPr/>
          </a:p>
        </p:txBody>
      </p:sp>
      <p:sp>
        <p:nvSpPr>
          <p:cNvPr id="32" name="Shape 30">
            <a:extLst>
              <a:ext uri="{FF2B5EF4-FFF2-40B4-BE49-F238E27FC236}">
                <a16:creationId xmlns:a16="http://schemas.microsoft.com/office/drawing/2014/main" id="{3EC85EAB-1BBA-459A-B373-57158BDD7EA8}"/>
              </a:ext>
            </a:extLst>
          </p:cNvPr>
          <p:cNvSpPr/>
          <p:nvPr/>
        </p:nvSpPr>
        <p:spPr>
          <a:xfrm>
            <a:off x="6300216" y="4224528"/>
            <a:ext cx="420624" cy="320040"/>
          </a:xfrm>
          <a:prstGeom prst="roundRect">
            <a:avLst>
              <a:gd name="adj" fmla="val 42857"/>
            </a:avLst>
          </a:prstGeom>
          <a:solidFill>
            <a:srgbClr val="F3F5F3"/>
          </a:solidFill>
          <a:ln w="12700">
            <a:solidFill>
              <a:srgbClr val="F3F5F3"/>
            </a:solidFill>
            <a:prstDash val="solid"/>
          </a:ln>
        </p:spPr>
        <p:txBody>
          <a:bodyPr/>
          <a:lstStyle/>
          <a:p>
            <a:endParaRPr/>
          </a:p>
        </p:txBody>
      </p:sp>
      <p:sp>
        <p:nvSpPr>
          <p:cNvPr id="33" name="Text 31">
            <a:extLst>
              <a:ext uri="{FF2B5EF4-FFF2-40B4-BE49-F238E27FC236}">
                <a16:creationId xmlns:a16="http://schemas.microsoft.com/office/drawing/2014/main" id="{AC219DA5-88EB-0F71-6162-15630DD10A92}"/>
              </a:ext>
            </a:extLst>
          </p:cNvPr>
          <p:cNvSpPr/>
          <p:nvPr/>
        </p:nvSpPr>
        <p:spPr>
          <a:xfrm>
            <a:off x="6382512" y="4247388"/>
            <a:ext cx="256032"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1A243A"/>
                </a:solidFill>
                <a:latin typeface="Inter" pitchFamily="34" charset="0"/>
                <a:ea typeface="Inter" pitchFamily="34" charset="-122"/>
                <a:cs typeface="Inter" pitchFamily="34" charset="-120"/>
              </a:rPr>
              <a:t>D</a:t>
            </a:r>
            <a:endParaRPr lang="en-US" sz="1000" dirty="0"/>
          </a:p>
        </p:txBody>
      </p:sp>
      <p:sp>
        <p:nvSpPr>
          <p:cNvPr id="34" name="Text 32">
            <a:extLst>
              <a:ext uri="{FF2B5EF4-FFF2-40B4-BE49-F238E27FC236}">
                <a16:creationId xmlns:a16="http://schemas.microsoft.com/office/drawing/2014/main" id="{4DBD895E-21FC-DE60-2230-B77F3056E420}"/>
              </a:ext>
            </a:extLst>
          </p:cNvPr>
          <p:cNvSpPr/>
          <p:nvPr/>
        </p:nvSpPr>
        <p:spPr>
          <a:xfrm>
            <a:off x="6922008" y="4288536"/>
            <a:ext cx="4206240" cy="768096"/>
          </a:xfrm>
          <a:prstGeom prst="rect">
            <a:avLst/>
          </a:prstGeom>
          <a:noFill/>
          <a:ln/>
        </p:spPr>
        <p:txBody>
          <a:bodyPr wrap="square" lIns="0" tIns="0" rIns="0" bIns="0" rtlCol="0" anchor="ctr">
            <a:normAutofit/>
          </a:bodyPr>
          <a:lstStyle/>
          <a:p>
            <a:pPr marL="0" indent="0" algn="l">
              <a:buNone/>
            </a:pPr>
            <a:r>
              <a:rPr lang="en-US" sz="2000" dirty="0">
                <a:solidFill>
                  <a:srgbClr val="1A243A"/>
                </a:solidFill>
                <a:latin typeface="Inter" pitchFamily="34" charset="0"/>
                <a:ea typeface="Inter" pitchFamily="34" charset="-122"/>
                <a:cs typeface="Inter" pitchFamily="34" charset="-120"/>
              </a:rPr>
              <a:t>Sends a fixed daily status email</a:t>
            </a:r>
            <a:endParaRPr lang="en-US" sz="2000" dirty="0"/>
          </a:p>
        </p:txBody>
      </p:sp>
      <p:sp>
        <p:nvSpPr>
          <p:cNvPr id="35" name="Text 33">
            <a:extLst>
              <a:ext uri="{FF2B5EF4-FFF2-40B4-BE49-F238E27FC236}">
                <a16:creationId xmlns:a16="http://schemas.microsoft.com/office/drawing/2014/main" id="{BFDF6DE2-F6A9-4DFE-CCA0-C055C3322FF9}"/>
              </a:ext>
            </a:extLst>
          </p:cNvPr>
          <p:cNvSpPr/>
          <p:nvPr/>
        </p:nvSpPr>
        <p:spPr>
          <a:xfrm>
            <a:off x="1014984" y="5760720"/>
            <a:ext cx="10204704" cy="338328"/>
          </a:xfrm>
          <a:prstGeom prst="rect">
            <a:avLst/>
          </a:prstGeom>
          <a:noFill/>
          <a:ln/>
        </p:spPr>
        <p:txBody>
          <a:bodyPr wrap="square" lIns="0" tIns="0" rIns="0" bIns="0" rtlCol="0" anchor="ctr">
            <a:normAutofit/>
          </a:bodyPr>
          <a:lstStyle/>
          <a:p>
            <a:pPr marL="0" indent="0" algn="ctr">
              <a:buNone/>
            </a:pPr>
            <a:r>
              <a:rPr lang="en-US" sz="1800" b="1" dirty="0">
                <a:solidFill>
                  <a:srgbClr val="2B6450"/>
                </a:solidFill>
                <a:latin typeface="Inter" pitchFamily="34" charset="0"/>
                <a:ea typeface="Inter" pitchFamily="34" charset="-122"/>
                <a:cs typeface="Inter" pitchFamily="34" charset="-120"/>
              </a:rPr>
              <a:t>Answer: C — a model dynamically decides which tool to use.</a:t>
            </a:r>
            <a:endParaRPr lang="en-US" sz="1800" dirty="0"/>
          </a:p>
        </p:txBody>
      </p:sp>
    </p:spTree>
    <p:extLst>
      <p:ext uri="{BB962C8B-B14F-4D97-AF65-F5344CB8AC3E}">
        <p14:creationId xmlns:p14="http://schemas.microsoft.com/office/powerpoint/2010/main" val="4153473602"/>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DDE6E1"/>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DDE6E1"/>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DDE6E1"/>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DDE6E1"/>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DDE6E1"/>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DDE6E1"/>
            </a:solidFill>
            <a:prstDash val="solid"/>
          </a:ln>
        </p:spPr>
        <p:txBody>
          <a:bodyPr/>
          <a:lstStyle/>
          <a:p>
            <a:endParaRPr/>
          </a:p>
        </p:txBody>
      </p:sp>
      <p:sp>
        <p:nvSpPr>
          <p:cNvPr id="8" name="Shape 6"/>
          <p:cNvSpPr/>
          <p:nvPr/>
        </p:nvSpPr>
        <p:spPr>
          <a:xfrm>
            <a:off x="10872216" y="475488"/>
            <a:ext cx="73152" cy="73152"/>
          </a:xfrm>
          <a:prstGeom prst="ellipse">
            <a:avLst/>
          </a:prstGeom>
          <a:solidFill>
            <a:srgbClr val="DDE6E1"/>
          </a:solidFill>
          <a:ln w="12700">
            <a:solidFill>
              <a:srgbClr val="DDE6E1"/>
            </a:solidFill>
            <a:prstDash val="solid"/>
          </a:ln>
        </p:spPr>
        <p:txBody>
          <a:bodyPr/>
          <a:lstStyle/>
          <a:p>
            <a:endParaRPr/>
          </a:p>
        </p:txBody>
      </p:sp>
      <p:sp>
        <p:nvSpPr>
          <p:cNvPr id="9" name="Shape 7"/>
          <p:cNvSpPr/>
          <p:nvPr/>
        </p:nvSpPr>
        <p:spPr>
          <a:xfrm>
            <a:off x="11512296" y="603504"/>
            <a:ext cx="73152" cy="73152"/>
          </a:xfrm>
          <a:prstGeom prst="ellipse">
            <a:avLst/>
          </a:prstGeom>
          <a:solidFill>
            <a:srgbClr val="DDE6E1"/>
          </a:solidFill>
          <a:ln w="12700">
            <a:solidFill>
              <a:srgbClr val="DDE6E1"/>
            </a:solidFill>
            <a:prstDash val="solid"/>
          </a:ln>
        </p:spPr>
        <p:txBody>
          <a:bodyPr/>
          <a:lstStyle/>
          <a:p>
            <a:endParaRPr/>
          </a:p>
        </p:txBody>
      </p:sp>
      <p:sp>
        <p:nvSpPr>
          <p:cNvPr id="10" name="Shape 8"/>
          <p:cNvSpPr/>
          <p:nvPr/>
        </p:nvSpPr>
        <p:spPr>
          <a:xfrm>
            <a:off x="530352" y="5879592"/>
            <a:ext cx="73152" cy="73152"/>
          </a:xfrm>
          <a:prstGeom prst="ellipse">
            <a:avLst/>
          </a:prstGeom>
          <a:solidFill>
            <a:srgbClr val="DDE6E1"/>
          </a:solidFill>
          <a:ln w="12700">
            <a:solidFill>
              <a:srgbClr val="DDE6E1"/>
            </a:solidFill>
            <a:prstDash val="solid"/>
          </a:ln>
        </p:spPr>
        <p:txBody>
          <a:bodyPr/>
          <a:lstStyle/>
          <a:p>
            <a:endParaRPr/>
          </a:p>
        </p:txBody>
      </p:sp>
      <p:sp>
        <p:nvSpPr>
          <p:cNvPr id="11" name="Shape 9"/>
          <p:cNvSpPr/>
          <p:nvPr/>
        </p:nvSpPr>
        <p:spPr>
          <a:xfrm>
            <a:off x="813816" y="5120640"/>
            <a:ext cx="73152" cy="73152"/>
          </a:xfrm>
          <a:prstGeom prst="ellipse">
            <a:avLst/>
          </a:prstGeom>
          <a:solidFill>
            <a:srgbClr val="DDE6E1"/>
          </a:solidFill>
          <a:ln w="12700">
            <a:solidFill>
              <a:srgbClr val="DDE6E1"/>
            </a:solidFill>
            <a:prstDash val="solid"/>
          </a:ln>
        </p:spPr>
        <p:txBody>
          <a:bodyPr/>
          <a:lstStyle/>
          <a:p>
            <a:endParaRPr/>
          </a:p>
        </p:txBody>
      </p:sp>
      <p:sp>
        <p:nvSpPr>
          <p:cNvPr id="12" name="Shape 10"/>
          <p:cNvSpPr/>
          <p:nvPr/>
        </p:nvSpPr>
        <p:spPr>
          <a:xfrm>
            <a:off x="530352" y="393192"/>
            <a:ext cx="1488643" cy="320040"/>
          </a:xfrm>
          <a:prstGeom prst="roundRect">
            <a:avLst>
              <a:gd name="adj" fmla="val 42857"/>
            </a:avLst>
          </a:prstGeom>
          <a:solidFill>
            <a:srgbClr val="D9F1E6"/>
          </a:solidFill>
          <a:ln w="12700">
            <a:solidFill>
              <a:srgbClr val="D9F1E6"/>
            </a:solidFill>
            <a:prstDash val="solid"/>
          </a:ln>
        </p:spPr>
        <p:txBody>
          <a:bodyPr/>
          <a:lstStyle/>
          <a:p>
            <a:endParaRPr/>
          </a:p>
        </p:txBody>
      </p:sp>
      <p:sp>
        <p:nvSpPr>
          <p:cNvPr id="13" name="Text 11"/>
          <p:cNvSpPr/>
          <p:nvPr/>
        </p:nvSpPr>
        <p:spPr>
          <a:xfrm>
            <a:off x="612648" y="416052"/>
            <a:ext cx="1324051" cy="256032"/>
          </a:xfrm>
          <a:prstGeom prst="rect">
            <a:avLst/>
          </a:prstGeom>
          <a:noFill/>
          <a:ln/>
        </p:spPr>
        <p:txBody>
          <a:bodyPr wrap="square" lIns="0" tIns="0" rIns="0" bIns="0" rtlCol="0" anchor="ctr">
            <a:normAutofit/>
          </a:bodyPr>
          <a:lstStyle/>
          <a:p>
            <a:pPr marL="0" indent="0" algn="ctr">
              <a:buNone/>
            </a:pPr>
            <a:r>
              <a:rPr lang="en-US" sz="1000" b="1" kern="0" spc="60" dirty="0">
                <a:solidFill>
                  <a:srgbClr val="2B6450"/>
                </a:solidFill>
                <a:latin typeface="Inter" pitchFamily="34" charset="0"/>
                <a:ea typeface="Inter" pitchFamily="34" charset="-122"/>
                <a:cs typeface="Inter" pitchFamily="34" charset="-120"/>
              </a:rPr>
              <a:t>THE JOURNEY</a:t>
            </a:r>
            <a:endParaRPr lang="en-US" sz="1000" dirty="0"/>
          </a:p>
        </p:txBody>
      </p:sp>
      <p:sp>
        <p:nvSpPr>
          <p:cNvPr id="14" name="Text 12"/>
          <p:cNvSpPr/>
          <p:nvPr/>
        </p:nvSpPr>
        <p:spPr>
          <a:xfrm>
            <a:off x="530352" y="841248"/>
            <a:ext cx="10927080" cy="694944"/>
          </a:xfrm>
          <a:prstGeom prst="rect">
            <a:avLst/>
          </a:prstGeom>
          <a:noFill/>
          <a:ln/>
        </p:spPr>
        <p:txBody>
          <a:bodyPr wrap="square" lIns="0" tIns="0" rIns="0" bIns="0" rtlCol="0" anchor="ctr">
            <a:normAutofit/>
          </a:bodyPr>
          <a:lstStyle/>
          <a:p>
            <a:pPr marL="0" indent="0" algn="l">
              <a:buNone/>
            </a:pPr>
            <a:r>
              <a:rPr sz="2900" b="1">
                <a:solidFill>
                  <a:srgbClr val="1A243A"/>
                </a:solidFill>
                <a:latin typeface="Inter"/>
              </a:rPr>
              <a:t>Five concepts — one clear picture</a:t>
            </a:r>
            <a:endParaRPr lang="en-US" sz="2900" dirty="0"/>
          </a:p>
        </p:txBody>
      </p:sp>
      <p:sp>
        <p:nvSpPr>
          <p:cNvPr id="15" name="Text 13"/>
          <p:cNvSpPr/>
          <p:nvPr/>
        </p:nvSpPr>
        <p:spPr>
          <a:xfrm>
            <a:off x="557784" y="1581912"/>
            <a:ext cx="10881360" cy="384048"/>
          </a:xfrm>
          <a:prstGeom prst="rect">
            <a:avLst/>
          </a:prstGeom>
          <a:noFill/>
          <a:ln/>
        </p:spPr>
        <p:txBody>
          <a:bodyPr wrap="square" lIns="0" tIns="0" rIns="0" bIns="0" rtlCol="0" anchor="ctr">
            <a:normAutofit/>
          </a:bodyPr>
          <a:lstStyle/>
          <a:p>
            <a:pPr marL="0" indent="0" algn="l">
              <a:buNone/>
            </a:pPr>
            <a:r>
              <a:rPr sz="1500">
                <a:solidFill>
                  <a:srgbClr val="566673"/>
                </a:solidFill>
                <a:latin typeface="Inter"/>
              </a:rPr>
              <a:t>Each concept solves a different part of the engineering problem.</a:t>
            </a:r>
            <a:endParaRPr lang="en-US" sz="1500" dirty="0"/>
          </a:p>
        </p:txBody>
      </p:sp>
      <p:sp>
        <p:nvSpPr>
          <p:cNvPr id="16" name="Shape 14"/>
          <p:cNvSpPr/>
          <p:nvPr/>
        </p:nvSpPr>
        <p:spPr>
          <a:xfrm>
            <a:off x="502920" y="6519672"/>
            <a:ext cx="11173968" cy="0"/>
          </a:xfrm>
          <a:prstGeom prst="line">
            <a:avLst/>
          </a:prstGeom>
          <a:noFill/>
          <a:ln w="8890">
            <a:solidFill>
              <a:srgbClr val="DDE5E1"/>
            </a:solidFill>
            <a:prstDash val="solid"/>
          </a:ln>
        </p:spPr>
        <p:txBody>
          <a:bodyPr/>
          <a:lstStyle/>
          <a:p>
            <a:endParaRPr/>
          </a:p>
        </p:txBody>
      </p:sp>
      <p:sp>
        <p:nvSpPr>
          <p:cNvPr id="17" name="Text 15"/>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63717D"/>
                </a:solidFill>
                <a:latin typeface="Inter" pitchFamily="34" charset="0"/>
                <a:ea typeface="Inter" pitchFamily="34" charset="-122"/>
                <a:cs typeface="Inter" pitchFamily="34" charset="-120"/>
              </a:rPr>
              <a:t>BEAWORLD  /  AGENTIC ENGINEERING 101</a:t>
            </a:r>
            <a:endParaRPr lang="en-US" sz="800" dirty="0"/>
          </a:p>
        </p:txBody>
      </p:sp>
      <p:sp>
        <p:nvSpPr>
          <p:cNvPr id="18" name="Text 16"/>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63717D"/>
                </a:solidFill>
                <a:latin typeface="Inter" pitchFamily="34" charset="0"/>
                <a:ea typeface="Inter" pitchFamily="34" charset="-122"/>
                <a:cs typeface="Inter" pitchFamily="34" charset="-120"/>
              </a:rPr>
              <a:t>31  /  32</a:t>
            </a:r>
            <a:endParaRPr lang="en-US" sz="900" dirty="0"/>
          </a:p>
        </p:txBody>
      </p:sp>
      <p:sp>
        <p:nvSpPr>
          <p:cNvPr id="19" name="Rounded Rectangle 18"/>
          <p:cNvSpPr/>
          <p:nvPr/>
        </p:nvSpPr>
        <p:spPr>
          <a:xfrm>
            <a:off x="585216" y="2212848"/>
            <a:ext cx="3529584" cy="1399032"/>
          </a:xfrm>
          <a:prstGeom prst="roundRect">
            <a:avLst/>
          </a:prstGeom>
          <a:solidFill>
            <a:srgbClr val="EA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31520" y="2359152"/>
            <a:ext cx="429768" cy="265176"/>
          </a:xfrm>
          <a:prstGeom prst="roundRect">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368296"/>
            <a:ext cx="365760" cy="237744"/>
          </a:xfrm>
          <a:prstGeom prst="rect">
            <a:avLst/>
          </a:prstGeom>
          <a:noFill/>
        </p:spPr>
        <p:txBody>
          <a:bodyPr wrap="square" lIns="0" tIns="0" rIns="0" bIns="0" anchor="ctr">
            <a:spAutoFit/>
          </a:bodyPr>
          <a:lstStyle/>
          <a:p>
            <a:pPr algn="ctr"/>
            <a:r>
              <a:rPr sz="1030" b="1">
                <a:solidFill>
                  <a:srgbClr val="FFFFFF"/>
                </a:solidFill>
                <a:latin typeface="Inter"/>
              </a:rPr>
              <a:t>01</a:t>
            </a:r>
          </a:p>
        </p:txBody>
      </p:sp>
      <p:sp>
        <p:nvSpPr>
          <p:cNvPr id="22" name="TextBox 21"/>
          <p:cNvSpPr txBox="1"/>
          <p:nvPr/>
        </p:nvSpPr>
        <p:spPr>
          <a:xfrm>
            <a:off x="1271016" y="2322576"/>
            <a:ext cx="2697479" cy="365760"/>
          </a:xfrm>
          <a:prstGeom prst="rect">
            <a:avLst/>
          </a:prstGeom>
          <a:noFill/>
        </p:spPr>
        <p:txBody>
          <a:bodyPr wrap="square" lIns="0" tIns="0" rIns="0" bIns="0" anchor="ctr">
            <a:spAutoFit/>
          </a:bodyPr>
          <a:lstStyle/>
          <a:p>
            <a:pPr algn="l"/>
            <a:r>
              <a:rPr sz="1900" b="1">
                <a:solidFill>
                  <a:srgbClr val="1A243A"/>
                </a:solidFill>
                <a:latin typeface="Inter"/>
              </a:rPr>
              <a:t>LLM</a:t>
            </a:r>
          </a:p>
        </p:txBody>
      </p:sp>
      <p:sp>
        <p:nvSpPr>
          <p:cNvPr id="23" name="TextBox 22"/>
          <p:cNvSpPr txBox="1"/>
          <p:nvPr/>
        </p:nvSpPr>
        <p:spPr>
          <a:xfrm>
            <a:off x="758952" y="2788920"/>
            <a:ext cx="3182112" cy="338328"/>
          </a:xfrm>
          <a:prstGeom prst="rect">
            <a:avLst/>
          </a:prstGeom>
          <a:noFill/>
        </p:spPr>
        <p:txBody>
          <a:bodyPr wrap="square" lIns="0" tIns="0" rIns="0" bIns="0" anchor="ctr">
            <a:spAutoFit/>
          </a:bodyPr>
          <a:lstStyle/>
          <a:p>
            <a:pPr algn="l"/>
            <a:r>
              <a:rPr sz="1350" b="0">
                <a:solidFill>
                  <a:srgbClr val="566673"/>
                </a:solidFill>
                <a:latin typeface="Inter"/>
              </a:rPr>
              <a:t>Large Language Model</a:t>
            </a:r>
          </a:p>
        </p:txBody>
      </p:sp>
      <p:sp>
        <p:nvSpPr>
          <p:cNvPr id="24" name="TextBox 23"/>
          <p:cNvSpPr txBox="1"/>
          <p:nvPr/>
        </p:nvSpPr>
        <p:spPr>
          <a:xfrm>
            <a:off x="758952" y="3163824"/>
            <a:ext cx="3182112" cy="338328"/>
          </a:xfrm>
          <a:prstGeom prst="rect">
            <a:avLst/>
          </a:prstGeom>
          <a:noFill/>
        </p:spPr>
        <p:txBody>
          <a:bodyPr wrap="square" lIns="0" tIns="0" rIns="0" bIns="0" anchor="ctr">
            <a:spAutoFit/>
          </a:bodyPr>
          <a:lstStyle/>
          <a:p>
            <a:pPr algn="l"/>
            <a:r>
              <a:rPr sz="1500" b="1">
                <a:solidFill>
                  <a:srgbClr val="1A243A"/>
                </a:solidFill>
                <a:latin typeface="Inter"/>
              </a:rPr>
              <a:t>Explains what might be wrong</a:t>
            </a:r>
          </a:p>
        </p:txBody>
      </p:sp>
      <p:sp>
        <p:nvSpPr>
          <p:cNvPr id="25" name="Rounded Rectangle 24"/>
          <p:cNvSpPr/>
          <p:nvPr/>
        </p:nvSpPr>
        <p:spPr>
          <a:xfrm>
            <a:off x="4325112" y="2212848"/>
            <a:ext cx="3529584" cy="1399032"/>
          </a:xfrm>
          <a:prstGeom prst="roundRect">
            <a:avLst/>
          </a:prstGeom>
          <a:solidFill>
            <a:srgbClr val="D9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471416" y="2359152"/>
            <a:ext cx="429768" cy="265176"/>
          </a:xfrm>
          <a:prstGeom prst="roundRect">
            <a:avLst/>
          </a:prstGeom>
          <a:solidFill>
            <a:srgbClr val="056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07992" y="2368296"/>
            <a:ext cx="365760" cy="237744"/>
          </a:xfrm>
          <a:prstGeom prst="rect">
            <a:avLst/>
          </a:prstGeom>
          <a:noFill/>
        </p:spPr>
        <p:txBody>
          <a:bodyPr wrap="square" lIns="0" tIns="0" rIns="0" bIns="0" anchor="ctr">
            <a:spAutoFit/>
          </a:bodyPr>
          <a:lstStyle/>
          <a:p>
            <a:pPr algn="ctr"/>
            <a:r>
              <a:rPr sz="1030" b="1">
                <a:solidFill>
                  <a:srgbClr val="FFFFFF"/>
                </a:solidFill>
                <a:latin typeface="Inter"/>
              </a:rPr>
              <a:t>02</a:t>
            </a:r>
          </a:p>
        </p:txBody>
      </p:sp>
      <p:sp>
        <p:nvSpPr>
          <p:cNvPr id="28" name="TextBox 27"/>
          <p:cNvSpPr txBox="1"/>
          <p:nvPr/>
        </p:nvSpPr>
        <p:spPr>
          <a:xfrm>
            <a:off x="5010912" y="2322576"/>
            <a:ext cx="2697479" cy="365760"/>
          </a:xfrm>
          <a:prstGeom prst="rect">
            <a:avLst/>
          </a:prstGeom>
          <a:noFill/>
        </p:spPr>
        <p:txBody>
          <a:bodyPr wrap="square" lIns="0" tIns="0" rIns="0" bIns="0" anchor="ctr">
            <a:spAutoFit/>
          </a:bodyPr>
          <a:lstStyle/>
          <a:p>
            <a:pPr algn="l"/>
            <a:r>
              <a:rPr sz="1900" b="1">
                <a:solidFill>
                  <a:srgbClr val="1A243A"/>
                </a:solidFill>
                <a:latin typeface="Inter"/>
              </a:rPr>
              <a:t>Tool</a:t>
            </a:r>
          </a:p>
        </p:txBody>
      </p:sp>
      <p:sp>
        <p:nvSpPr>
          <p:cNvPr id="29" name="TextBox 28"/>
          <p:cNvSpPr txBox="1"/>
          <p:nvPr/>
        </p:nvSpPr>
        <p:spPr>
          <a:xfrm>
            <a:off x="4498848" y="2788920"/>
            <a:ext cx="3182112" cy="338328"/>
          </a:xfrm>
          <a:prstGeom prst="rect">
            <a:avLst/>
          </a:prstGeom>
          <a:noFill/>
        </p:spPr>
        <p:txBody>
          <a:bodyPr wrap="square" lIns="0" tIns="0" rIns="0" bIns="0" anchor="ctr">
            <a:spAutoFit/>
          </a:bodyPr>
          <a:lstStyle/>
          <a:p>
            <a:pPr algn="l"/>
            <a:r>
              <a:rPr sz="1350" b="0">
                <a:solidFill>
                  <a:srgbClr val="566673"/>
                </a:solidFill>
                <a:latin typeface="Inter"/>
              </a:rPr>
              <a:t>A function or API</a:t>
            </a:r>
          </a:p>
        </p:txBody>
      </p:sp>
      <p:sp>
        <p:nvSpPr>
          <p:cNvPr id="30" name="TextBox 29"/>
          <p:cNvSpPr txBox="1"/>
          <p:nvPr/>
        </p:nvSpPr>
        <p:spPr>
          <a:xfrm>
            <a:off x="4498848" y="3163824"/>
            <a:ext cx="3182112" cy="338328"/>
          </a:xfrm>
          <a:prstGeom prst="rect">
            <a:avLst/>
          </a:prstGeom>
          <a:noFill/>
        </p:spPr>
        <p:txBody>
          <a:bodyPr wrap="square" lIns="0" tIns="0" rIns="0" bIns="0" anchor="ctr">
            <a:spAutoFit/>
          </a:bodyPr>
          <a:lstStyle/>
          <a:p>
            <a:pPr algn="l"/>
            <a:r>
              <a:rPr sz="1500" b="1">
                <a:solidFill>
                  <a:srgbClr val="1A243A"/>
                </a:solidFill>
                <a:latin typeface="Inter"/>
              </a:rPr>
              <a:t>Reads sensor data</a:t>
            </a:r>
          </a:p>
        </p:txBody>
      </p:sp>
      <p:sp>
        <p:nvSpPr>
          <p:cNvPr id="31" name="Rounded Rectangle 30"/>
          <p:cNvSpPr/>
          <p:nvPr/>
        </p:nvSpPr>
        <p:spPr>
          <a:xfrm>
            <a:off x="8065008" y="2212848"/>
            <a:ext cx="3529584" cy="1399032"/>
          </a:xfrm>
          <a:prstGeom prst="roundRect">
            <a:avLst/>
          </a:prstGeom>
          <a:solidFill>
            <a:srgbClr val="FF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211312" y="2359152"/>
            <a:ext cx="429768" cy="265176"/>
          </a:xfrm>
          <a:prstGeom prst="roundRect">
            <a:avLst/>
          </a:prstGeom>
          <a:solidFill>
            <a:srgbClr val="EF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47888" y="2368296"/>
            <a:ext cx="365760" cy="237744"/>
          </a:xfrm>
          <a:prstGeom prst="rect">
            <a:avLst/>
          </a:prstGeom>
          <a:noFill/>
        </p:spPr>
        <p:txBody>
          <a:bodyPr wrap="square" lIns="0" tIns="0" rIns="0" bIns="0" anchor="ctr">
            <a:spAutoFit/>
          </a:bodyPr>
          <a:lstStyle/>
          <a:p>
            <a:pPr algn="ctr"/>
            <a:r>
              <a:rPr sz="1030" b="1">
                <a:solidFill>
                  <a:srgbClr val="FFFFFF"/>
                </a:solidFill>
                <a:latin typeface="Inter"/>
              </a:rPr>
              <a:t>03</a:t>
            </a:r>
          </a:p>
        </p:txBody>
      </p:sp>
      <p:sp>
        <p:nvSpPr>
          <p:cNvPr id="34" name="TextBox 33"/>
          <p:cNvSpPr txBox="1"/>
          <p:nvPr/>
        </p:nvSpPr>
        <p:spPr>
          <a:xfrm>
            <a:off x="8750808" y="2322576"/>
            <a:ext cx="2697479" cy="365760"/>
          </a:xfrm>
          <a:prstGeom prst="rect">
            <a:avLst/>
          </a:prstGeom>
          <a:noFill/>
        </p:spPr>
        <p:txBody>
          <a:bodyPr wrap="square" lIns="0" tIns="0" rIns="0" bIns="0" anchor="ctr">
            <a:spAutoFit/>
          </a:bodyPr>
          <a:lstStyle/>
          <a:p>
            <a:pPr algn="l"/>
            <a:r>
              <a:rPr sz="1900" b="1">
                <a:solidFill>
                  <a:srgbClr val="1A243A"/>
                </a:solidFill>
                <a:latin typeface="Inter"/>
              </a:rPr>
              <a:t>RAG</a:t>
            </a:r>
          </a:p>
        </p:txBody>
      </p:sp>
      <p:sp>
        <p:nvSpPr>
          <p:cNvPr id="35" name="TextBox 34"/>
          <p:cNvSpPr txBox="1"/>
          <p:nvPr/>
        </p:nvSpPr>
        <p:spPr>
          <a:xfrm>
            <a:off x="8238744" y="2788920"/>
            <a:ext cx="3182112" cy="338328"/>
          </a:xfrm>
          <a:prstGeom prst="rect">
            <a:avLst/>
          </a:prstGeom>
          <a:noFill/>
        </p:spPr>
        <p:txBody>
          <a:bodyPr wrap="square" lIns="0" tIns="0" rIns="0" bIns="0" anchor="ctr">
            <a:spAutoFit/>
          </a:bodyPr>
          <a:lstStyle/>
          <a:p>
            <a:pPr algn="l"/>
            <a:r>
              <a:rPr sz="1350" b="0">
                <a:solidFill>
                  <a:srgbClr val="566673"/>
                </a:solidFill>
                <a:latin typeface="Inter"/>
              </a:rPr>
              <a:t>Retrieval-Augmented Generation</a:t>
            </a:r>
          </a:p>
        </p:txBody>
      </p:sp>
      <p:sp>
        <p:nvSpPr>
          <p:cNvPr id="36" name="TextBox 35"/>
          <p:cNvSpPr txBox="1"/>
          <p:nvPr/>
        </p:nvSpPr>
        <p:spPr>
          <a:xfrm>
            <a:off x="8238744" y="3163824"/>
            <a:ext cx="3182112" cy="338328"/>
          </a:xfrm>
          <a:prstGeom prst="rect">
            <a:avLst/>
          </a:prstGeom>
          <a:noFill/>
        </p:spPr>
        <p:txBody>
          <a:bodyPr wrap="square" lIns="0" tIns="0" rIns="0" bIns="0" anchor="ctr">
            <a:spAutoFit/>
          </a:bodyPr>
          <a:lstStyle/>
          <a:p>
            <a:pPr algn="l"/>
            <a:r>
              <a:rPr sz="1500" b="1">
                <a:solidFill>
                  <a:srgbClr val="1A243A"/>
                </a:solidFill>
                <a:latin typeface="Inter"/>
              </a:rPr>
              <a:t>Finds guidance in a manual</a:t>
            </a:r>
          </a:p>
        </p:txBody>
      </p:sp>
      <p:sp>
        <p:nvSpPr>
          <p:cNvPr id="37" name="Rounded Rectangle 36"/>
          <p:cNvSpPr/>
          <p:nvPr/>
        </p:nvSpPr>
        <p:spPr>
          <a:xfrm>
            <a:off x="585216" y="3831336"/>
            <a:ext cx="5376672" cy="1399032"/>
          </a:xfrm>
          <a:prstGeom prst="roundRect">
            <a:avLst/>
          </a:prstGeom>
          <a:solidFill>
            <a:srgbClr val="F8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731520" y="3977640"/>
            <a:ext cx="429768" cy="265176"/>
          </a:xfrm>
          <a:prstGeom prst="roundRect">
            <a:avLst/>
          </a:prstGeom>
          <a:solidFill>
            <a:srgbClr val="056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8096" y="3986784"/>
            <a:ext cx="365760" cy="237744"/>
          </a:xfrm>
          <a:prstGeom prst="rect">
            <a:avLst/>
          </a:prstGeom>
          <a:noFill/>
        </p:spPr>
        <p:txBody>
          <a:bodyPr wrap="square" lIns="0" tIns="0" rIns="0" bIns="0" anchor="ctr">
            <a:spAutoFit/>
          </a:bodyPr>
          <a:lstStyle/>
          <a:p>
            <a:pPr algn="ctr"/>
            <a:r>
              <a:rPr sz="1030" b="1">
                <a:solidFill>
                  <a:srgbClr val="FFFFFF"/>
                </a:solidFill>
                <a:latin typeface="Inter"/>
              </a:rPr>
              <a:t>04</a:t>
            </a:r>
          </a:p>
        </p:txBody>
      </p:sp>
      <p:sp>
        <p:nvSpPr>
          <p:cNvPr id="40" name="TextBox 39"/>
          <p:cNvSpPr txBox="1"/>
          <p:nvPr/>
        </p:nvSpPr>
        <p:spPr>
          <a:xfrm>
            <a:off x="1271016" y="3941064"/>
            <a:ext cx="4544568" cy="365760"/>
          </a:xfrm>
          <a:prstGeom prst="rect">
            <a:avLst/>
          </a:prstGeom>
          <a:noFill/>
        </p:spPr>
        <p:txBody>
          <a:bodyPr wrap="square" lIns="0" tIns="0" rIns="0" bIns="0" anchor="ctr">
            <a:spAutoFit/>
          </a:bodyPr>
          <a:lstStyle/>
          <a:p>
            <a:pPr algn="l"/>
            <a:r>
              <a:rPr sz="1900" b="1">
                <a:solidFill>
                  <a:srgbClr val="1A243A"/>
                </a:solidFill>
                <a:latin typeface="Inter"/>
              </a:rPr>
              <a:t>AI Agent</a:t>
            </a:r>
          </a:p>
        </p:txBody>
      </p:sp>
      <p:sp>
        <p:nvSpPr>
          <p:cNvPr id="41" name="TextBox 40"/>
          <p:cNvSpPr txBox="1"/>
          <p:nvPr/>
        </p:nvSpPr>
        <p:spPr>
          <a:xfrm>
            <a:off x="758952" y="4407408"/>
            <a:ext cx="5029200" cy="338328"/>
          </a:xfrm>
          <a:prstGeom prst="rect">
            <a:avLst/>
          </a:prstGeom>
          <a:noFill/>
        </p:spPr>
        <p:txBody>
          <a:bodyPr wrap="square" lIns="0" tIns="0" rIns="0" bIns="0" anchor="ctr">
            <a:spAutoFit/>
          </a:bodyPr>
          <a:lstStyle/>
          <a:p>
            <a:pPr algn="l"/>
            <a:r>
              <a:rPr sz="1350" b="0">
                <a:solidFill>
                  <a:srgbClr val="566673"/>
                </a:solidFill>
                <a:latin typeface="Inter"/>
              </a:rPr>
              <a:t>Model + tools + decision loop</a:t>
            </a:r>
          </a:p>
        </p:txBody>
      </p:sp>
      <p:sp>
        <p:nvSpPr>
          <p:cNvPr id="42" name="TextBox 41"/>
          <p:cNvSpPr txBox="1"/>
          <p:nvPr/>
        </p:nvSpPr>
        <p:spPr>
          <a:xfrm>
            <a:off x="758952" y="4782312"/>
            <a:ext cx="5029200" cy="338328"/>
          </a:xfrm>
          <a:prstGeom prst="rect">
            <a:avLst/>
          </a:prstGeom>
          <a:noFill/>
        </p:spPr>
        <p:txBody>
          <a:bodyPr wrap="square" lIns="0" tIns="0" rIns="0" bIns="0" anchor="ctr">
            <a:spAutoFit/>
          </a:bodyPr>
          <a:lstStyle/>
          <a:p>
            <a:pPr algn="l"/>
            <a:r>
              <a:rPr sz="1500" b="1">
                <a:solidFill>
                  <a:srgbClr val="1A243A"/>
                </a:solidFill>
                <a:latin typeface="Inter"/>
              </a:rPr>
              <a:t>Chooses which information to check</a:t>
            </a:r>
          </a:p>
        </p:txBody>
      </p:sp>
      <p:sp>
        <p:nvSpPr>
          <p:cNvPr id="43" name="Rounded Rectangle 42"/>
          <p:cNvSpPr/>
          <p:nvPr/>
        </p:nvSpPr>
        <p:spPr>
          <a:xfrm>
            <a:off x="6181344" y="3831336"/>
            <a:ext cx="5413248" cy="1399032"/>
          </a:xfrm>
          <a:prstGeom prst="roundRect">
            <a:avLst/>
          </a:prstGeom>
          <a:solidFill>
            <a:srgbClr val="1A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327648" y="3977640"/>
            <a:ext cx="429768" cy="2651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64224" y="3986784"/>
            <a:ext cx="365760" cy="237744"/>
          </a:xfrm>
          <a:prstGeom prst="rect">
            <a:avLst/>
          </a:prstGeom>
          <a:noFill/>
        </p:spPr>
        <p:txBody>
          <a:bodyPr wrap="square" lIns="0" tIns="0" rIns="0" bIns="0" anchor="ctr">
            <a:spAutoFit/>
          </a:bodyPr>
          <a:lstStyle/>
          <a:p>
            <a:pPr algn="ctr"/>
            <a:r>
              <a:rPr sz="1030" b="1">
                <a:solidFill>
                  <a:srgbClr val="1A243A"/>
                </a:solidFill>
                <a:latin typeface="Inter"/>
              </a:rPr>
              <a:t>05</a:t>
            </a:r>
          </a:p>
        </p:txBody>
      </p:sp>
      <p:sp>
        <p:nvSpPr>
          <p:cNvPr id="46" name="TextBox 45"/>
          <p:cNvSpPr txBox="1"/>
          <p:nvPr/>
        </p:nvSpPr>
        <p:spPr>
          <a:xfrm>
            <a:off x="6867144" y="3941064"/>
            <a:ext cx="4581144" cy="365760"/>
          </a:xfrm>
          <a:prstGeom prst="rect">
            <a:avLst/>
          </a:prstGeom>
          <a:noFill/>
        </p:spPr>
        <p:txBody>
          <a:bodyPr wrap="square" lIns="0" tIns="0" rIns="0" bIns="0" anchor="ctr">
            <a:spAutoFit/>
          </a:bodyPr>
          <a:lstStyle/>
          <a:p>
            <a:pPr algn="l"/>
            <a:r>
              <a:rPr sz="1710" b="1">
                <a:solidFill>
                  <a:srgbClr val="FFFFFF"/>
                </a:solidFill>
                <a:latin typeface="Inter"/>
              </a:rPr>
              <a:t>Agentic AI Application</a:t>
            </a:r>
          </a:p>
        </p:txBody>
      </p:sp>
      <p:sp>
        <p:nvSpPr>
          <p:cNvPr id="47" name="TextBox 46"/>
          <p:cNvSpPr txBox="1"/>
          <p:nvPr/>
        </p:nvSpPr>
        <p:spPr>
          <a:xfrm>
            <a:off x="6355080" y="4407408"/>
            <a:ext cx="5065776" cy="338328"/>
          </a:xfrm>
          <a:prstGeom prst="rect">
            <a:avLst/>
          </a:prstGeom>
          <a:noFill/>
        </p:spPr>
        <p:txBody>
          <a:bodyPr wrap="square" lIns="0" tIns="0" rIns="0" bIns="0" anchor="ctr">
            <a:spAutoFit/>
          </a:bodyPr>
          <a:lstStyle/>
          <a:p>
            <a:pPr algn="l"/>
            <a:r>
              <a:rPr sz="1350" b="0">
                <a:solidFill>
                  <a:srgbClr val="D5DFEA"/>
                </a:solidFill>
                <a:latin typeface="Inter"/>
              </a:rPr>
              <a:t>Agent + state + rules + approvals</a:t>
            </a:r>
          </a:p>
        </p:txBody>
      </p:sp>
      <p:sp>
        <p:nvSpPr>
          <p:cNvPr id="48" name="TextBox 47"/>
          <p:cNvSpPr txBox="1"/>
          <p:nvPr/>
        </p:nvSpPr>
        <p:spPr>
          <a:xfrm>
            <a:off x="6355080" y="4782312"/>
            <a:ext cx="5065776" cy="338328"/>
          </a:xfrm>
          <a:prstGeom prst="rect">
            <a:avLst/>
          </a:prstGeom>
          <a:noFill/>
        </p:spPr>
        <p:txBody>
          <a:bodyPr wrap="square" lIns="0" tIns="0" rIns="0" bIns="0" anchor="ctr">
            <a:spAutoFit/>
          </a:bodyPr>
          <a:lstStyle/>
          <a:p>
            <a:pPr algn="l"/>
            <a:r>
              <a:rPr sz="1500" b="1">
                <a:solidFill>
                  <a:srgbClr val="FFFFFF"/>
                </a:solidFill>
                <a:latin typeface="Inter"/>
              </a:rPr>
              <a:t>Coordinates and governs the full task</a:t>
            </a:r>
          </a:p>
        </p:txBody>
      </p:sp>
      <p:sp>
        <p:nvSpPr>
          <p:cNvPr id="49" name="TextBox 48"/>
          <p:cNvSpPr txBox="1"/>
          <p:nvPr/>
        </p:nvSpPr>
        <p:spPr>
          <a:xfrm>
            <a:off x="914400" y="5559552"/>
            <a:ext cx="10369296" cy="411480"/>
          </a:xfrm>
          <a:prstGeom prst="rect">
            <a:avLst/>
          </a:prstGeom>
          <a:noFill/>
        </p:spPr>
        <p:txBody>
          <a:bodyPr wrap="square" lIns="0" tIns="0" rIns="0" bIns="0" anchor="ctr">
            <a:spAutoFit/>
          </a:bodyPr>
          <a:lstStyle/>
          <a:p>
            <a:pPr algn="ctr"/>
            <a:r>
              <a:rPr sz="1700" b="1">
                <a:solidFill>
                  <a:srgbClr val="1A243A"/>
                </a:solidFill>
                <a:latin typeface="Inter"/>
              </a:rPr>
              <a:t>REMEMBER: The LLM is not the whole system. The application supplies access, control and accountability.</a:t>
            </a: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1A243A"/>
        </a:solidFill>
        <a:effectLst/>
      </p:bgPr>
    </p:bg>
    <p:spTree>
      <p:nvGrpSpPr>
        <p:cNvPr id="1" name=""/>
        <p:cNvGrpSpPr/>
        <p:nvPr/>
      </p:nvGrpSpPr>
      <p:grpSpPr>
        <a:xfrm>
          <a:off x="0" y="0"/>
          <a:ext cx="0" cy="0"/>
          <a:chOff x="0" y="0"/>
          <a:chExt cx="0" cy="0"/>
        </a:xfrm>
      </p:grpSpPr>
      <p:sp>
        <p:nvSpPr>
          <p:cNvPr id="2" name="Shape 0"/>
          <p:cNvSpPr/>
          <p:nvPr/>
        </p:nvSpPr>
        <p:spPr>
          <a:xfrm>
            <a:off x="10652760" y="256032"/>
            <a:ext cx="1097280" cy="0"/>
          </a:xfrm>
          <a:prstGeom prst="line">
            <a:avLst/>
          </a:prstGeom>
          <a:noFill/>
          <a:ln w="12700">
            <a:solidFill>
              <a:srgbClr val="526177"/>
            </a:solidFill>
            <a:prstDash val="solid"/>
          </a:ln>
        </p:spPr>
        <p:txBody>
          <a:bodyPr/>
          <a:lstStyle/>
          <a:p>
            <a:endParaRPr/>
          </a:p>
        </p:txBody>
      </p:sp>
      <p:sp>
        <p:nvSpPr>
          <p:cNvPr id="3" name="Shape 1"/>
          <p:cNvSpPr/>
          <p:nvPr/>
        </p:nvSpPr>
        <p:spPr>
          <a:xfrm>
            <a:off x="10908792" y="256032"/>
            <a:ext cx="0" cy="256032"/>
          </a:xfrm>
          <a:prstGeom prst="line">
            <a:avLst/>
          </a:prstGeom>
          <a:noFill/>
          <a:ln w="12700">
            <a:solidFill>
              <a:srgbClr val="526177"/>
            </a:solidFill>
            <a:prstDash val="solid"/>
          </a:ln>
        </p:spPr>
        <p:txBody>
          <a:bodyPr/>
          <a:lstStyle/>
          <a:p>
            <a:endParaRPr/>
          </a:p>
        </p:txBody>
      </p:sp>
      <p:sp>
        <p:nvSpPr>
          <p:cNvPr id="4" name="Shape 2"/>
          <p:cNvSpPr/>
          <p:nvPr/>
        </p:nvSpPr>
        <p:spPr>
          <a:xfrm>
            <a:off x="11548872" y="256032"/>
            <a:ext cx="0" cy="384048"/>
          </a:xfrm>
          <a:prstGeom prst="line">
            <a:avLst/>
          </a:prstGeom>
          <a:noFill/>
          <a:ln w="12700">
            <a:solidFill>
              <a:srgbClr val="526177"/>
            </a:solidFill>
            <a:prstDash val="solid"/>
          </a:ln>
        </p:spPr>
        <p:txBody>
          <a:bodyPr/>
          <a:lstStyle/>
          <a:p>
            <a:endParaRPr/>
          </a:p>
        </p:txBody>
      </p:sp>
      <p:sp>
        <p:nvSpPr>
          <p:cNvPr id="5" name="Shape 3"/>
          <p:cNvSpPr/>
          <p:nvPr/>
        </p:nvSpPr>
        <p:spPr>
          <a:xfrm>
            <a:off x="201168" y="5614416"/>
            <a:ext cx="786384" cy="0"/>
          </a:xfrm>
          <a:prstGeom prst="line">
            <a:avLst/>
          </a:prstGeom>
          <a:noFill/>
          <a:ln w="12700">
            <a:solidFill>
              <a:srgbClr val="526177"/>
            </a:solidFill>
            <a:prstDash val="solid"/>
          </a:ln>
        </p:spPr>
        <p:txBody>
          <a:bodyPr/>
          <a:lstStyle/>
          <a:p>
            <a:endParaRPr/>
          </a:p>
        </p:txBody>
      </p:sp>
      <p:sp>
        <p:nvSpPr>
          <p:cNvPr id="6" name="Shape 4"/>
          <p:cNvSpPr/>
          <p:nvPr/>
        </p:nvSpPr>
        <p:spPr>
          <a:xfrm>
            <a:off x="566928" y="5614416"/>
            <a:ext cx="0" cy="301752"/>
          </a:xfrm>
          <a:prstGeom prst="line">
            <a:avLst/>
          </a:prstGeom>
          <a:noFill/>
          <a:ln w="12700">
            <a:solidFill>
              <a:srgbClr val="526177"/>
            </a:solidFill>
            <a:prstDash val="solid"/>
          </a:ln>
        </p:spPr>
        <p:txBody>
          <a:bodyPr/>
          <a:lstStyle/>
          <a:p>
            <a:endParaRPr/>
          </a:p>
        </p:txBody>
      </p:sp>
      <p:sp>
        <p:nvSpPr>
          <p:cNvPr id="7" name="Shape 5"/>
          <p:cNvSpPr/>
          <p:nvPr/>
        </p:nvSpPr>
        <p:spPr>
          <a:xfrm>
            <a:off x="320040" y="5157216"/>
            <a:ext cx="530352" cy="0"/>
          </a:xfrm>
          <a:prstGeom prst="line">
            <a:avLst/>
          </a:prstGeom>
          <a:noFill/>
          <a:ln w="12700">
            <a:solidFill>
              <a:srgbClr val="526177"/>
            </a:solidFill>
            <a:prstDash val="solid"/>
          </a:ln>
        </p:spPr>
        <p:txBody>
          <a:bodyPr/>
          <a:lstStyle/>
          <a:p>
            <a:endParaRPr/>
          </a:p>
        </p:txBody>
      </p:sp>
      <p:sp>
        <p:nvSpPr>
          <p:cNvPr id="8" name="Shape 6"/>
          <p:cNvSpPr/>
          <p:nvPr/>
        </p:nvSpPr>
        <p:spPr>
          <a:xfrm>
            <a:off x="10872216" y="475488"/>
            <a:ext cx="73152" cy="73152"/>
          </a:xfrm>
          <a:prstGeom prst="ellipse">
            <a:avLst/>
          </a:prstGeom>
          <a:solidFill>
            <a:srgbClr val="526177"/>
          </a:solidFill>
          <a:ln w="12700">
            <a:solidFill>
              <a:srgbClr val="526177"/>
            </a:solidFill>
            <a:prstDash val="solid"/>
          </a:ln>
        </p:spPr>
        <p:txBody>
          <a:bodyPr/>
          <a:lstStyle/>
          <a:p>
            <a:endParaRPr/>
          </a:p>
        </p:txBody>
      </p:sp>
      <p:sp>
        <p:nvSpPr>
          <p:cNvPr id="9" name="Shape 7"/>
          <p:cNvSpPr/>
          <p:nvPr/>
        </p:nvSpPr>
        <p:spPr>
          <a:xfrm>
            <a:off x="11512296" y="603504"/>
            <a:ext cx="73152" cy="73152"/>
          </a:xfrm>
          <a:prstGeom prst="ellipse">
            <a:avLst/>
          </a:prstGeom>
          <a:solidFill>
            <a:srgbClr val="526177"/>
          </a:solidFill>
          <a:ln w="12700">
            <a:solidFill>
              <a:srgbClr val="526177"/>
            </a:solidFill>
            <a:prstDash val="solid"/>
          </a:ln>
        </p:spPr>
        <p:txBody>
          <a:bodyPr/>
          <a:lstStyle/>
          <a:p>
            <a:endParaRPr/>
          </a:p>
        </p:txBody>
      </p:sp>
      <p:sp>
        <p:nvSpPr>
          <p:cNvPr id="10" name="Shape 8"/>
          <p:cNvSpPr/>
          <p:nvPr/>
        </p:nvSpPr>
        <p:spPr>
          <a:xfrm>
            <a:off x="530352" y="5879592"/>
            <a:ext cx="73152" cy="73152"/>
          </a:xfrm>
          <a:prstGeom prst="ellipse">
            <a:avLst/>
          </a:prstGeom>
          <a:solidFill>
            <a:srgbClr val="526177"/>
          </a:solidFill>
          <a:ln w="12700">
            <a:solidFill>
              <a:srgbClr val="526177"/>
            </a:solidFill>
            <a:prstDash val="solid"/>
          </a:ln>
        </p:spPr>
        <p:txBody>
          <a:bodyPr/>
          <a:lstStyle/>
          <a:p>
            <a:endParaRPr/>
          </a:p>
        </p:txBody>
      </p:sp>
      <p:sp>
        <p:nvSpPr>
          <p:cNvPr id="11" name="Shape 9"/>
          <p:cNvSpPr/>
          <p:nvPr/>
        </p:nvSpPr>
        <p:spPr>
          <a:xfrm>
            <a:off x="813816" y="5120640"/>
            <a:ext cx="73152" cy="73152"/>
          </a:xfrm>
          <a:prstGeom prst="ellipse">
            <a:avLst/>
          </a:prstGeom>
          <a:solidFill>
            <a:srgbClr val="526177"/>
          </a:solidFill>
          <a:ln w="12700">
            <a:solidFill>
              <a:srgbClr val="526177"/>
            </a:solidFill>
            <a:prstDash val="solid"/>
          </a:ln>
        </p:spPr>
        <p:txBody>
          <a:bodyPr/>
          <a:lstStyle/>
          <a:p>
            <a:endParaRPr/>
          </a:p>
        </p:txBody>
      </p:sp>
      <p:sp>
        <p:nvSpPr>
          <p:cNvPr id="12" name="Shape 10"/>
          <p:cNvSpPr/>
          <p:nvPr/>
        </p:nvSpPr>
        <p:spPr>
          <a:xfrm>
            <a:off x="0" y="0"/>
            <a:ext cx="12192000" cy="118872"/>
          </a:xfrm>
          <a:prstGeom prst="roundRect">
            <a:avLst>
              <a:gd name="adj" fmla="val 115385"/>
            </a:avLst>
          </a:prstGeom>
          <a:solidFill>
            <a:srgbClr val="2B6450"/>
          </a:solidFill>
          <a:ln w="12700">
            <a:solidFill>
              <a:srgbClr val="2B6450"/>
            </a:solidFill>
            <a:prstDash val="solid"/>
          </a:ln>
        </p:spPr>
        <p:txBody>
          <a:bodyPr/>
          <a:lstStyle/>
          <a:p>
            <a:endParaRPr/>
          </a:p>
        </p:txBody>
      </p:sp>
      <p:sp>
        <p:nvSpPr>
          <p:cNvPr id="13" name="Shape 11"/>
          <p:cNvSpPr/>
          <p:nvPr/>
        </p:nvSpPr>
        <p:spPr>
          <a:xfrm>
            <a:off x="0" y="118872"/>
            <a:ext cx="12192000" cy="82296"/>
          </a:xfrm>
          <a:prstGeom prst="roundRect">
            <a:avLst>
              <a:gd name="adj" fmla="val 166667"/>
            </a:avLst>
          </a:prstGeom>
          <a:solidFill>
            <a:srgbClr val="E04149"/>
          </a:solidFill>
          <a:ln w="12700">
            <a:solidFill>
              <a:srgbClr val="E04149"/>
            </a:solidFill>
            <a:prstDash val="solid"/>
          </a:ln>
        </p:spPr>
        <p:txBody>
          <a:bodyPr/>
          <a:lstStyle/>
          <a:p>
            <a:endParaRPr/>
          </a:p>
        </p:txBody>
      </p:sp>
      <p:sp>
        <p:nvSpPr>
          <p:cNvPr id="14" name="Text 12"/>
          <p:cNvSpPr/>
          <p:nvPr/>
        </p:nvSpPr>
        <p:spPr>
          <a:xfrm>
            <a:off x="768096" y="1005840"/>
            <a:ext cx="7315200" cy="886968"/>
          </a:xfrm>
          <a:prstGeom prst="rect">
            <a:avLst/>
          </a:prstGeom>
          <a:noFill/>
          <a:ln/>
        </p:spPr>
        <p:txBody>
          <a:bodyPr wrap="square" lIns="0" tIns="0" rIns="0" bIns="0" rtlCol="0" anchor="ctr">
            <a:normAutofit/>
          </a:bodyPr>
          <a:lstStyle/>
          <a:p>
            <a:pPr marL="0" indent="0" algn="l">
              <a:buNone/>
            </a:pPr>
            <a:r>
              <a:rPr lang="en-US" sz="5100" b="1" dirty="0">
                <a:solidFill>
                  <a:srgbClr val="FFFFFF"/>
                </a:solidFill>
                <a:latin typeface="Inter" pitchFamily="34" charset="0"/>
                <a:ea typeface="Inter" pitchFamily="34" charset="-122"/>
                <a:cs typeface="Inter" pitchFamily="34" charset="-120"/>
              </a:rPr>
              <a:t>THANK YOU</a:t>
            </a:r>
            <a:endParaRPr lang="en-US" sz="5100" dirty="0"/>
          </a:p>
        </p:txBody>
      </p:sp>
      <p:sp>
        <p:nvSpPr>
          <p:cNvPr id="15" name="Text 13"/>
          <p:cNvSpPr/>
          <p:nvPr/>
        </p:nvSpPr>
        <p:spPr>
          <a:xfrm>
            <a:off x="813816" y="2039112"/>
            <a:ext cx="9966960" cy="576072"/>
          </a:xfrm>
          <a:prstGeom prst="rect">
            <a:avLst/>
          </a:prstGeom>
          <a:noFill/>
          <a:ln/>
        </p:spPr>
        <p:txBody>
          <a:bodyPr wrap="square" lIns="0" tIns="0" rIns="0" bIns="0" rtlCol="0" anchor="ctr">
            <a:normAutofit/>
          </a:bodyPr>
          <a:lstStyle/>
          <a:p>
            <a:pPr marL="0" indent="0" algn="l">
              <a:buNone/>
            </a:pPr>
            <a:r>
              <a:rPr lang="en-US" sz="2300" dirty="0">
                <a:solidFill>
                  <a:srgbClr val="D7E9E7"/>
                </a:solidFill>
                <a:latin typeface="Inter" pitchFamily="34" charset="0"/>
                <a:ea typeface="Inter" pitchFamily="34" charset="-122"/>
                <a:cs typeface="Inter" pitchFamily="34" charset="-120"/>
              </a:rPr>
              <a:t>Let’s build useful AI systems — responsibly.</a:t>
            </a:r>
            <a:endParaRPr lang="en-US" sz="2300" dirty="0"/>
          </a:p>
        </p:txBody>
      </p:sp>
      <p:pic>
        <p:nvPicPr>
          <p:cNvPr id="16" name="Image 0" descr="BEA_MASCOT_chip"/>
          <p:cNvPicPr>
            <a:picLocks noChangeAspect="1"/>
          </p:cNvPicPr>
          <p:nvPr/>
        </p:nvPicPr>
        <p:blipFill>
          <a:blip r:embed="rId3"/>
          <a:stretch>
            <a:fillRect/>
          </a:stretch>
        </p:blipFill>
        <p:spPr>
          <a:xfrm>
            <a:off x="4142232" y="2971800"/>
            <a:ext cx="1632204" cy="1854777"/>
          </a:xfrm>
          <a:prstGeom prst="rect">
            <a:avLst/>
          </a:prstGeom>
        </p:spPr>
      </p:pic>
      <p:pic>
        <p:nvPicPr>
          <p:cNvPr id="17" name="Image 1" descr="BEA_MASCOT_gear"/>
          <p:cNvPicPr>
            <a:picLocks noChangeAspect="1"/>
          </p:cNvPicPr>
          <p:nvPr/>
        </p:nvPicPr>
        <p:blipFill>
          <a:blip r:embed="rId4"/>
          <a:stretch>
            <a:fillRect/>
          </a:stretch>
        </p:blipFill>
        <p:spPr>
          <a:xfrm>
            <a:off x="5556809" y="3145902"/>
            <a:ext cx="1686611" cy="1916603"/>
          </a:xfrm>
          <a:prstGeom prst="rect">
            <a:avLst/>
          </a:prstGeom>
        </p:spPr>
      </p:pic>
      <p:pic>
        <p:nvPicPr>
          <p:cNvPr id="18" name="Image 2" descr="BEA_MASCOT_guard"/>
          <p:cNvPicPr>
            <a:picLocks noChangeAspect="1"/>
          </p:cNvPicPr>
          <p:nvPr/>
        </p:nvPicPr>
        <p:blipFill>
          <a:blip r:embed="rId5"/>
          <a:stretch>
            <a:fillRect/>
          </a:stretch>
        </p:blipFill>
        <p:spPr>
          <a:xfrm>
            <a:off x="7004030" y="3026207"/>
            <a:ext cx="1686611" cy="1916603"/>
          </a:xfrm>
          <a:prstGeom prst="rect">
            <a:avLst/>
          </a:prstGeom>
        </p:spPr>
      </p:pic>
      <p:sp>
        <p:nvSpPr>
          <p:cNvPr id="19" name="Text 14"/>
          <p:cNvSpPr/>
          <p:nvPr/>
        </p:nvSpPr>
        <p:spPr>
          <a:xfrm>
            <a:off x="1691640" y="5650992"/>
            <a:ext cx="8823960" cy="338328"/>
          </a:xfrm>
          <a:prstGeom prst="rect">
            <a:avLst/>
          </a:prstGeom>
          <a:noFill/>
          <a:ln/>
        </p:spPr>
        <p:txBody>
          <a:bodyPr wrap="square" lIns="0" tIns="0" rIns="0" bIns="0" rtlCol="0" anchor="ctr">
            <a:normAutofit/>
          </a:bodyPr>
          <a:lstStyle/>
          <a:p>
            <a:pPr marL="0" indent="0" algn="ctr">
              <a:buNone/>
            </a:pPr>
            <a:r>
              <a:rPr lang="en-US" sz="1500" dirty="0">
                <a:solidFill>
                  <a:srgbClr val="D8E6E8"/>
                </a:solidFill>
                <a:latin typeface="Inter" pitchFamily="34" charset="0"/>
                <a:ea typeface="Inter" pitchFamily="34" charset="-122"/>
                <a:cs typeface="Inter" pitchFamily="34" charset="-120"/>
              </a:rPr>
              <a:t>BEAWorld  ·  Bangladeshi Engineers &amp; Architects Worldwide</a:t>
            </a:r>
            <a:endParaRPr lang="en-US" sz="1500" dirty="0"/>
          </a:p>
        </p:txBody>
      </p:sp>
      <p:sp>
        <p:nvSpPr>
          <p:cNvPr id="20" name="Shape 15"/>
          <p:cNvSpPr/>
          <p:nvPr/>
        </p:nvSpPr>
        <p:spPr>
          <a:xfrm>
            <a:off x="502920" y="6519672"/>
            <a:ext cx="11173968" cy="0"/>
          </a:xfrm>
          <a:prstGeom prst="line">
            <a:avLst/>
          </a:prstGeom>
          <a:noFill/>
          <a:ln w="8890">
            <a:solidFill>
              <a:srgbClr val="48556A"/>
            </a:solidFill>
            <a:prstDash val="solid"/>
          </a:ln>
        </p:spPr>
        <p:txBody>
          <a:bodyPr/>
          <a:lstStyle/>
          <a:p>
            <a:endParaRPr/>
          </a:p>
        </p:txBody>
      </p:sp>
      <p:sp>
        <p:nvSpPr>
          <p:cNvPr id="21" name="Text 16"/>
          <p:cNvSpPr/>
          <p:nvPr/>
        </p:nvSpPr>
        <p:spPr>
          <a:xfrm>
            <a:off x="548640" y="6565392"/>
            <a:ext cx="4572000" cy="146304"/>
          </a:xfrm>
          <a:prstGeom prst="rect">
            <a:avLst/>
          </a:prstGeom>
          <a:noFill/>
          <a:ln/>
        </p:spPr>
        <p:txBody>
          <a:bodyPr wrap="square" lIns="0" tIns="0" rIns="0" bIns="0" rtlCol="0" anchor="ctr">
            <a:normAutofit/>
          </a:bodyPr>
          <a:lstStyle/>
          <a:p>
            <a:pPr marL="0" indent="0" algn="l">
              <a:buNone/>
            </a:pPr>
            <a:r>
              <a:rPr lang="en-US" sz="800" b="1" kern="0" spc="125" dirty="0">
                <a:solidFill>
                  <a:srgbClr val="D2E3DF"/>
                </a:solidFill>
                <a:latin typeface="Inter" pitchFamily="34" charset="0"/>
                <a:ea typeface="Inter" pitchFamily="34" charset="-122"/>
                <a:cs typeface="Inter" pitchFamily="34" charset="-120"/>
              </a:rPr>
              <a:t>BEAWORLD  /  AGENTIC ENGINEERING 101</a:t>
            </a:r>
            <a:endParaRPr lang="en-US" sz="800" dirty="0"/>
          </a:p>
        </p:txBody>
      </p:sp>
      <p:sp>
        <p:nvSpPr>
          <p:cNvPr id="22" name="Text 17"/>
          <p:cNvSpPr/>
          <p:nvPr/>
        </p:nvSpPr>
        <p:spPr>
          <a:xfrm>
            <a:off x="11000232" y="6556248"/>
            <a:ext cx="640080" cy="173736"/>
          </a:xfrm>
          <a:prstGeom prst="rect">
            <a:avLst/>
          </a:prstGeom>
          <a:noFill/>
          <a:ln/>
        </p:spPr>
        <p:txBody>
          <a:bodyPr wrap="square" lIns="0" tIns="0" rIns="0" bIns="0" rtlCol="0" anchor="ctr">
            <a:normAutofit/>
          </a:bodyPr>
          <a:lstStyle/>
          <a:p>
            <a:pPr marL="0" indent="0" algn="r">
              <a:buNone/>
            </a:pPr>
            <a:r>
              <a:rPr lang="en-US" sz="900" b="1" dirty="0">
                <a:solidFill>
                  <a:srgbClr val="D2E3DF"/>
                </a:solidFill>
                <a:latin typeface="Inter" pitchFamily="34" charset="0"/>
                <a:ea typeface="Inter" pitchFamily="34" charset="-122"/>
                <a:cs typeface="Inter" pitchFamily="34" charset="-120"/>
              </a:rPr>
              <a:t>32  /  32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150"/>
                      </p:stCondLst>
                      <p:childTnLst>
                        <p:par>
                          <p:cTn id="4" fill="hold">
                            <p:childTnLst>
                              <p:set>
                                <p:cBhvr>
                                  <p:cTn id="5" dur="1" fill="hold"/>
                                  <p:tgtEl>
                                    <p:spTgt spid="16"/>
                                  </p:tgtEl>
                                  <p:attrNameLst>
                                    <p:attrName>style.visibility</p:attrName>
                                  </p:attrNameLst>
                                </p:cBhvr>
                                <p:to>
                                  <p:strVal val="visible"/>
                                </p:to>
                              </p:set>
                              <p:animEffect transition="in" filter="fade">
                                <p:cBhvr>
                                  <p:cTn id="6" dur="650"/>
                                  <p:tgtEl>
                                    <p:spTgt spid="16"/>
                                  </p:tgtEl>
                                </p:cBhvr>
                              </p:animEffect>
                            </p:childTnLst>
                          </p:cTn>
                        </p:par>
                      </p:childTnLst>
                    </p:cTn>
                  </p:par>
                  <p:par>
                    <p:cTn id="7" fill="hold">
                      <p:stCondLst>
                        <p:cond delay="330"/>
                      </p:stCondLst>
                      <p:childTnLst>
                        <p:par>
                          <p:cTn id="8" fill="hold">
                            <p:childTnLst>
                              <p:set>
                                <p:cBhvr>
                                  <p:cTn id="9" dur="1" fill="hold"/>
                                  <p:tgtEl>
                                    <p:spTgt spid="17"/>
                                  </p:tgtEl>
                                  <p:attrNameLst>
                                    <p:attrName>style.visibility</p:attrName>
                                  </p:attrNameLst>
                                </p:cBhvr>
                                <p:to>
                                  <p:strVal val="visible"/>
                                </p:to>
                              </p:set>
                              <p:animEffect transition="in" filter="fade">
                                <p:cBhvr>
                                  <p:cTn id="10" dur="650"/>
                                  <p:tgtEl>
                                    <p:spTgt spid="17"/>
                                  </p:tgtEl>
                                </p:cBhvr>
                              </p:animEffect>
                            </p:childTnLst>
                          </p:cTn>
                        </p:par>
                      </p:childTnLst>
                    </p:cTn>
                  </p:par>
                  <p:par>
                    <p:cTn id="11" fill="hold">
                      <p:stCondLst>
                        <p:cond delay="510"/>
                      </p:stCondLst>
                      <p:childTnLst>
                        <p:par>
                          <p:cTn id="12" fill="hold">
                            <p:childTnLst>
                              <p:set>
                                <p:cBhvr>
                                  <p:cTn id="13" dur="1" fill="hold"/>
                                  <p:tgtEl>
                                    <p:spTgt spid="18"/>
                                  </p:tgtEl>
                                  <p:attrNameLst>
                                    <p:attrName>style.visibility</p:attrName>
                                  </p:attrNameLst>
                                </p:cBhvr>
                                <p:to>
                                  <p:strVal val="visible"/>
                                </p:to>
                              </p:set>
                              <p:animEffect transition="in" filter="fade">
                                <p:cBhvr>
                                  <p:cTn id="14" dur="650"/>
                                  <p:tgtEl>
                                    <p:spTgt spid="18"/>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TotalTime>
  <Words>3389</Words>
  <Application>Microsoft Macintosh PowerPoint</Application>
  <PresentationFormat>Widescreen</PresentationFormat>
  <Paragraphs>477</Paragraphs>
  <Slides>31</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BEAWorld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Engineering 101: From LLM to Working AI Agent</dc:title>
  <dc:subject>Agentic Engineering 101 workshop for BEAWorld</dc:subject>
  <dc:creator>OpenAI</dc:creator>
  <cp:lastModifiedBy>Rashik Hasan Mohd. Hasan Uddoula, Doula Isham</cp:lastModifiedBy>
  <cp:revision>7</cp:revision>
  <dcterms:created xsi:type="dcterms:W3CDTF">2026-10-23T01:30:13Z</dcterms:created>
  <dcterms:modified xsi:type="dcterms:W3CDTF">2026-10-24T12:03:39Z</dcterms:modified>
</cp:coreProperties>
</file>